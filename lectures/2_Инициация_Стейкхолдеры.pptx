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87" r:id="rId2"/>
    <p:sldId id="323" r:id="rId3"/>
    <p:sldId id="256" r:id="rId4"/>
    <p:sldId id="324" r:id="rId5"/>
    <p:sldId id="335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286" r:id="rId17"/>
    <p:sldId id="257" r:id="rId18"/>
    <p:sldId id="258" r:id="rId19"/>
    <p:sldId id="259" r:id="rId20"/>
    <p:sldId id="260" r:id="rId21"/>
    <p:sldId id="261" r:id="rId22"/>
    <p:sldId id="288" r:id="rId23"/>
    <p:sldId id="262" r:id="rId24"/>
    <p:sldId id="263" r:id="rId25"/>
    <p:sldId id="264" r:id="rId26"/>
    <p:sldId id="265" r:id="rId27"/>
    <p:sldId id="266" r:id="rId28"/>
    <p:sldId id="33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90" r:id="rId49"/>
    <p:sldId id="337" r:id="rId50"/>
    <p:sldId id="291" r:id="rId51"/>
    <p:sldId id="292" r:id="rId52"/>
    <p:sldId id="322" r:id="rId5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DF851C-71F4-43BB-9695-E7D26776DE0A}">
          <p14:sldIdLst>
            <p14:sldId id="287"/>
            <p14:sldId id="323"/>
            <p14:sldId id="256"/>
            <p14:sldId id="324"/>
            <p14:sldId id="335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286"/>
            <p14:sldId id="257"/>
            <p14:sldId id="258"/>
            <p14:sldId id="259"/>
            <p14:sldId id="260"/>
            <p14:sldId id="261"/>
            <p14:sldId id="288"/>
            <p14:sldId id="262"/>
            <p14:sldId id="263"/>
            <p14:sldId id="264"/>
            <p14:sldId id="265"/>
            <p14:sldId id="266"/>
            <p14:sldId id="33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90"/>
            <p14:sldId id="337"/>
            <p14:sldId id="291"/>
            <p14:sldId id="292"/>
            <p14:sldId id="322"/>
          </p14:sldIdLst>
        </p14:section>
        <p14:section name="Раздел по умолчанию" id="{C4EC6E4A-5956-4D8D-9118-698E5BADD1C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87F09-AD1C-4092-9EF4-1CBECE1EFDAF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24A8F-DD6B-4B4A-9A77-15102BBC8C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035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ru-RU" dirty="0" err="1"/>
              <a:t>MoSCoW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24A8F-DD6B-4B4A-9A77-15102BBC8C92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626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49BB3-7DBB-4784-874D-77709982ECA7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422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876A3-E956-5C50-D31B-C1C34AB33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A1FD05-4586-43B5-D838-D817E9B3C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CE348F-16DB-308A-8783-B6BC9EDC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D8835A-093D-0785-1C7B-D0FA12EB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CD84FF-35DE-840E-B445-FE78FF50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02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BBD17-1911-130C-5B2B-249ACAB2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1DCE3A-6D61-E14B-3B85-F51C234FA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21A8D8-0758-27BF-1B26-31662ED4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89D231-AB39-7521-1702-FC61156A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3DC68B-877D-BAC4-6C61-A08752AB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74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BF52A-B3D0-AE00-6814-DB286D1E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6E8BDD-0675-553B-4812-05BC28466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85186C-6DA8-B80D-065E-98C3C710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C2E578-6514-6522-2ABF-C623D9CD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8136BC-825C-3DD2-72FE-6DF60675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33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E245F-CDC7-83E0-35D3-1B49AEBE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2F799C-1E57-B266-6CC8-4ACC0D250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A60F37-87E4-F315-A668-E8D6A9081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96BA0C-919E-14AA-78F8-EF9CC1BD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0E9122-AE6A-572C-24B4-BF773DE5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E287C8-7494-10C4-D134-DC7161C1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48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263B1-DE7A-9FFA-C4F2-6FC710FF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F99058-6865-B8D0-7A15-0362E10C5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C0C530-B9EF-7992-D520-329A64550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2362F-572F-5094-27BB-0B33E306A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838843-2DC5-EC7D-08B7-5117170A5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8FC274-99B4-1515-57A0-CB64DC07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35C46C-CAF4-67AD-2F9F-48288EB6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6AD181-0168-B86B-4961-5BC8D67F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43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26643-44D7-68F1-0762-D905A591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446AF3-94AE-033F-74D8-601707F3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4731DE-07E6-114B-FE6F-59B2F44E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19B35C-3B4F-C9CA-FF21-284C73E9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32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7A032E-199A-5A99-EA16-827C9CEE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5C0355-3C65-50CE-AE7F-99085107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DFAB4A-BE9E-9ABC-6E62-4A0B6BCC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44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277CA-FF27-0193-6C8E-22B4992E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EC303-B3F2-7C20-F550-90E123E81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DCD0A8-FE8F-1D19-CF80-609F5DD48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AC1D42-3FE6-5112-F759-CE692523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0C4432-FC76-C5BE-C827-516D2113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F0E701-FDD5-9478-C4A9-45EB466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74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8F016-C9AE-5238-7986-D1B6A079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7A0D65-12A1-11D1-26D2-6E89514BAB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C8AED0-A0E3-1298-1328-81DA8DEEC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4D789E-62AF-D955-120A-1D344754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620F27-56B1-1DDB-9636-57AD4D4D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BD10CC-4511-040D-D11F-976621E3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94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D0D8A-4B99-8E15-58D5-8CFEF35F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BD75E8-8781-5A69-20BC-2DF8F049E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761B48-A0A4-13A8-0FB4-0CC52BAB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62BF93-BA0F-4606-45BF-8E7C3B3C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4B700B-27D8-AE7E-BAC7-FF35F74E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41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D9C5427-DA25-B38E-BE89-A74015491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4E412D-8672-2C50-4BE7-D1C38520D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DEE10A-E465-B028-8E88-72BFF77D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0E1D7-E088-BD44-7817-491C8A9B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CF3AD-7276-A9BC-B163-DD8F2B6A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713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T_DARK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E3E8E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82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T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797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9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C30D5-E8E3-1CAB-7D3E-226AC924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2909F5-8902-C6CF-9B98-23FAA0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7D4A9-E4A4-B44E-8AE6-CEF6DC41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B9D1F-3F3A-40E6-ACEF-CFC57DDF37E2}" type="datetimeFigureOut">
              <a:rPr lang="ru-RU" smtClean="0"/>
              <a:t>03.10.2026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74FE37-975E-074B-DDB2-C7C676B8A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39E2A9-0CC2-737C-409B-9665F8B7D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27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tect.gost.ru/gost/details/5076c5f3-36ac-4469-bf04-7a268681b08a" TargetMode="External"/><Relationship Id="rId7" Type="http://schemas.openxmlformats.org/officeDocument/2006/relationships/hyperlink" Target="https://www.pmi.org/learning/library/eight-project-management-processes-936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mi.org/learning/library/charter-selling-project-7473" TargetMode="External"/><Relationship Id="rId5" Type="http://schemas.openxmlformats.org/officeDocument/2006/relationships/hyperlink" Target="https://www.microsoftpressstore.com/store/software-requirements-9780735679627" TargetMode="External"/><Relationship Id="rId4" Type="http://schemas.openxmlformats.org/officeDocument/2006/relationships/hyperlink" Target="https://openedu.ru/course/hse/BPM/?utm_source=chatgpt.com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microsoftpressstore.com/store/software-requirements-9780735679627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penedu.ru/course/hse/BPM/?utm_source=chatgpt.com" TargetMode="External"/><Relationship Id="rId5" Type="http://schemas.openxmlformats.org/officeDocument/2006/relationships/hyperlink" Target="https://www.pmi.org/learning/library/2016/06/11/06/49/project-manager-needs-know-requirements-7496" TargetMode="External"/><Relationship Id="rId4" Type="http://schemas.openxmlformats.org/officeDocument/2006/relationships/hyperlink" Target="https://protect.gost.ru/gost/details/5076c5f3-36ac-4469-bf04-7a268681b08a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rbookshop.ru/books/133919/detail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microsoftpressstore.com/store/software-requirements-9780735679627" TargetMode="External"/><Relationship Id="rId4" Type="http://schemas.openxmlformats.org/officeDocument/2006/relationships/hyperlink" Target="https://protect.gost.ru/gost/details/5876f733-ee91-431a-8cb6-9e02ea2436ac?utm_source=chatgpt.com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pic>
        <p:nvPicPr>
          <p:cNvPr id="4" name="Image 0" descr="/mnt/data/Вертикальный_белы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178" y="305344"/>
            <a:ext cx="1159454" cy="1477736"/>
          </a:xfrm>
          <a:prstGeom prst="rect">
            <a:avLst/>
          </a:prstGeom>
          <a:solidFill>
            <a:srgbClr val="101828"/>
          </a:solidFill>
        </p:spPr>
      </p:pic>
      <p:sp>
        <p:nvSpPr>
          <p:cNvPr id="5" name="Text 2"/>
          <p:cNvSpPr/>
          <p:nvPr/>
        </p:nvSpPr>
        <p:spPr>
          <a:xfrm>
            <a:off x="658368" y="100584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ИТ-проектами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13232" y="28346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13232" y="3913632"/>
            <a:ext cx="1051560" cy="310896"/>
          </a:xfrm>
          <a:prstGeom prst="roundRect">
            <a:avLst>
              <a:gd name="adj" fmla="val 20588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970641"/>
            <a:ext cx="941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09.03.01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20240" y="3913632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75104" y="3970641"/>
            <a:ext cx="1490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 курс · 7 семестр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75888" y="3913632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9"/>
          <p:cNvSpPr/>
          <p:nvPr/>
        </p:nvSpPr>
        <p:spPr>
          <a:xfrm>
            <a:off x="3730752" y="3970641"/>
            <a:ext cx="1764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FFFFFF"/>
                </a:solidFill>
                <a:ea typeface="Rostelecom Basis" pitchFamily="34" charset="-122"/>
              </a:rPr>
              <a:t>14 часов лекций/16 часов практических занятий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9799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Ростелеком ИТ Школа × Университет Иннополис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5504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2026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84048" y="6400800"/>
            <a:ext cx="11411712" cy="0"/>
          </a:xfrm>
          <a:prstGeom prst="line">
            <a:avLst/>
          </a:prstGeom>
          <a:noFill/>
          <a:ln w="8890">
            <a:solidFill>
              <a:srgbClr val="4046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37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8EC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393C88-7473-3270-ADC6-FDCA88AF6C2E}"/>
              </a:ext>
            </a:extLst>
          </p:cNvPr>
          <p:cNvSpPr txBox="1"/>
          <p:nvPr/>
        </p:nvSpPr>
        <p:spPr>
          <a:xfrm>
            <a:off x="640080" y="2816352"/>
            <a:ext cx="6949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D0D5DD"/>
                </a:solidFill>
                <a:latin typeface="Rostelecom Basis"/>
              </a:rPr>
              <a:t>Инициация</a:t>
            </a:r>
            <a:r>
              <a:rPr sz="1600" b="0" i="0" dirty="0">
                <a:solidFill>
                  <a:srgbClr val="D0D5DD"/>
                </a:solidFill>
                <a:latin typeface="Rostelecom Basis"/>
              </a:rPr>
              <a:t> · </a:t>
            </a:r>
            <a:r>
              <a:rPr sz="1600" b="0" i="0" dirty="0" err="1">
                <a:solidFill>
                  <a:srgbClr val="D0D5DD"/>
                </a:solidFill>
                <a:latin typeface="Rostelecom Basis"/>
              </a:rPr>
              <a:t>Стейкхолдеры</a:t>
            </a:r>
            <a:r>
              <a:rPr sz="1600" b="0" i="0" dirty="0">
                <a:solidFill>
                  <a:srgbClr val="D0D5DD"/>
                </a:solidFill>
                <a:latin typeface="Rostelecom Basis"/>
              </a:rPr>
              <a:t> · </a:t>
            </a:r>
            <a:r>
              <a:rPr sz="1600" b="0" i="0" dirty="0" err="1">
                <a:solidFill>
                  <a:srgbClr val="D0D5DD"/>
                </a:solidFill>
                <a:latin typeface="Rostelecom Basis"/>
              </a:rPr>
              <a:t>Требования</a:t>
            </a:r>
            <a:endParaRPr sz="1600" b="0" i="0" dirty="0">
              <a:solidFill>
                <a:srgbClr val="D0D5DD"/>
              </a:solidFill>
              <a:latin typeface="Rostelecom Basis"/>
            </a:endParaRP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B8729FB8-1642-D0D1-0FE2-0964C36D25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594DF-CCDE-1FBD-9860-71B689A4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8541D21-809F-2E07-2B8B-10DEF11FE48B}"/>
              </a:ext>
            </a:extLst>
          </p:cNvPr>
          <p:cNvSpPr/>
          <p:nvPr/>
        </p:nvSpPr>
        <p:spPr>
          <a:xfrm>
            <a:off x="9189720" y="182880"/>
            <a:ext cx="2148840" cy="2148840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996484-AE3C-B87C-5291-93F8D9E2B4B3}"/>
              </a:ext>
            </a:extLst>
          </p:cNvPr>
          <p:cNvSpPr/>
          <p:nvPr/>
        </p:nvSpPr>
        <p:spPr>
          <a:xfrm>
            <a:off x="10058400" y="2011680"/>
            <a:ext cx="1325880" cy="1325880"/>
          </a:xfrm>
          <a:prstGeom prst="ellipse">
            <a:avLst/>
          </a:prstGeom>
          <a:solidFill>
            <a:srgbClr val="B76CFF"/>
          </a:solidFill>
          <a:ln>
            <a:solidFill>
              <a:srgbClr val="B7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9D0689-E31C-C4D8-10F1-03D72F73697C}"/>
              </a:ext>
            </a:extLst>
          </p:cNvPr>
          <p:cNvSpPr/>
          <p:nvPr/>
        </p:nvSpPr>
        <p:spPr>
          <a:xfrm>
            <a:off x="10195560" y="4480560"/>
            <a:ext cx="1554480" cy="1554480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Основной_белый.png">
            <a:extLst>
              <a:ext uri="{FF2B5EF4-FFF2-40B4-BE49-F238E27FC236}">
                <a16:creationId xmlns:a16="http://schemas.microsoft.com/office/drawing/2014/main" id="{3B63C65D-F1C1-4DBF-EF5C-F7E67786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369" y="912087"/>
            <a:ext cx="1600200" cy="418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DA1949-4B36-5CFE-B0FA-7C92BEC3308E}"/>
              </a:ext>
            </a:extLst>
          </p:cNvPr>
          <p:cNvSpPr txBox="1"/>
          <p:nvPr/>
        </p:nvSpPr>
        <p:spPr>
          <a:xfrm>
            <a:off x="640080" y="1965960"/>
            <a:ext cx="71323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4400" b="1" i="0" dirty="0">
                <a:solidFill>
                  <a:srgbClr val="FFFFFF"/>
                </a:solidFill>
                <a:latin typeface="Aptos Display"/>
              </a:rPr>
              <a:t>«Экзамен: защита проекта»</a:t>
            </a:r>
            <a:endParaRPr sz="44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8D372-C9AE-0DEC-8010-2C59D848422E}"/>
              </a:ext>
            </a:extLst>
          </p:cNvPr>
          <p:cNvSpPr txBox="1"/>
          <p:nvPr/>
        </p:nvSpPr>
        <p:spPr>
          <a:xfrm>
            <a:off x="640080" y="3429000"/>
            <a:ext cx="6583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600" b="0" i="0" dirty="0">
                <a:solidFill>
                  <a:srgbClr val="D0D5DD"/>
                </a:solidFill>
                <a:latin typeface="Rostelecom Basis"/>
              </a:rPr>
              <a:t>Критерии успешной сдачи экзамена</a:t>
            </a:r>
            <a:endParaRPr sz="1600" b="0" i="0" dirty="0">
              <a:solidFill>
                <a:srgbClr val="D0D5DD"/>
              </a:solidFill>
              <a:latin typeface="Rostelecom Basi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43C9F-E4B5-78C8-BF76-1D1BBDEFA1DD}"/>
              </a:ext>
            </a:extLst>
          </p:cNvPr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D0D5DD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A3347B-D5A5-1848-2FFB-3830C172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A6842ABF-279A-083E-680A-B1E1DE3DF9D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9BD5B8B6-5490-D293-50ED-B46A5F3F1CFE}"/>
              </a:ext>
            </a:extLst>
          </p:cNvPr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207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713232"/>
            <a:ext cx="1152144" cy="310896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731520"/>
            <a:ext cx="1152144" cy="292608"/>
          </a:xfrm>
          <a:prstGeom prst="rect">
            <a:avLst/>
          </a:prstGeom>
          <a:solidFill>
            <a:srgbClr val="FF4F12"/>
          </a:solidFill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ЭКЗАМЕН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01828"/>
                </a:solidFill>
                <a:latin typeface="Rostelecom Basis"/>
              </a:rPr>
              <a:t>Финальная защита
командного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95728"/>
            <a:ext cx="8686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44054"/>
                </a:solidFill>
                <a:latin typeface="Rostelecom Basis"/>
              </a:rPr>
              <a:t>Лёгкий формат: обязательные артефакты → короткая презентация → демонстрация MVP → вопросы по собственному проекту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5024" y="3438144"/>
            <a:ext cx="1106424" cy="3200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20040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25526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387705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Старт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8104" y="3438144"/>
            <a:ext cx="1106424" cy="3200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32888" y="320040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32888" y="325526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387705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ТЗ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1184" y="3438144"/>
            <a:ext cx="1106424" cy="3200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15968" y="320040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5968" y="325526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936" y="387705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MVP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84264" y="3438144"/>
            <a:ext cx="1106424" cy="3200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99048" y="320040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8" y="325526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3016" y="387705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Тест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7343" y="3438144"/>
            <a:ext cx="1106424" cy="3200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882127" y="320040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82127" y="325526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5" y="387705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Передача</a:t>
            </a:r>
          </a:p>
        </p:txBody>
      </p:sp>
      <p:sp>
        <p:nvSpPr>
          <p:cNvPr id="29" name="Oval 28"/>
          <p:cNvSpPr/>
          <p:nvPr/>
        </p:nvSpPr>
        <p:spPr>
          <a:xfrm>
            <a:off x="9665208" y="3200400"/>
            <a:ext cx="566928" cy="566928"/>
          </a:xfrm>
          <a:prstGeom prst="ellipse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65208" y="325526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87705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ПСИ / ОПЭ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97880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700FF"/>
                </a:solidFill>
                <a:latin typeface="Rostelecom Basis"/>
              </a:rPr>
              <a:t>Главный принцип: оцениваем не «самую умную модель», а способность команды довести проект от идеи до проверяемого результата.</a:t>
            </a:r>
          </a:p>
        </p:txBody>
      </p:sp>
      <p:sp>
        <p:nvSpPr>
          <p:cNvPr id="35" name="Номер слайда 34">
            <a:extLst>
              <a:ext uri="{FF2B5EF4-FFF2-40B4-BE49-F238E27FC236}">
                <a16:creationId xmlns:a16="http://schemas.microsoft.com/office/drawing/2014/main" id="{AF8DA4FE-41CE-D9B8-1D90-4287EB90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997E2D65-DDD4-3540-B3E7-807EA1F0520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0D029A9A-981C-1053-BE72-BDA53CCB1742}"/>
              </a:ext>
            </a:extLst>
          </p:cNvPr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47" name="Номер слайда 46">
            <a:extLst>
              <a:ext uri="{FF2B5EF4-FFF2-40B4-BE49-F238E27FC236}">
                <a16:creationId xmlns:a16="http://schemas.microsoft.com/office/drawing/2014/main" id="{7275681A-0494-AD5C-A4D0-1336A49C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6014C1BE-AB6E-7FCD-CDA1-9530BA22C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36042"/>
            <a:ext cx="8715375" cy="5810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FC7A-47CB-3E8D-5A81-6749CE0D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B528D-ED0A-7F95-3082-B0B639D3A7E4}"/>
              </a:ext>
            </a:extLst>
          </p:cNvPr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Экзамен — финальная точка сквозного проекта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52AF1-34D9-8B41-92BC-1DE344055BC1}"/>
              </a:ext>
            </a:extLst>
          </p:cNvPr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DE13F-4527-CDAF-48BA-59686FBA2A13}"/>
              </a:ext>
            </a:extLst>
          </p:cNvPr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A44766-CC36-CC2B-0671-F9083233ED4B}"/>
              </a:ext>
            </a:extLst>
          </p:cNvPr>
          <p:cNvSpPr/>
          <p:nvPr/>
        </p:nvSpPr>
        <p:spPr>
          <a:xfrm>
            <a:off x="1335024" y="2615184"/>
            <a:ext cx="1106424" cy="32004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81C093-EA3A-387D-93B2-F448E4DC2128}"/>
              </a:ext>
            </a:extLst>
          </p:cNvPr>
          <p:cNvSpPr/>
          <p:nvPr/>
        </p:nvSpPr>
        <p:spPr>
          <a:xfrm>
            <a:off x="749808" y="237744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3CF466-B970-11F7-85AE-23F2267ED506}"/>
              </a:ext>
            </a:extLst>
          </p:cNvPr>
          <p:cNvSpPr txBox="1"/>
          <p:nvPr/>
        </p:nvSpPr>
        <p:spPr>
          <a:xfrm>
            <a:off x="749808" y="243230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2CBF8B-521B-766D-4650-A0FFF63223D5}"/>
              </a:ext>
            </a:extLst>
          </p:cNvPr>
          <p:cNvSpPr txBox="1"/>
          <p:nvPr/>
        </p:nvSpPr>
        <p:spPr>
          <a:xfrm>
            <a:off x="493776" y="305409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Старт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22E551-A5A1-71F4-44C4-1F7A990509AD}"/>
              </a:ext>
            </a:extLst>
          </p:cNvPr>
          <p:cNvSpPr/>
          <p:nvPr/>
        </p:nvSpPr>
        <p:spPr>
          <a:xfrm>
            <a:off x="3118104" y="2615184"/>
            <a:ext cx="1106424" cy="32004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42D765-058D-FA7C-A261-4F2E254D6E4B}"/>
              </a:ext>
            </a:extLst>
          </p:cNvPr>
          <p:cNvSpPr/>
          <p:nvPr/>
        </p:nvSpPr>
        <p:spPr>
          <a:xfrm>
            <a:off x="2532888" y="237744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DDE3-9FF4-BAB6-AFF6-1300AA86DD55}"/>
              </a:ext>
            </a:extLst>
          </p:cNvPr>
          <p:cNvSpPr txBox="1"/>
          <p:nvPr/>
        </p:nvSpPr>
        <p:spPr>
          <a:xfrm>
            <a:off x="2532888" y="243230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56FBF9-98C4-98BE-8F3A-9A1F16C69DF8}"/>
              </a:ext>
            </a:extLst>
          </p:cNvPr>
          <p:cNvSpPr txBox="1"/>
          <p:nvPr/>
        </p:nvSpPr>
        <p:spPr>
          <a:xfrm>
            <a:off x="2276856" y="305409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ТЗ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3C120B-667C-D7EC-A1E3-CF90C037767E}"/>
              </a:ext>
            </a:extLst>
          </p:cNvPr>
          <p:cNvSpPr/>
          <p:nvPr/>
        </p:nvSpPr>
        <p:spPr>
          <a:xfrm>
            <a:off x="4901184" y="2615184"/>
            <a:ext cx="1106424" cy="32004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C774D3-C01B-C68E-9B15-5784635E26F3}"/>
              </a:ext>
            </a:extLst>
          </p:cNvPr>
          <p:cNvSpPr/>
          <p:nvPr/>
        </p:nvSpPr>
        <p:spPr>
          <a:xfrm>
            <a:off x="4315968" y="237744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48CC82-6C6E-E8D9-8191-867B78A49971}"/>
              </a:ext>
            </a:extLst>
          </p:cNvPr>
          <p:cNvSpPr txBox="1"/>
          <p:nvPr/>
        </p:nvSpPr>
        <p:spPr>
          <a:xfrm>
            <a:off x="4315968" y="243230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A22941-3A78-6E2E-5C24-E3B0FA4822CF}"/>
              </a:ext>
            </a:extLst>
          </p:cNvPr>
          <p:cNvSpPr txBox="1"/>
          <p:nvPr/>
        </p:nvSpPr>
        <p:spPr>
          <a:xfrm>
            <a:off x="4059936" y="305409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MVP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F4F9C-881B-8331-4D28-632BF0E20D04}"/>
              </a:ext>
            </a:extLst>
          </p:cNvPr>
          <p:cNvSpPr/>
          <p:nvPr/>
        </p:nvSpPr>
        <p:spPr>
          <a:xfrm>
            <a:off x="6684264" y="2615184"/>
            <a:ext cx="1106424" cy="32004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6350F4-7EC7-AADD-BB9B-73A62B8885A3}"/>
              </a:ext>
            </a:extLst>
          </p:cNvPr>
          <p:cNvSpPr/>
          <p:nvPr/>
        </p:nvSpPr>
        <p:spPr>
          <a:xfrm>
            <a:off x="6099048" y="237744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9539A2-4336-CE7D-539C-A6CABAE3BA8E}"/>
              </a:ext>
            </a:extLst>
          </p:cNvPr>
          <p:cNvSpPr txBox="1"/>
          <p:nvPr/>
        </p:nvSpPr>
        <p:spPr>
          <a:xfrm>
            <a:off x="6099048" y="243230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CE4CC2-E2F9-68C0-9724-45F7157A2BD1}"/>
              </a:ext>
            </a:extLst>
          </p:cNvPr>
          <p:cNvSpPr txBox="1"/>
          <p:nvPr/>
        </p:nvSpPr>
        <p:spPr>
          <a:xfrm>
            <a:off x="5843016" y="305409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Тест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AD8816-C4E6-C1B9-DF12-0A06E8BCB9DF}"/>
              </a:ext>
            </a:extLst>
          </p:cNvPr>
          <p:cNvSpPr/>
          <p:nvPr/>
        </p:nvSpPr>
        <p:spPr>
          <a:xfrm>
            <a:off x="8467343" y="2615184"/>
            <a:ext cx="1106424" cy="32004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92E6F90-A19E-D671-C155-2B3EF4E0FC4D}"/>
              </a:ext>
            </a:extLst>
          </p:cNvPr>
          <p:cNvSpPr/>
          <p:nvPr/>
        </p:nvSpPr>
        <p:spPr>
          <a:xfrm>
            <a:off x="7882127" y="2377440"/>
            <a:ext cx="566928" cy="566928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72D9BC-D1FC-255E-3C3C-893D2F1BE987}"/>
              </a:ext>
            </a:extLst>
          </p:cNvPr>
          <p:cNvSpPr txBox="1"/>
          <p:nvPr/>
        </p:nvSpPr>
        <p:spPr>
          <a:xfrm>
            <a:off x="7882127" y="243230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A4434E-62A8-7CFC-0BDC-BCEC45E2DF24}"/>
              </a:ext>
            </a:extLst>
          </p:cNvPr>
          <p:cNvSpPr txBox="1"/>
          <p:nvPr/>
        </p:nvSpPr>
        <p:spPr>
          <a:xfrm>
            <a:off x="7626095" y="305409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Передача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9F33439-46CF-C492-0C4C-72991F12A43D}"/>
              </a:ext>
            </a:extLst>
          </p:cNvPr>
          <p:cNvSpPr/>
          <p:nvPr/>
        </p:nvSpPr>
        <p:spPr>
          <a:xfrm>
            <a:off x="9665208" y="2377440"/>
            <a:ext cx="566928" cy="566928"/>
          </a:xfrm>
          <a:prstGeom prst="ellipse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560F8F-EC1E-350E-60E0-6E96D5AB4C33}"/>
              </a:ext>
            </a:extLst>
          </p:cNvPr>
          <p:cNvSpPr txBox="1"/>
          <p:nvPr/>
        </p:nvSpPr>
        <p:spPr>
          <a:xfrm>
            <a:off x="9665208" y="2432304"/>
            <a:ext cx="566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stelecom Basis"/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0247B3-F5C5-299F-660F-E99595841A09}"/>
              </a:ext>
            </a:extLst>
          </p:cNvPr>
          <p:cNvSpPr txBox="1"/>
          <p:nvPr/>
        </p:nvSpPr>
        <p:spPr>
          <a:xfrm>
            <a:off x="9409176" y="305409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01828"/>
                </a:solidFill>
                <a:latin typeface="Rostelecom Basis"/>
              </a:rPr>
              <a:t>ПСИ / ОПЭ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35BAAFB-3456-E81C-D7DA-A239A0631299}"/>
              </a:ext>
            </a:extLst>
          </p:cNvPr>
          <p:cNvSpPr/>
          <p:nvPr/>
        </p:nvSpPr>
        <p:spPr>
          <a:xfrm>
            <a:off x="685800" y="3886200"/>
            <a:ext cx="3291840" cy="12984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A022962-3253-41B2-5BD3-AF1B36571806}"/>
              </a:ext>
            </a:extLst>
          </p:cNvPr>
          <p:cNvSpPr/>
          <p:nvPr/>
        </p:nvSpPr>
        <p:spPr>
          <a:xfrm>
            <a:off x="886968" y="4096512"/>
            <a:ext cx="1097280" cy="256032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F8419F-A937-A18B-95A1-8549DF79B301}"/>
              </a:ext>
            </a:extLst>
          </p:cNvPr>
          <p:cNvSpPr txBox="1"/>
          <p:nvPr/>
        </p:nvSpPr>
        <p:spPr>
          <a:xfrm>
            <a:off x="886968" y="4114800"/>
            <a:ext cx="10972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Rostelecom Basis"/>
              </a:rPr>
              <a:t>ДО ЭКЗАМЕНА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FBB884-F0F8-C820-69E8-D7BA24141818}"/>
              </a:ext>
            </a:extLst>
          </p:cNvPr>
          <p:cNvSpPr txBox="1"/>
          <p:nvPr/>
        </p:nvSpPr>
        <p:spPr>
          <a:xfrm>
            <a:off x="886968" y="4480560"/>
            <a:ext cx="286207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Команда последовательно собирает и обновляет артефакты проекта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BD6C029-D699-38A9-E672-BA0709DA0BE0}"/>
              </a:ext>
            </a:extLst>
          </p:cNvPr>
          <p:cNvSpPr/>
          <p:nvPr/>
        </p:nvSpPr>
        <p:spPr>
          <a:xfrm>
            <a:off x="4361688" y="3886200"/>
            <a:ext cx="3291840" cy="12984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C89E527-B8C4-D94E-8C2B-AB9E806DF42A}"/>
              </a:ext>
            </a:extLst>
          </p:cNvPr>
          <p:cNvSpPr/>
          <p:nvPr/>
        </p:nvSpPr>
        <p:spPr>
          <a:xfrm>
            <a:off x="4562856" y="4096512"/>
            <a:ext cx="1097280" cy="256032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568B9E-EC3F-F6D7-6E87-107A9DB798F4}"/>
              </a:ext>
            </a:extLst>
          </p:cNvPr>
          <p:cNvSpPr txBox="1"/>
          <p:nvPr/>
        </p:nvSpPr>
        <p:spPr>
          <a:xfrm>
            <a:off x="4562856" y="4114800"/>
            <a:ext cx="10972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Rostelecom Basis"/>
              </a:rPr>
              <a:t>НА ЭКЗАМЕНЕ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192845-CF1E-6682-16A2-6D4FD231CA11}"/>
              </a:ext>
            </a:extLst>
          </p:cNvPr>
          <p:cNvSpPr txBox="1"/>
          <p:nvPr/>
        </p:nvSpPr>
        <p:spPr>
          <a:xfrm>
            <a:off x="4562856" y="4480560"/>
            <a:ext cx="286207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Показывает проектную логику, демонстрирует MVP и отвечает на вопросы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80A322B-E82C-A5D3-DABE-63A14C4AAF4A}"/>
              </a:ext>
            </a:extLst>
          </p:cNvPr>
          <p:cNvSpPr/>
          <p:nvPr/>
        </p:nvSpPr>
        <p:spPr>
          <a:xfrm>
            <a:off x="8037575" y="3886200"/>
            <a:ext cx="3291840" cy="12984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EBD22DD-D85A-F3E3-8147-BEECBBE5EB1D}"/>
              </a:ext>
            </a:extLst>
          </p:cNvPr>
          <p:cNvSpPr/>
          <p:nvPr/>
        </p:nvSpPr>
        <p:spPr>
          <a:xfrm>
            <a:off x="8238743" y="4096512"/>
            <a:ext cx="1097280" cy="256032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3E7704-19E5-8DBF-B32E-592C54B2EDDA}"/>
              </a:ext>
            </a:extLst>
          </p:cNvPr>
          <p:cNvSpPr txBox="1"/>
          <p:nvPr/>
        </p:nvSpPr>
        <p:spPr>
          <a:xfrm>
            <a:off x="8238743" y="4114800"/>
            <a:ext cx="10972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Rostelecom Basis"/>
              </a:rPr>
              <a:t>ИТОГ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F62863-1CFF-E8A9-3F3E-65B1181889B7}"/>
              </a:ext>
            </a:extLst>
          </p:cNvPr>
          <p:cNvSpPr txBox="1"/>
          <p:nvPr/>
        </p:nvSpPr>
        <p:spPr>
          <a:xfrm>
            <a:off x="8238743" y="4480560"/>
            <a:ext cx="286207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Преподаватель видит результат курса целиком, а не отдельный теоретический ответ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C9D08EC-C531-7F2C-8E47-C0F5E1397FE5}"/>
              </a:ext>
            </a:extLst>
          </p:cNvPr>
          <p:cNvSpPr/>
          <p:nvPr/>
        </p:nvSpPr>
        <p:spPr>
          <a:xfrm>
            <a:off x="658368" y="5650992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43DC3E-7F7B-4C43-85AF-3553EF61BFB6}"/>
              </a:ext>
            </a:extLst>
          </p:cNvPr>
          <p:cNvSpPr txBox="1"/>
          <p:nvPr/>
        </p:nvSpPr>
        <p:spPr>
          <a:xfrm>
            <a:off x="868680" y="5769864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Экзамен не требует отдельного «зазубривания» курса: защищаем то, что делали весь семестр.</a:t>
            </a:r>
          </a:p>
        </p:txBody>
      </p:sp>
      <p:sp>
        <p:nvSpPr>
          <p:cNvPr id="47" name="Номер слайда 46">
            <a:extLst>
              <a:ext uri="{FF2B5EF4-FFF2-40B4-BE49-F238E27FC236}">
                <a16:creationId xmlns:a16="http://schemas.microsoft.com/office/drawing/2014/main" id="{721DBEA1-3711-BF8E-ABF2-D0D37A47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49" name="Picture 3" descr="Основной_цветной.png">
            <a:extLst>
              <a:ext uri="{FF2B5EF4-FFF2-40B4-BE49-F238E27FC236}">
                <a16:creationId xmlns:a16="http://schemas.microsoft.com/office/drawing/2014/main" id="{205167F8-D66D-F2E2-6443-690C72A5F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44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Условия допуска к экзамену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 err="1">
                <a:solidFill>
                  <a:srgbClr val="667085"/>
                </a:solidFill>
                <a:latin typeface="Rostelecom Basis"/>
              </a:rPr>
              <a:t>Требования</a:t>
            </a:r>
            <a:r>
              <a:rPr sz="1250" b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250" b="0" dirty="0" err="1">
                <a:solidFill>
                  <a:srgbClr val="667085"/>
                </a:solidFill>
                <a:latin typeface="Rostelecom Basis"/>
              </a:rPr>
              <a:t>простые</a:t>
            </a:r>
            <a:r>
              <a:rPr sz="1250" b="0" dirty="0">
                <a:solidFill>
                  <a:srgbClr val="667085"/>
                </a:solidFill>
                <a:latin typeface="Rostelecom Basis"/>
              </a:rPr>
              <a:t> и </a:t>
            </a:r>
            <a:r>
              <a:rPr sz="1250" b="0" dirty="0" err="1">
                <a:solidFill>
                  <a:srgbClr val="667085"/>
                </a:solidFill>
                <a:latin typeface="Rostelecom Basis"/>
              </a:rPr>
              <a:t>заранее</a:t>
            </a:r>
            <a:r>
              <a:rPr sz="1250" b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250" b="0" dirty="0" err="1">
                <a:solidFill>
                  <a:srgbClr val="667085"/>
                </a:solidFill>
                <a:latin typeface="Rostelecom Basis"/>
              </a:rPr>
              <a:t>понятные</a:t>
            </a:r>
            <a:endParaRPr sz="1250" b="0" dirty="0">
              <a:solidFill>
                <a:srgbClr val="667085"/>
              </a:solidFill>
              <a:latin typeface="Rostelecom Basi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72768"/>
            <a:ext cx="10652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755648"/>
            <a:ext cx="868680" cy="347472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773936"/>
            <a:ext cx="868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≥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6916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1828"/>
                </a:solidFill>
                <a:latin typeface="Rostelecom Basis"/>
              </a:rPr>
              <a:t>Посещение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3" y="1700784"/>
            <a:ext cx="67208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>
                <a:solidFill>
                  <a:srgbClr val="344054"/>
                </a:solidFill>
                <a:latin typeface="Rostelecom Basis"/>
              </a:rPr>
              <a:t>не менее 50% лекционных занятий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532888"/>
            <a:ext cx="10652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112" y="2715768"/>
            <a:ext cx="868680" cy="347472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65960" y="26517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1828"/>
                </a:solidFill>
                <a:latin typeface="Rostelecom Basis"/>
              </a:rPr>
              <a:t>Командный проект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9663" y="2660904"/>
            <a:ext cx="6720840" cy="2785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 dirty="0" err="1">
                <a:solidFill>
                  <a:srgbClr val="344054"/>
                </a:solidFill>
                <a:latin typeface="Rostelecom Basis"/>
              </a:rPr>
              <a:t>есть</a:t>
            </a:r>
            <a:r>
              <a:rPr sz="121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210" b="0" dirty="0" err="1">
                <a:solidFill>
                  <a:srgbClr val="344054"/>
                </a:solidFill>
                <a:latin typeface="Rostelecom Basis"/>
              </a:rPr>
              <a:t>согласованный</a:t>
            </a:r>
            <a:r>
              <a:rPr sz="121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210" b="0" dirty="0" err="1">
                <a:solidFill>
                  <a:srgbClr val="344054"/>
                </a:solidFill>
                <a:latin typeface="Rostelecom Basis"/>
              </a:rPr>
              <a:t>кейс</a:t>
            </a:r>
            <a:r>
              <a:rPr sz="1210" b="0" dirty="0">
                <a:solidFill>
                  <a:srgbClr val="344054"/>
                </a:solidFill>
                <a:latin typeface="Rostelecom Basis"/>
              </a:rPr>
              <a:t> и </a:t>
            </a:r>
            <a:r>
              <a:rPr lang="ru-RU" sz="1210" dirty="0">
                <a:solidFill>
                  <a:srgbClr val="344054"/>
                </a:solidFill>
                <a:latin typeface="Rostelecom Basis"/>
              </a:rPr>
              <a:t>определён состав команды </a:t>
            </a:r>
            <a:endParaRPr sz="1210" b="0" dirty="0">
              <a:solidFill>
                <a:srgbClr val="344054"/>
              </a:solidFill>
              <a:latin typeface="Rostelecom Basi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13232" y="3493008"/>
            <a:ext cx="10652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6112" y="3675888"/>
            <a:ext cx="868680" cy="347472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694176"/>
            <a:ext cx="868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118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1828"/>
                </a:solidFill>
                <a:latin typeface="Rostelecom Basis"/>
              </a:rPr>
              <a:t>Проектные артефакты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3" y="3621024"/>
            <a:ext cx="67208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>
                <a:solidFill>
                  <a:srgbClr val="344054"/>
                </a:solidFill>
                <a:latin typeface="Rostelecom Basis"/>
              </a:rPr>
              <a:t>обязательный комплект актуализирован и доступен преподавателю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53128"/>
            <a:ext cx="10652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6112" y="4636008"/>
            <a:ext cx="868680" cy="347472"/>
          </a:xfrm>
          <a:prstGeom prst="round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654296"/>
            <a:ext cx="868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Git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57200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01828"/>
                </a:solidFill>
                <a:latin typeface="Rostelecom Basis"/>
              </a:rPr>
              <a:t>Репозиторий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9663" y="4581144"/>
            <a:ext cx="67208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>
                <a:solidFill>
                  <a:srgbClr val="344054"/>
                </a:solidFill>
                <a:latin typeface="Rostelecom Basis"/>
              </a:rPr>
              <a:t>код / документация / история изменений размещены в GitHub или GitLab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15000"/>
            <a:ext cx="10789920" cy="51206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22664"/>
            <a:ext cx="1033272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dirty="0" err="1">
                <a:solidFill>
                  <a:srgbClr val="667085"/>
                </a:solidFill>
                <a:latin typeface="Rostelecom Basis"/>
              </a:rPr>
              <a:t>При</a:t>
            </a:r>
            <a:r>
              <a:rPr sz="1150" b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1" dirty="0" err="1">
                <a:solidFill>
                  <a:srgbClr val="667085"/>
                </a:solidFill>
                <a:latin typeface="Rostelecom Basis"/>
              </a:rPr>
              <a:t>уважительной</a:t>
            </a:r>
            <a:r>
              <a:rPr sz="1150" b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1" dirty="0" err="1">
                <a:solidFill>
                  <a:srgbClr val="667085"/>
                </a:solidFill>
                <a:latin typeface="Rostelecom Basis"/>
              </a:rPr>
              <a:t>причине</a:t>
            </a:r>
            <a:r>
              <a:rPr sz="1150" b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1" dirty="0" err="1">
                <a:solidFill>
                  <a:srgbClr val="667085"/>
                </a:solidFill>
                <a:latin typeface="Rostelecom Basis"/>
              </a:rPr>
              <a:t>порядок</a:t>
            </a:r>
            <a:r>
              <a:rPr sz="1150" b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1" dirty="0" err="1">
                <a:solidFill>
                  <a:srgbClr val="667085"/>
                </a:solidFill>
                <a:latin typeface="Rostelecom Basis"/>
              </a:rPr>
              <a:t>отработки</a:t>
            </a:r>
            <a:r>
              <a:rPr sz="1150" b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1" dirty="0" err="1">
                <a:solidFill>
                  <a:srgbClr val="667085"/>
                </a:solidFill>
                <a:latin typeface="Rostelecom Basis"/>
              </a:rPr>
              <a:t>посещаемости</a:t>
            </a:r>
            <a:r>
              <a:rPr sz="1150" b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lang="ru-RU" sz="1150" b="1" dirty="0">
                <a:solidFill>
                  <a:srgbClr val="667085"/>
                </a:solidFill>
                <a:latin typeface="Rostelecom Basis"/>
              </a:rPr>
              <a:t>обговаривается отдельно </a:t>
            </a:r>
            <a:endParaRPr sz="1150" b="1" dirty="0">
              <a:solidFill>
                <a:srgbClr val="667085"/>
              </a:solidFill>
              <a:latin typeface="Rostelecom Basis"/>
            </a:endParaRPr>
          </a:p>
        </p:txBody>
      </p:sp>
      <p:sp>
        <p:nvSpPr>
          <p:cNvPr id="32" name="Номер слайда 31">
            <a:extLst>
              <a:ext uri="{FF2B5EF4-FFF2-40B4-BE49-F238E27FC236}">
                <a16:creationId xmlns:a16="http://schemas.microsoft.com/office/drawing/2014/main" id="{EF7CC8CD-1FAB-1F33-E27E-7FBF2BF1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34" name="Picture 3" descr="Основной_цветной.png">
            <a:extLst>
              <a:ext uri="{FF2B5EF4-FFF2-40B4-BE49-F238E27FC236}">
                <a16:creationId xmlns:a16="http://schemas.microsoft.com/office/drawing/2014/main" id="{C09F785B-161C-4E3B-4D80-475DD8DB9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pic>
        <p:nvPicPr>
          <p:cNvPr id="36" name="Рисунок 35" descr="Мозговой штурм группы">
            <a:extLst>
              <a:ext uri="{FF2B5EF4-FFF2-40B4-BE49-F238E27FC236}">
                <a16:creationId xmlns:a16="http://schemas.microsoft.com/office/drawing/2014/main" id="{41013BDF-A052-C4C6-C064-DB55F48F1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287" y="2715768"/>
            <a:ext cx="346329" cy="3463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Обязательные артефакты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Rostelecom Basis"/>
              </a:rPr>
              <a:t>Все документы — не отдельные «бумажки», а след одной проектной истории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08760"/>
            <a:ext cx="3429000" cy="1755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1655064"/>
            <a:ext cx="1005840" cy="246888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7335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Rostelecom Basis"/>
              </a:rPr>
              <a:t>СТАРТ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1168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Карточка кейса / мини-паспорт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Stakeholder Map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Первичный реестр требований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508760"/>
            <a:ext cx="3429000" cy="1755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1999" y="1655064"/>
            <a:ext cx="1005840" cy="246888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1999" y="167335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Rostelecom Basis"/>
              </a:rPr>
              <a:t>ТЗ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7" y="201168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Scope / Out of Scope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Техническое задание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Критерии приёмки / метрики /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508760"/>
            <a:ext cx="3429000" cy="1755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0" y="1655064"/>
            <a:ext cx="1005840" cy="246888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67335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Rostelecom Basis"/>
              </a:rPr>
              <a:t>ПЛАН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01168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WBS + календарный план ProjectLibre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RACI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Реестр рисков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48456"/>
            <a:ext cx="3429000" cy="1755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3794760"/>
            <a:ext cx="1005840" cy="246888"/>
          </a:xfrm>
          <a:prstGeom prst="round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813048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Rostelecom Basis"/>
              </a:rPr>
              <a:t>РЕАЛИЗАЦИЯ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151376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Backlog / статус в YouTrack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Журнал решений / Change Requests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Работающий MVP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7" y="3648456"/>
            <a:ext cx="3429000" cy="1755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1999" y="3794760"/>
            <a:ext cx="1005840" cy="246888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1999" y="3813048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Rostelecom Basis"/>
              </a:rPr>
              <a:t>КАЧЕСТВО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7" y="4151376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План / отчёт тестирования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Доказательства прохождения критериев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Зафиксированные ограничения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648456"/>
            <a:ext cx="3429000" cy="17556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21040" y="3794760"/>
            <a:ext cx="1005840" cy="246888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3813048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Rostelecom Basis"/>
              </a:rPr>
              <a:t>ПЕРЕДАЧА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4151376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README / инструкция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План передачи / эксплуатации</a:t>
            </a:r>
          </a:p>
          <a:p>
            <a:pPr>
              <a:spcAft>
                <a:spcPts val="600"/>
              </a:spcAft>
              <a:defRPr sz="1070">
                <a:solidFill>
                  <a:srgbClr val="344054"/>
                </a:solidFill>
                <a:latin typeface="Rostelecom Basis"/>
              </a:defRPr>
            </a:pPr>
            <a:r>
              <a:t>• ПСИ / ОПЭ + ретроспектива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88152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907024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Формат допускается компактный. Важно не количество страниц, а актуальность, связность и обоснование решений.</a:t>
            </a:r>
          </a:p>
        </p:txBody>
      </p:sp>
      <p:sp>
        <p:nvSpPr>
          <p:cNvPr id="36" name="Номер слайда 35">
            <a:extLst>
              <a:ext uri="{FF2B5EF4-FFF2-40B4-BE49-F238E27FC236}">
                <a16:creationId xmlns:a16="http://schemas.microsoft.com/office/drawing/2014/main" id="{560FB15A-BEDC-FD17-8E45-FADB30AF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38" name="Picture 3" descr="Основной_цветной.png">
            <a:extLst>
              <a:ext uri="{FF2B5EF4-FFF2-40B4-BE49-F238E27FC236}">
                <a16:creationId xmlns:a16="http://schemas.microsoft.com/office/drawing/2014/main" id="{919220B6-A4D7-4ADD-093D-2CCC1F27A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Что должно быть в финальной презентации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Rostelecom Basis"/>
              </a:rPr>
              <a:t>Достаточно 6–7 слайдов — без пересказа всего семестра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554480"/>
            <a:ext cx="50749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737360"/>
            <a:ext cx="502920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75564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1664208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101828"/>
                </a:solidFill>
                <a:latin typeface="Rostelecom Basis"/>
              </a:rPr>
              <a:t>Проблема и цель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030246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 err="1">
                <a:solidFill>
                  <a:srgbClr val="344054"/>
                </a:solidFill>
                <a:latin typeface="Rostelecom Basis"/>
              </a:rPr>
              <a:t>Почему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проект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вообще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появился</a:t>
            </a:r>
            <a:endParaRPr sz="1080" b="0" dirty="0">
              <a:solidFill>
                <a:srgbClr val="344054"/>
              </a:solidFill>
              <a:latin typeface="Rostelecom Basi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36208" y="1554480"/>
            <a:ext cx="50749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02920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75564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1664208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101828"/>
                </a:solidFill>
                <a:latin typeface="Rostelecom Basis"/>
              </a:rPr>
              <a:t>Стейкхолдеры и требования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030246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 err="1">
                <a:solidFill>
                  <a:srgbClr val="344054"/>
                </a:solidFill>
                <a:latin typeface="Rostelecom Basis"/>
              </a:rPr>
              <a:t>Для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кого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делаем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и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что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обязаны</a:t>
            </a:r>
            <a:r>
              <a:rPr sz="108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080" b="0" dirty="0" err="1">
                <a:solidFill>
                  <a:srgbClr val="344054"/>
                </a:solidFill>
                <a:latin typeface="Rostelecom Basis"/>
              </a:rPr>
              <a:t>обеспечить</a:t>
            </a:r>
            <a:endParaRPr sz="1080" b="0" dirty="0">
              <a:solidFill>
                <a:srgbClr val="344054"/>
              </a:solidFill>
              <a:latin typeface="Rostelecom Basi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9808" y="2852928"/>
            <a:ext cx="50749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3035808"/>
            <a:ext cx="502920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05409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2962656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101828"/>
                </a:solidFill>
                <a:latin typeface="Rostelecom Basis"/>
              </a:rPr>
              <a:t>Scope и план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300984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344054"/>
                </a:solidFill>
                <a:latin typeface="Rostelecom Basis"/>
              </a:rPr>
              <a:t>Что вошло в проект, как планировали и что менялось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2852928"/>
            <a:ext cx="50749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0" y="3035808"/>
            <a:ext cx="502920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05409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456" y="2962656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101828"/>
                </a:solidFill>
                <a:latin typeface="Rostelecom Basis"/>
              </a:rPr>
              <a:t>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3300984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344054"/>
                </a:solidFill>
                <a:latin typeface="Rostelecom Basis"/>
              </a:rPr>
              <a:t>Что создано и как это работает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151376"/>
            <a:ext cx="50749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4400" y="4334256"/>
            <a:ext cx="502920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352544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1056" y="4261104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101828"/>
                </a:solidFill>
                <a:latin typeface="Rostelecom Basis"/>
              </a:rPr>
              <a:t>Тестирование и приёмка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" y="4599432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344054"/>
                </a:solidFill>
                <a:latin typeface="Rostelecom Basis"/>
              </a:rPr>
              <a:t>Как доказали готовность результата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4151376"/>
            <a:ext cx="50749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0" y="4334256"/>
            <a:ext cx="502920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352544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4261104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101828"/>
                </a:solidFill>
                <a:latin typeface="Rostelecom Basis"/>
              </a:rPr>
              <a:t>Итог и ретро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7456" y="4599432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344054"/>
                </a:solidFill>
                <a:latin typeface="Rostelecom Basis"/>
              </a:rPr>
              <a:t>Что получилось, что не получилось, что сделали бы иначе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696712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815584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Показывайте только те материалы, которые помогают объяснить управленческие решения. Остальное должно быть доступно в репозитории.</a:t>
            </a:r>
          </a:p>
        </p:txBody>
      </p:sp>
      <p:sp>
        <p:nvSpPr>
          <p:cNvPr id="42" name="Номер слайда 41">
            <a:extLst>
              <a:ext uri="{FF2B5EF4-FFF2-40B4-BE49-F238E27FC236}">
                <a16:creationId xmlns:a16="http://schemas.microsoft.com/office/drawing/2014/main" id="{9FF83A9B-67F1-717F-650D-A5F3F67D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44" name="Picture 3" descr="Основной_цветной.png">
            <a:extLst>
              <a:ext uri="{FF2B5EF4-FFF2-40B4-BE49-F238E27FC236}">
                <a16:creationId xmlns:a16="http://schemas.microsoft.com/office/drawing/2014/main" id="{BF5522AC-9390-685E-C7AC-16E74B07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Демонстрация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27632"/>
            <a:ext cx="438912" cy="310896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45920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00200"/>
            <a:ext cx="214884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Rostelecom Basis"/>
              </a:rPr>
              <a:t>Показать вход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600200"/>
            <a:ext cx="3154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Rostelecom Basis"/>
              </a:rPr>
              <a:t>Какие данные / параметры получает MVP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432304"/>
            <a:ext cx="438912" cy="310896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450592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04872"/>
            <a:ext cx="214884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Rostelecom Basis"/>
              </a:rPr>
              <a:t>Показать сценарий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404872"/>
            <a:ext cx="3154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Rostelecom Basis"/>
              </a:rPr>
              <a:t>Что делает пользователь или система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36976"/>
            <a:ext cx="438912" cy="310896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255264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9544"/>
            <a:ext cx="214884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Rostelecom Basis"/>
              </a:rPr>
              <a:t>Показать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209544"/>
            <a:ext cx="3154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Rostelecom Basis"/>
              </a:rPr>
              <a:t>Какой прогноз / классификацию / расчёт получает пользователь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41648"/>
            <a:ext cx="438912" cy="310896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059936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14216"/>
            <a:ext cx="214884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01828"/>
                </a:solidFill>
                <a:latin typeface="Rostelecom Basis"/>
              </a:rPr>
              <a:t>Связать с требованиями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014216"/>
            <a:ext cx="3154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Rostelecom Basis"/>
              </a:rPr>
              <a:t>Какие Must-требования реально закрыты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1627632"/>
            <a:ext cx="4343400" cy="3310128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E9D7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87184" y="1938528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700FF"/>
                </a:solidFill>
                <a:latin typeface="Rostelecom Basis"/>
              </a:rPr>
              <a:t>Что НЕ требуется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2487168"/>
            <a:ext cx="3611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44054"/>
                </a:solidFill>
                <a:latin typeface="Rostelecom Basis"/>
              </a:defRPr>
            </a:pPr>
            <a:r>
              <a:t>• «Идеальная» ML-модель</a:t>
            </a:r>
          </a:p>
          <a:p>
            <a:pPr>
              <a:spcAft>
                <a:spcPts val="600"/>
              </a:spcAft>
              <a:defRPr sz="1200">
                <a:solidFill>
                  <a:srgbClr val="344054"/>
                </a:solidFill>
                <a:latin typeface="Rostelecom Basis"/>
              </a:defRPr>
            </a:pPr>
            <a:r>
              <a:t>• Production-инфраструктура</a:t>
            </a:r>
          </a:p>
          <a:p>
            <a:pPr>
              <a:spcAft>
                <a:spcPts val="600"/>
              </a:spcAft>
              <a:defRPr sz="1200">
                <a:solidFill>
                  <a:srgbClr val="344054"/>
                </a:solidFill>
                <a:latin typeface="Rostelecom Basis"/>
              </a:defRPr>
            </a:pPr>
            <a:r>
              <a:t>• сложный интерфейс</a:t>
            </a:r>
          </a:p>
          <a:p>
            <a:pPr>
              <a:spcAft>
                <a:spcPts val="600"/>
              </a:spcAft>
              <a:defRPr sz="1200">
                <a:solidFill>
                  <a:srgbClr val="344054"/>
                </a:solidFill>
                <a:latin typeface="Rostelecom Basis"/>
              </a:defRPr>
            </a:pPr>
            <a:r>
              <a:t>• десятки функций</a:t>
            </a:r>
          </a:p>
          <a:p>
            <a:pPr>
              <a:spcAft>
                <a:spcPts val="600"/>
              </a:spcAft>
              <a:defRPr sz="1200">
                <a:solidFill>
                  <a:srgbClr val="344054"/>
                </a:solidFill>
                <a:latin typeface="Rostelecom Basis"/>
              </a:defRPr>
            </a:pPr>
            <a:r>
              <a:t>• 100% выполнение первоначального плана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650992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769864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Если MVP не заработал в момент защиты — команда должна уметь показать причину, текущую готовность и план восстановления.</a:t>
            </a:r>
          </a:p>
        </p:txBody>
      </p:sp>
      <p:sp>
        <p:nvSpPr>
          <p:cNvPr id="31" name="Номер слайда 30">
            <a:extLst>
              <a:ext uri="{FF2B5EF4-FFF2-40B4-BE49-F238E27FC236}">
                <a16:creationId xmlns:a16="http://schemas.microsoft.com/office/drawing/2014/main" id="{2FDCF1D4-59A3-0524-658A-68E0512F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33" name="Picture 3" descr="Основной_цветной.png">
            <a:extLst>
              <a:ext uri="{FF2B5EF4-FFF2-40B4-BE49-F238E27FC236}">
                <a16:creationId xmlns:a16="http://schemas.microsoft.com/office/drawing/2014/main" id="{14A0B1B5-BAA5-B51E-EAA2-E4D574197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Как складывается итоговая оценка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342900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6968" y="1901952"/>
            <a:ext cx="960120" cy="438912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960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stelecom Basis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6243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Rostelecom Basis"/>
              </a:rPr>
              <a:t>Сквозной командный 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657600"/>
            <a:ext cx="2834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60" b="0">
                <a:solidFill>
                  <a:srgbClr val="344054"/>
                </a:solidFill>
                <a:latin typeface="Rostelecom Basis"/>
              </a:rPr>
              <a:t>Баллы за контрольные точки и проектные артефакты в течение семестра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1645920"/>
            <a:ext cx="342900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36007" y="1901952"/>
            <a:ext cx="960120" cy="438912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1920240"/>
            <a:ext cx="960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stelecom Basis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6243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Rostelecom Basis"/>
              </a:rPr>
              <a:t>Текущий индивидуальный контроль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3657600"/>
            <a:ext cx="2834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60" b="0">
                <a:solidFill>
                  <a:srgbClr val="344054"/>
                </a:solidFill>
                <a:latin typeface="Rostelecom Basis"/>
              </a:rPr>
              <a:t>Участие в защите решений, ответы, личный вклад в проект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45920"/>
            <a:ext cx="342900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85048" y="1901952"/>
            <a:ext cx="960120" cy="438912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1920240"/>
            <a:ext cx="960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stelecom Basis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62432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Rostelecom Basis"/>
              </a:rPr>
              <a:t>Экзамен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657600"/>
            <a:ext cx="28346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60" b="0">
                <a:solidFill>
                  <a:srgbClr val="344054"/>
                </a:solidFill>
                <a:latin typeface="Rostelecom Basis"/>
              </a:rPr>
              <a:t>Финальная защита проекта, MVP и индивидуальные вопросы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650992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769864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Итоговая оценка не равна «оценке экзамена»: экзамен — только 30% общего результата.</a:t>
            </a:r>
          </a:p>
        </p:txBody>
      </p:sp>
      <p:sp>
        <p:nvSpPr>
          <p:cNvPr id="27" name="Номер слайда 26">
            <a:extLst>
              <a:ext uri="{FF2B5EF4-FFF2-40B4-BE49-F238E27FC236}">
                <a16:creationId xmlns:a16="http://schemas.microsoft.com/office/drawing/2014/main" id="{366E8F63-0247-8336-E90A-2A85668E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29" name="Picture 3" descr="Основной_цветной.png">
            <a:extLst>
              <a:ext uri="{FF2B5EF4-FFF2-40B4-BE49-F238E27FC236}">
                <a16:creationId xmlns:a16="http://schemas.microsoft.com/office/drawing/2014/main" id="{174C8DB8-D009-4FA9-32DA-6C282D479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60 баллов за проект — по контрольным точкам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Rostelecom Basis"/>
              </a:rPr>
              <a:t>Каждый этап курса даёт свой обязательный результат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27048"/>
            <a:ext cx="104698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1636776"/>
            <a:ext cx="65836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550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10 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61848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01828"/>
                </a:solidFill>
                <a:latin typeface="Rostelecom Basis"/>
              </a:rPr>
              <a:t>1. Старт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618488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44054"/>
                </a:solidFill>
                <a:latin typeface="Rostelecom Basis"/>
              </a:rPr>
              <a:t>Инициация, стейкхолдеры, первичные требования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240280"/>
            <a:ext cx="104698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7824" y="2350008"/>
            <a:ext cx="65836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2368296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15 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01828"/>
                </a:solidFill>
                <a:latin typeface="Rostelecom Basis"/>
              </a:rPr>
              <a:t>2. ТЗ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331720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44054"/>
                </a:solidFill>
                <a:latin typeface="Rostelecom Basis"/>
              </a:rPr>
              <a:t>ТЗ, метрики, baseline, критерии приёмки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953512"/>
            <a:ext cx="104698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7824" y="3063240"/>
            <a:ext cx="65836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3081528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15 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0449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01828"/>
                </a:solidFill>
                <a:latin typeface="Rostelecom Basis"/>
              </a:rPr>
              <a:t>3.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044952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44054"/>
                </a:solidFill>
                <a:latin typeface="Rostelecom Basis"/>
              </a:rPr>
              <a:t>План, WBS, управление реализацией, MVP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666744"/>
            <a:ext cx="104698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7824" y="3776472"/>
            <a:ext cx="65836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94760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10 б.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7581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01828"/>
                </a:solidFill>
                <a:latin typeface="Rostelecom Basis"/>
              </a:rPr>
              <a:t>4. Тест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758184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44054"/>
                </a:solidFill>
                <a:latin typeface="Rostelecom Basis"/>
              </a:rPr>
              <a:t>Стратегия и результаты тестирования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379976"/>
            <a:ext cx="104698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7824" y="4489704"/>
            <a:ext cx="65836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" y="4507992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5 б.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47141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01828"/>
                </a:solidFill>
                <a:latin typeface="Rostelecom Basis"/>
              </a:rPr>
              <a:t>5. Передача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471416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44054"/>
                </a:solidFill>
                <a:latin typeface="Rostelecom Basis"/>
              </a:rPr>
              <a:t>README, инструкции, передача знаний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093208"/>
            <a:ext cx="104698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77824" y="5202936"/>
            <a:ext cx="658368" cy="274320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22122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5 б.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51846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1">
                <a:solidFill>
                  <a:srgbClr val="101828"/>
                </a:solidFill>
                <a:latin typeface="Rostelecom Basis"/>
              </a:rPr>
              <a:t>6. ПСИ / ОПЭ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184648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44054"/>
                </a:solidFill>
                <a:latin typeface="Rostelecom Basis"/>
              </a:rPr>
              <a:t>Приёмка, мониторинг, эффект, ретроспектива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897880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6016752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Если документ был слабым на промежуточной точке — его можно доработать к финальной защите. Но история изменений должна быть видна.</a:t>
            </a:r>
          </a:p>
        </p:txBody>
      </p:sp>
      <p:sp>
        <p:nvSpPr>
          <p:cNvPr id="42" name="Номер слайда 41">
            <a:extLst>
              <a:ext uri="{FF2B5EF4-FFF2-40B4-BE49-F238E27FC236}">
                <a16:creationId xmlns:a16="http://schemas.microsoft.com/office/drawing/2014/main" id="{08EBD244-AA5E-0B67-0FCA-1EEC2121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44" name="Picture 3" descr="Основной_цветной.png">
            <a:extLst>
              <a:ext uri="{FF2B5EF4-FFF2-40B4-BE49-F238E27FC236}">
                <a16:creationId xmlns:a16="http://schemas.microsoft.com/office/drawing/2014/main" id="{926E6C26-292A-37DA-1A2E-12292D33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30 баллов за экзамен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Rostelecom Basis"/>
              </a:rPr>
              <a:t>Часть баллов командная, часть — индивидуальная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00200"/>
            <a:ext cx="10561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1828800"/>
            <a:ext cx="749808" cy="347472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47088"/>
            <a:ext cx="7498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10 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728216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Rostelecom Basis"/>
              </a:rPr>
              <a:t>Защита проектной логики и артефактов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783080"/>
            <a:ext cx="1143000" cy="256032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801368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Rostelecom Basis"/>
              </a:rPr>
              <a:t>КОМАНДА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4526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0">
                <a:solidFill>
                  <a:srgbClr val="344054"/>
                </a:solidFill>
                <a:latin typeface="Rostelecom Basis"/>
              </a:rPr>
              <a:t>Связность: проблема → требования → план → решения → приёмка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843784"/>
            <a:ext cx="10561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2" y="3072384"/>
            <a:ext cx="749808" cy="347472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090672"/>
            <a:ext cx="7498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10 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9718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Rostelecom Basis"/>
              </a:rPr>
              <a:t>Демонстрация MVP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026664"/>
            <a:ext cx="1143000" cy="256032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3044952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Rostelecom Basis"/>
              </a:rPr>
              <a:t>КОМАНДА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71800"/>
            <a:ext cx="4526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0">
                <a:solidFill>
                  <a:srgbClr val="344054"/>
                </a:solidFill>
                <a:latin typeface="Rostelecom Basis"/>
              </a:rPr>
              <a:t>Работающий сценарий + связь с требованиями и критериями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087368"/>
            <a:ext cx="10561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6112" y="4315968"/>
            <a:ext cx="749808" cy="347472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4334256"/>
            <a:ext cx="7498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10 б.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21538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Rostelecom Basis"/>
              </a:rPr>
              <a:t>Индивидуальные ответы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4270248"/>
            <a:ext cx="1143000" cy="256032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4288536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Rostelecom Basis"/>
              </a:rPr>
              <a:t>КАЖДЫЙ СТУДЕНТ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15384"/>
            <a:ext cx="4526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0">
                <a:solidFill>
                  <a:srgbClr val="344054"/>
                </a:solidFill>
                <a:latin typeface="Rostelecom Basis"/>
              </a:rPr>
              <a:t>Понимание собственного проекта, решений, рисков и личного вклада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96128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715000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Индивидуальный блок нужен, чтобы итоговая оценка отражала вклад каждого, а не только сильнейшего участника команды.</a:t>
            </a:r>
          </a:p>
        </p:txBody>
      </p:sp>
      <p:sp>
        <p:nvSpPr>
          <p:cNvPr id="33" name="Номер слайда 32">
            <a:extLst>
              <a:ext uri="{FF2B5EF4-FFF2-40B4-BE49-F238E27FC236}">
                <a16:creationId xmlns:a16="http://schemas.microsoft.com/office/drawing/2014/main" id="{097806A9-F0B0-13A8-6250-C4E78D55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35" name="Picture 3" descr="Основной_цветной.png">
            <a:extLst>
              <a:ext uri="{FF2B5EF4-FFF2-40B4-BE49-F238E27FC236}">
                <a16:creationId xmlns:a16="http://schemas.microsoft.com/office/drawing/2014/main" id="{B3DEDFDA-D3AF-CD3E-2EBA-A8767AAC7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Какие вопросы я буду задавать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Rostelecom Basis"/>
              </a:rPr>
              <a:t>Вопросы — по вашему проекту, а не на воспроизведение определений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3619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171907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66420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Почему вы сформулировали проблему именно так?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3619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171907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73736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66420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Какой стейкхолдер оказался самым сложным и почему?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49631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8680" y="267919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69748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62432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Почему это требование Must, а не Should?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49631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267919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69748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62432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Что вы сознательно оставили Out of Scope?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45643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8680" y="363931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65760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358444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Какой риск реализовался и как команда отреагировала?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45643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55080" y="363931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65760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358444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Какое решение сильнее всего повлияло на сроки / scope?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41655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8680" y="459943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61772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4752" y="454456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Как доказали, что MVP соответствует критериям приёмки?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4416552"/>
            <a:ext cx="502920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355080" y="4599432"/>
            <a:ext cx="384048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461772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Rostelecom Basis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4544568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344054"/>
                </a:solidFill>
                <a:latin typeface="Rostelecom Basis"/>
              </a:rPr>
              <a:t>Что бы вы изменили, если бы начинали проект заново?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69280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788152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Технические детали модели могут уточняться у команды; ключевая оценка — умеете ли вы обосновать управленческое решение.</a:t>
            </a:r>
          </a:p>
        </p:txBody>
      </p:sp>
      <p:sp>
        <p:nvSpPr>
          <p:cNvPr id="44" name="Номер слайда 43">
            <a:extLst>
              <a:ext uri="{FF2B5EF4-FFF2-40B4-BE49-F238E27FC236}">
                <a16:creationId xmlns:a16="http://schemas.microsoft.com/office/drawing/2014/main" id="{82B2ED59-14A9-D7DD-45E7-182EC790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46" name="Picture 3" descr="Основной_цветной.png">
            <a:extLst>
              <a:ext uri="{FF2B5EF4-FFF2-40B4-BE49-F238E27FC236}">
                <a16:creationId xmlns:a16="http://schemas.microsoft.com/office/drawing/2014/main" id="{4D113384-9D7B-8503-621C-8B921F186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Итоговая шкала A–D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Rostelecom Basis"/>
              </a:rPr>
              <a:t>Оценка выставляется по сумме всех баллов курса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42823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Rostelecom Basi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1065276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" y="1636776"/>
            <a:ext cx="1874519" cy="347472"/>
          </a:xfrm>
          <a:prstGeom prst="round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655064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A — отлично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09344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Rostelecom Basis"/>
              </a:rPr>
              <a:t>90–100%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1554480"/>
            <a:ext cx="6492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44054"/>
                </a:solidFill>
                <a:latin typeface="Rostelecom Basis"/>
              </a:rPr>
              <a:t>Полное и глубокое освоение материала; самостоятельное и логичное обоснование решений; уверенное применение методов к сложным ситуационным задачам; связь теории с практикой.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33472"/>
            <a:ext cx="1065276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0392" y="2825496"/>
            <a:ext cx="1874519" cy="347472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2843784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B — хорошо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798064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Rostelecom Basis"/>
              </a:rPr>
              <a:t>75–89%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743200"/>
            <a:ext cx="6492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44054"/>
                </a:solidFill>
                <a:latin typeface="Rostelecom Basis"/>
              </a:rPr>
              <a:t>Практически полное освоение материала; корректное применение основных методов; аргументированные решения с отдельными неточностями, не влияющими на общий результат.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1065276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92" y="4014215"/>
            <a:ext cx="1874519" cy="347472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4032503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C — удовлетворительно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986783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Rostelecom Basis"/>
              </a:rPr>
              <a:t>60–74%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931919"/>
            <a:ext cx="6492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44054"/>
                </a:solidFill>
                <a:latin typeface="Rostelecom Basis"/>
              </a:rPr>
              <a:t>Освоен обязательный минимум; студент способен решать типовые задачи, но допускает содержательные неточности и нуждается в дополнительных вопросах/подсказках.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010912"/>
            <a:ext cx="1065276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0392" y="5202936"/>
            <a:ext cx="1874519" cy="347472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5221224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stelecom Basis"/>
              </a:rPr>
              <a:t>D — неудовлетворительно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175504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Rostelecom Basis"/>
              </a:rPr>
              <a:t>&lt;60%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5120640"/>
            <a:ext cx="6492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44054"/>
                </a:solidFill>
                <a:latin typeface="Rostelecom Basis"/>
              </a:rPr>
              <a:t>Обязательный минимум не освоен; студент не способен обосновать решения и применить базовые методы даже при дополнительных наводящих вопросах.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6144768"/>
            <a:ext cx="10789920" cy="51206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6263640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D92D20"/>
                </a:solidFill>
                <a:latin typeface="Rostelecom Basis"/>
              </a:rPr>
              <a:t>60% — минимальный порог успешного освоения курса.</a:t>
            </a:r>
          </a:p>
        </p:txBody>
      </p:sp>
      <p:sp>
        <p:nvSpPr>
          <p:cNvPr id="32" name="Номер слайда 31">
            <a:extLst>
              <a:ext uri="{FF2B5EF4-FFF2-40B4-BE49-F238E27FC236}">
                <a16:creationId xmlns:a16="http://schemas.microsoft.com/office/drawing/2014/main" id="{5E685DB6-A7AC-C1FF-0C25-EB796AF7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34" name="Picture 3" descr="Основной_цветной.png">
            <a:extLst>
              <a:ext uri="{FF2B5EF4-FFF2-40B4-BE49-F238E27FC236}">
                <a16:creationId xmlns:a16="http://schemas.microsoft.com/office/drawing/2014/main" id="{F02CFDD9-B324-9664-528C-8F5329BF3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8869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1828"/>
                </a:solidFill>
                <a:latin typeface="Rostelecom Basis"/>
              </a:rPr>
              <a:t>Чек-лист команды перед экзаменом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464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Rostelecom Basis"/>
              </a:rPr>
              <a:t>Если все пункты закрыты — защита должна пройти спокойно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80160"/>
            <a:ext cx="11064240" cy="10972"/>
          </a:xfrm>
          <a:prstGeom prst="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46520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1572768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563624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545336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Посещение лекций ≥ 50%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2359152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331720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Репозиторий доступен преподавателю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3145536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3136392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118104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Обязательные артефакты актуализированы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3931920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922776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904488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ProjectLibre отражает фактический план / отклонения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4718304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470916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690872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YouTrack содержит задачи и историю работы</a:t>
            </a:r>
          </a:p>
        </p:txBody>
      </p:sp>
      <p:sp>
        <p:nvSpPr>
          <p:cNvPr id="25" name="Oval 24"/>
          <p:cNvSpPr/>
          <p:nvPr/>
        </p:nvSpPr>
        <p:spPr>
          <a:xfrm>
            <a:off x="6272784" y="1572768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72784" y="1563624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1545336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MVP запускается и показывает основной сценарий</a:t>
            </a:r>
          </a:p>
        </p:txBody>
      </p:sp>
      <p:sp>
        <p:nvSpPr>
          <p:cNvPr id="28" name="Oval 27"/>
          <p:cNvSpPr/>
          <p:nvPr/>
        </p:nvSpPr>
        <p:spPr>
          <a:xfrm>
            <a:off x="6272784" y="2359152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2784" y="2350008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2331720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Подготовлена презентация 6–7 слайдов</a:t>
            </a:r>
          </a:p>
        </p:txBody>
      </p:sp>
      <p:sp>
        <p:nvSpPr>
          <p:cNvPr id="31" name="Oval 30"/>
          <p:cNvSpPr/>
          <p:nvPr/>
        </p:nvSpPr>
        <p:spPr>
          <a:xfrm>
            <a:off x="6272784" y="3145536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2784" y="3136392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3118104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Каждый участник может объяснить личный вклад</a:t>
            </a:r>
          </a:p>
        </p:txBody>
      </p:sp>
      <p:sp>
        <p:nvSpPr>
          <p:cNvPr id="34" name="Oval 33"/>
          <p:cNvSpPr/>
          <p:nvPr/>
        </p:nvSpPr>
        <p:spPr>
          <a:xfrm>
            <a:off x="6272784" y="3931920"/>
            <a:ext cx="310896" cy="3108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72784" y="3922776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3904488"/>
            <a:ext cx="4709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344054"/>
                </a:solidFill>
                <a:latin typeface="Rostelecom Basis"/>
              </a:rPr>
              <a:t>Команда готова назвать 2–3 ошибки и Lessons Learned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398008"/>
            <a:ext cx="107899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516880"/>
            <a:ext cx="10332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7700FF"/>
                </a:solidFill>
                <a:latin typeface="Rostelecom Basis"/>
              </a:rPr>
              <a:t>Финальная защита — это демонстрация того, что проект действительно был управляемым, а решения команды можно объяснить.</a:t>
            </a:r>
          </a:p>
        </p:txBody>
      </p:sp>
      <p:sp>
        <p:nvSpPr>
          <p:cNvPr id="39" name="Номер слайда 38">
            <a:extLst>
              <a:ext uri="{FF2B5EF4-FFF2-40B4-BE49-F238E27FC236}">
                <a16:creationId xmlns:a16="http://schemas.microsoft.com/office/drawing/2014/main" id="{B9A34F7E-9023-C5DD-EE9B-1D62964F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41" name="Picture 3" descr="Основной_цветной.png">
            <a:extLst>
              <a:ext uri="{FF2B5EF4-FFF2-40B4-BE49-F238E27FC236}">
                <a16:creationId xmlns:a16="http://schemas.microsoft.com/office/drawing/2014/main" id="{A1FADB4A-3824-C8DE-644D-E72B9E2B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2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Содержание курса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252728"/>
            <a:ext cx="11201400" cy="0"/>
          </a:xfrm>
          <a:prstGeom prst="line">
            <a:avLst/>
          </a:prstGeom>
          <a:noFill/>
          <a:ln w="10160">
            <a:solidFill>
              <a:srgbClr val="E3E8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6128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6128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1920240" y="2185416"/>
            <a:ext cx="111556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79552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Старт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9494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Критерии кейса,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роблема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стейкхолдеры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требования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03580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03580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3794760" y="2185416"/>
            <a:ext cx="111556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267004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256946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Метрики, baseline, критерии приёмки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91032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1032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5669280" y="2185416"/>
            <a:ext cx="106984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454456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444398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одели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эксперименты, демо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78484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7543800" y="2185416"/>
            <a:ext cx="106984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34" name="Text 30"/>
          <p:cNvSpPr/>
          <p:nvPr/>
        </p:nvSpPr>
        <p:spPr>
          <a:xfrm>
            <a:off x="641908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Тест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631850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Качество данных, robustness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(целостность)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865936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65936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9418320" y="2185416"/>
            <a:ext cx="111556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39" name="Text 35"/>
          <p:cNvSpPr/>
          <p:nvPr/>
        </p:nvSpPr>
        <p:spPr>
          <a:xfrm>
            <a:off x="829360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Передача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19302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README, инструкции, дообучение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10533888" y="1828800"/>
            <a:ext cx="713232" cy="71323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53388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1016812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ru-RU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ПСИ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1006754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ru-RU" sz="1200" b="1" dirty="0">
                <a:solidFill>
                  <a:schemeClr val="bg1">
                    <a:lumMod val="50000"/>
                  </a:schemeClr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(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приёмо-сдаточные испытания</a:t>
            </a:r>
            <a:r>
              <a:rPr lang="ru-RU" sz="1200" b="1" dirty="0">
                <a:solidFill>
                  <a:schemeClr val="bg1">
                    <a:lumMod val="50000"/>
                  </a:schemeClr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) 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Мониторинг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ретроспектива</a:t>
            </a:r>
            <a:endParaRPr lang="en-US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A7D20-9EA6-2DEE-C795-5B71C9F7173E}"/>
              </a:ext>
            </a:extLst>
          </p:cNvPr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 dirty="0" err="1">
                <a:solidFill>
                  <a:srgbClr val="98A2B3"/>
                </a:solidFill>
                <a:latin typeface="Rostelecom Basis"/>
              </a:rPr>
              <a:t>Управление</a:t>
            </a:r>
            <a:r>
              <a:rPr sz="780" b="0" i="0" dirty="0">
                <a:solidFill>
                  <a:srgbClr val="98A2B3"/>
                </a:solidFill>
                <a:latin typeface="Rostelecom Basis"/>
              </a:rPr>
              <a:t> ИТ-</a:t>
            </a:r>
            <a:r>
              <a:rPr sz="780" b="0" i="0" dirty="0" err="1">
                <a:solidFill>
                  <a:srgbClr val="98A2B3"/>
                </a:solidFill>
                <a:latin typeface="Rostelecom Basis"/>
              </a:rPr>
              <a:t>проектами</a:t>
            </a:r>
            <a:endParaRPr sz="780" b="0" i="0" dirty="0">
              <a:solidFill>
                <a:srgbClr val="98A2B3"/>
              </a:solidFill>
              <a:latin typeface="Rostelecom Basis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BA135B3-93E5-08B5-96DC-0AA512550B48}"/>
              </a:ext>
            </a:extLst>
          </p:cNvPr>
          <p:cNvSpPr/>
          <p:nvPr/>
        </p:nvSpPr>
        <p:spPr>
          <a:xfrm>
            <a:off x="1615348" y="2236676"/>
            <a:ext cx="249012" cy="220004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Picture 3" descr="Основной_цветной.png">
            <a:extLst>
              <a:ext uri="{FF2B5EF4-FFF2-40B4-BE49-F238E27FC236}">
                <a16:creationId xmlns:a16="http://schemas.microsoft.com/office/drawing/2014/main" id="{23AACBF0-1E60-5A1C-8835-003D74600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2600" b="1" i="0" dirty="0">
                <a:solidFill>
                  <a:srgbClr val="101828"/>
                </a:solidFill>
                <a:latin typeface="Aptos Display"/>
              </a:rPr>
              <a:t>Где мы</a:t>
            </a:r>
            <a:endParaRPr sz="2600" b="1" i="0" dirty="0">
              <a:solidFill>
                <a:srgbClr val="101828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150" b="0" i="0" dirty="0">
                <a:solidFill>
                  <a:srgbClr val="667085"/>
                </a:solidFill>
                <a:latin typeface="Rostelecom Basis"/>
              </a:rPr>
              <a:t>Переводим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команду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от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идеи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к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формализованному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проекту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с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понятными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людьми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и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требованиями</a:t>
            </a:r>
            <a:endParaRPr sz="1150" b="0" i="0" dirty="0">
              <a:solidFill>
                <a:srgbClr val="667085"/>
              </a:solidFill>
              <a:latin typeface="Rostelecom Basis"/>
            </a:endParaRP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 dirty="0" err="1">
                <a:solidFill>
                  <a:srgbClr val="98A2B3"/>
                </a:solidFill>
                <a:latin typeface="Rostelecom Basis"/>
              </a:rPr>
              <a:t>Управление</a:t>
            </a:r>
            <a:r>
              <a:rPr sz="780" b="0" i="0" dirty="0">
                <a:solidFill>
                  <a:srgbClr val="98A2B3"/>
                </a:solidFill>
                <a:latin typeface="Rostelecom Basis"/>
              </a:rPr>
              <a:t> ИТ-</a:t>
            </a:r>
            <a:r>
              <a:rPr sz="780" b="0" i="0" dirty="0" err="1">
                <a:solidFill>
                  <a:srgbClr val="98A2B3"/>
                </a:solidFill>
                <a:latin typeface="Rostelecom Basis"/>
              </a:rPr>
              <a:t>проектами</a:t>
            </a:r>
            <a:endParaRPr sz="780" b="0" i="0" dirty="0">
              <a:solidFill>
                <a:srgbClr val="98A2B3"/>
              </a:solidFill>
              <a:latin typeface="Rostelecom Basi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08712" y="1874519"/>
            <a:ext cx="24231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880" y="2057400"/>
            <a:ext cx="658368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44" y="211226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880" y="26060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1828"/>
                </a:solidFill>
                <a:latin typeface="Rostelecom Basis"/>
              </a:rPr>
              <a:t>Инициация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880" y="3063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проблема → цель → результат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50627" y="2770632"/>
            <a:ext cx="502920" cy="256032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5815032" y="2770632"/>
            <a:ext cx="502920" cy="256032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8714783" y="2770632"/>
            <a:ext cx="502920" cy="256032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28043" y="1874519"/>
            <a:ext cx="24231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429212" y="2057400"/>
            <a:ext cx="658368" cy="310896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84076" y="211226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A97A"/>
                </a:solidFill>
                <a:latin typeface="Rostelecom Basi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212" y="26060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1828"/>
                </a:solidFill>
                <a:latin typeface="Rostelecom Basis"/>
              </a:rPr>
              <a:t>Планирование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212" y="3063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WBS · сроки · риски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17720"/>
            <a:ext cx="10789920" cy="868680"/>
          </a:xfrm>
          <a:prstGeom prst="roundRect">
            <a:avLst/>
          </a:prstGeom>
          <a:solidFill>
            <a:srgbClr val="101828"/>
          </a:solidFill>
          <a:ln w="1016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828032"/>
            <a:ext cx="10287000" cy="375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220" b="1" i="0" dirty="0">
                <a:solidFill>
                  <a:srgbClr val="FFFFFF"/>
                </a:solidFill>
                <a:latin typeface="Rostelecom Basis"/>
              </a:rPr>
              <a:t>По итогу 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у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каждой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команды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должны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появиться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: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формулировка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проблемы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,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цель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проекта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,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проектный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паспорт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,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карта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стейкхолдеров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и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первичный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реестр</a:t>
            </a:r>
            <a:r>
              <a:rPr sz="1220" b="1" i="0" dirty="0">
                <a:solidFill>
                  <a:srgbClr val="FFFFFF"/>
                </a:solidFill>
                <a:latin typeface="Rostelecom Basis"/>
              </a:rPr>
              <a:t> </a:t>
            </a:r>
            <a:r>
              <a:rPr sz="1220" b="1" i="0" dirty="0" err="1">
                <a:solidFill>
                  <a:srgbClr val="FFFFFF"/>
                </a:solidFill>
                <a:latin typeface="Rostelecom Basis"/>
              </a:rPr>
              <a:t>требований</a:t>
            </a:r>
            <a:endParaRPr sz="1220" b="1" i="0" dirty="0">
              <a:solidFill>
                <a:srgbClr val="FFFFFF"/>
              </a:solidFill>
              <a:latin typeface="Rostelecom Basi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37528" y="1874519"/>
            <a:ext cx="24231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8695" y="2057400"/>
            <a:ext cx="658368" cy="310896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93559" y="211226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82F6"/>
                </a:solidFill>
                <a:latin typeface="Rostelecom Basi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8695" y="26060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1828"/>
                </a:solidFill>
                <a:latin typeface="Rostelecom Basis"/>
              </a:rPr>
              <a:t>Требования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8695" y="3063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что именно должен дать результат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3124" y="1874519"/>
            <a:ext cx="24231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74291" y="2057400"/>
            <a:ext cx="658368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9155" y="211226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4291" y="26060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1828"/>
                </a:solidFill>
                <a:latin typeface="Rostelecom Basis"/>
              </a:rPr>
              <a:t>Стейкхолдеры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4291" y="3063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кто влияет и кому нужна ценность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4B244A-8D89-B474-2C6A-8EC0003C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89720" y="182880"/>
            <a:ext cx="2148840" cy="2148840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2011680"/>
            <a:ext cx="1325880" cy="1325880"/>
          </a:xfrm>
          <a:prstGeom prst="ellipse">
            <a:avLst/>
          </a:prstGeom>
          <a:solidFill>
            <a:srgbClr val="B76CFF"/>
          </a:solidFill>
          <a:ln>
            <a:solidFill>
              <a:srgbClr val="B7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95560" y="4480560"/>
            <a:ext cx="1554480" cy="1554480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Основной_белы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369" y="912087"/>
            <a:ext cx="1600200" cy="418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65960"/>
            <a:ext cx="71323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Инициация
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01568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0D5DD"/>
                </a:solidFill>
                <a:latin typeface="Rostelecom Basis"/>
              </a:rPr>
              <a:t>Из идеи — в управляемое обязательство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D0D5DD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02AE10-6536-B4B4-19BA-FFA11F861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План</a:t>
            </a:r>
            <a:r>
              <a:rPr sz="2600" b="1" i="0" dirty="0">
                <a:solidFill>
                  <a:srgbClr val="101828"/>
                </a:solidFill>
                <a:latin typeface="Aptos Display"/>
              </a:rPr>
              <a:t> </a:t>
            </a: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на</a:t>
            </a:r>
            <a:r>
              <a:rPr sz="2600" b="1" i="0" dirty="0">
                <a:solidFill>
                  <a:srgbClr val="101828"/>
                </a:solidFill>
                <a:latin typeface="Aptos Display"/>
              </a:rPr>
              <a:t> 90 </a:t>
            </a: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минут</a:t>
            </a:r>
            <a:endParaRPr sz="2600" b="1" i="0" dirty="0">
              <a:solidFill>
                <a:srgbClr val="101828"/>
              </a:solidFill>
              <a:latin typeface="Aptos Display"/>
            </a:endParaRP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719072"/>
            <a:ext cx="86868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739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0–10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Контекст и результат инициации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Что должно быть понятно до планирования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80" y="1719072"/>
            <a:ext cx="868680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7739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10–30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214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Проблема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05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Problem Statement + 5 Why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55448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83879" y="1719072"/>
            <a:ext cx="868680" cy="310896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7739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3B82F6"/>
                </a:solidFill>
                <a:latin typeface="Rostelecom Basis"/>
              </a:rPr>
              <a:t>30–50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1214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Цель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05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Уровни цели + SMART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3730752"/>
            <a:ext cx="868680" cy="310896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78561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A97A"/>
                </a:solidFill>
                <a:latin typeface="Rostelecom Basis"/>
              </a:rPr>
              <a:t>50–65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330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Критерии успеха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1713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Метрики, ограничения, допущения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56616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26280" y="3730752"/>
            <a:ext cx="86868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378561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65–85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1330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Практикум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51713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Мини-паспорт собственного кейса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356616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83879" y="3730752"/>
            <a:ext cx="868680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378561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85–90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1330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Gate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51713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Проверка готовности двигаться дальше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4625FF-845E-995C-5C3B-54CD5764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Что делает инициация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До детализации плана нужно убедиться, что мы одинаково понимаем проблему, результат и право проекта на существование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993392" cy="1828800"/>
          </a:xfrm>
          <a:prstGeom prst="roundRect">
            <a:avLst/>
          </a:prstGeom>
          <a:solidFill>
            <a:srgbClr val="F1F3F5"/>
          </a:solidFill>
          <a:ln w="10160">
            <a:solidFill>
              <a:srgbClr val="F1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1993392"/>
            <a:ext cx="4572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482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98A2B3"/>
                </a:solidFill>
                <a:latin typeface="Rostelecom Basi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 b="1" i="0">
                <a:solidFill>
                  <a:srgbClr val="101828"/>
                </a:solidFill>
                <a:latin typeface="Rostelecom Basis"/>
              </a:rPr>
              <a:t>Сигнал / идея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907792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«Нужна CRM»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828800"/>
            <a:ext cx="1993392" cy="182880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90672" y="1993392"/>
            <a:ext cx="4572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6392" y="20482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1460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 b="1" i="0">
                <a:solidFill>
                  <a:srgbClr val="101828"/>
                </a:solidFill>
                <a:latin typeface="Rostelecom Basis"/>
              </a:rPr>
              <a:t>Проблема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907792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Что сейчас не работает?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1828800"/>
            <a:ext cx="1993392" cy="182880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58383" y="1993392"/>
            <a:ext cx="4572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4103" y="20482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3" y="251460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 b="1" i="0">
                <a:solidFill>
                  <a:srgbClr val="101828"/>
                </a:solidFill>
                <a:latin typeface="Rostelecom Basis"/>
              </a:rPr>
              <a:t>Цель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3" y="2907792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Что должно измениться?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1828800"/>
            <a:ext cx="1993392" cy="182880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26096" y="1993392"/>
            <a:ext cx="4572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71816" y="20482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3B82F6"/>
                </a:solidFill>
                <a:latin typeface="Rostelecom Basi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251460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 b="1" i="0">
                <a:solidFill>
                  <a:srgbClr val="101828"/>
                </a:solidFill>
                <a:latin typeface="Rostelecom Basis"/>
              </a:rPr>
              <a:t>Результат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2907792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Что создаём?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9216" y="1828800"/>
            <a:ext cx="1993392" cy="1828800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93808" y="1993392"/>
            <a:ext cx="4572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39528" y="20482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A97A"/>
                </a:solidFill>
                <a:latin typeface="Rostelecom Basi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51460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 b="1" i="0">
                <a:solidFill>
                  <a:srgbClr val="101828"/>
                </a:solidFill>
                <a:latin typeface="Rostelecom Basis"/>
              </a:rPr>
              <a:t>Решение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2907792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Запускать проект?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251960"/>
            <a:ext cx="10698480" cy="914400"/>
          </a:xfrm>
          <a:prstGeom prst="roundRect">
            <a:avLst/>
          </a:prstGeom>
          <a:solidFill>
            <a:srgbClr val="101828"/>
          </a:solidFill>
          <a:ln w="1016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4526280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FFFFFF"/>
                </a:solidFill>
                <a:latin typeface="Rostelecom Basis"/>
              </a:rPr>
              <a:t>Главный риск плохой инициации: команда очень хорошо реализует решение, которое не закрывает исходную проблему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27464" y="2542032"/>
            <a:ext cx="365760" cy="22860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7159752" y="2542032"/>
            <a:ext cx="365760" cy="22860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4892040" y="2542032"/>
            <a:ext cx="365760" cy="22860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2624328" y="2542032"/>
            <a:ext cx="365760" cy="228600"/>
          </a:xfrm>
          <a:prstGeom prst="rightArrow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Номер слайда 38">
            <a:extLst>
              <a:ext uri="{FF2B5EF4-FFF2-40B4-BE49-F238E27FC236}">
                <a16:creationId xmlns:a16="http://schemas.microsoft.com/office/drawing/2014/main" id="{9B233757-334B-FE96-606A-90BC3AB4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Проблема ≠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Инициация начинается с описания текущей боли, а не с названия технологии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166360" cy="342900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810512"/>
            <a:ext cx="1280160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65376"/>
            <a:ext cx="11887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АНТИПАТТЕРН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3891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101828"/>
                </a:solidFill>
                <a:latin typeface="Rostelecom Basis"/>
              </a:rPr>
              <a:t>«</a:t>
            </a:r>
            <a:r>
              <a:rPr sz="2400" b="1" i="0" dirty="0" err="1">
                <a:solidFill>
                  <a:srgbClr val="101828"/>
                </a:solidFill>
                <a:latin typeface="Rostelecom Basis"/>
              </a:rPr>
              <a:t>Нам</a:t>
            </a:r>
            <a:r>
              <a:rPr sz="2400" b="1" i="0" dirty="0">
                <a:solidFill>
                  <a:srgbClr val="101828"/>
                </a:solidFill>
                <a:latin typeface="Rostelecom Basis"/>
              </a:rPr>
              <a:t> </a:t>
            </a:r>
            <a:r>
              <a:rPr sz="2400" b="1" i="0" dirty="0" err="1">
                <a:solidFill>
                  <a:srgbClr val="101828"/>
                </a:solidFill>
                <a:latin typeface="Rostelecom Basis"/>
              </a:rPr>
              <a:t>нужна</a:t>
            </a:r>
            <a:r>
              <a:rPr sz="2400" b="1" i="0" dirty="0">
                <a:solidFill>
                  <a:srgbClr val="101828"/>
                </a:solidFill>
                <a:latin typeface="Rostelecom Basis"/>
              </a:rPr>
              <a:t> CRM»</a:t>
            </a:r>
            <a:r>
              <a:rPr lang="ru-RU" sz="2400" b="1" i="0" dirty="0">
                <a:solidFill>
                  <a:srgbClr val="101828"/>
                </a:solidFill>
                <a:latin typeface="Rostelecom Basis"/>
              </a:rPr>
              <a:t> - это мой пример</a:t>
            </a:r>
            <a:endParaRPr sz="2400" b="1" i="0" dirty="0">
              <a:solidFill>
                <a:srgbClr val="101828"/>
              </a:solidFill>
              <a:latin typeface="Rostelecom Basi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 dirty="0">
                <a:solidFill>
                  <a:srgbClr val="667085"/>
                </a:solidFill>
                <a:latin typeface="Rostelecom Basis"/>
              </a:rPr>
              <a:t>Это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уже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выбранное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решение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.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Оно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ничего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не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говорит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о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том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,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что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именно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не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работает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сегодня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и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какой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эффект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нужен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20" b="0" i="0" dirty="0" err="1">
                <a:solidFill>
                  <a:srgbClr val="667085"/>
                </a:solidFill>
                <a:latin typeface="Rostelecom Basis"/>
              </a:rPr>
              <a:t>бизнесу</a:t>
            </a:r>
            <a:r>
              <a:rPr sz="1120" b="0" i="0" dirty="0">
                <a:solidFill>
                  <a:srgbClr val="667085"/>
                </a:solidFill>
                <a:latin typeface="Rostelecom Basi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5166360" cy="342900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0" y="1810512"/>
            <a:ext cx="16002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65376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 dirty="0">
                <a:solidFill>
                  <a:srgbClr val="7700FF"/>
                </a:solidFill>
                <a:latin typeface="Rostelecom Basis"/>
              </a:rP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3891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1828"/>
                </a:solidFill>
                <a:latin typeface="Rostelecom Basis"/>
              </a:rPr>
              <a:t>Кто?  Что происходит?
Почему это проблема?
К чему приводит?  Чем подтверждается?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67085"/>
                </a:solidFill>
                <a:latin typeface="Rostelecom Basis"/>
              </a:rPr>
              <a:t>Формула: текущая ситуация → нежелательное последствие → затронутые пользователи/процесс → измеримое проявление</a:t>
            </a: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3DC24B25-2AC3-4385-862E-F4B20A96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79DBD7-74D8-A4A4-69CE-3A653373E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930"/>
            <a:ext cx="12192000" cy="5966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08ADDC-8B6B-72D3-C4D5-C1E4AB6FA79F}"/>
              </a:ext>
            </a:extLst>
          </p:cNvPr>
          <p:cNvSpPr txBox="1"/>
          <p:nvPr/>
        </p:nvSpPr>
        <p:spPr>
          <a:xfrm>
            <a:off x="327660" y="380238"/>
            <a:ext cx="10241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Метод</a:t>
            </a:r>
            <a:r>
              <a:rPr sz="2600" b="1" i="0" dirty="0">
                <a:solidFill>
                  <a:srgbClr val="101828"/>
                </a:solidFill>
                <a:latin typeface="Aptos Display"/>
              </a:rPr>
              <a:t> 5 Why</a:t>
            </a:r>
          </a:p>
        </p:txBody>
      </p:sp>
      <p:pic>
        <p:nvPicPr>
          <p:cNvPr id="9" name="Picture 3" descr="Основной_цветной.png">
            <a:extLst>
              <a:ext uri="{FF2B5EF4-FFF2-40B4-BE49-F238E27FC236}">
                <a16:creationId xmlns:a16="http://schemas.microsoft.com/office/drawing/2014/main" id="{3D83A63D-62A5-8CF4-154D-733A39A8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C24466C-0FA5-24B1-655E-60C4579C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66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Метод</a:t>
            </a:r>
            <a:r>
              <a:rPr sz="2600" b="1" i="0" dirty="0">
                <a:solidFill>
                  <a:srgbClr val="101828"/>
                </a:solidFill>
                <a:latin typeface="Aptos Display"/>
              </a:rPr>
              <a:t> 5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Пять «почему?» помогают добраться от видимого симптома до причины, с которой действительно можно работать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10607040" cy="64008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91639"/>
            <a:ext cx="777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7700FF"/>
                </a:solidFill>
                <a:latin typeface="Rostelecom Basis"/>
              </a:rPr>
              <a:t>WHY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45919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Почему менеджеры теряют сделки?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645919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Нет единого контроля следующих действий.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95728"/>
            <a:ext cx="10607040" cy="64008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551176"/>
            <a:ext cx="777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606040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FF4F12"/>
                </a:solidFill>
                <a:latin typeface="Rostelecom Basis"/>
              </a:rPr>
              <a:t>WHY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05456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Почему нет контроля?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05456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Данные хранятся в разных Excel-файлах.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55264"/>
            <a:ext cx="10607040" cy="64008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3410712"/>
            <a:ext cx="777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6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3B82F6"/>
                </a:solidFill>
                <a:latin typeface="Rostelecom Basis"/>
              </a:rPr>
              <a:t>WHY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364992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Почему файлы разрознены?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364992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Нет единого процесса ведения клиентской базы.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0607040" cy="640080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4270248"/>
            <a:ext cx="777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325112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1FA97A"/>
                </a:solidFill>
                <a:latin typeface="Rostelecom Basis"/>
              </a:rPr>
              <a:t>WHY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224528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Почему нет единого процесса?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224528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Нет общего инструмента и владельца правил.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74336"/>
            <a:ext cx="10607040" cy="640080"/>
          </a:xfrm>
          <a:prstGeom prst="roundRect">
            <a:avLst/>
          </a:prstGeom>
          <a:solidFill>
            <a:srgbClr val="F1F3F5"/>
          </a:solidFill>
          <a:ln w="10160">
            <a:solidFill>
              <a:srgbClr val="F1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4400" y="5129784"/>
            <a:ext cx="777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184648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273A64"/>
                </a:solidFill>
                <a:latin typeface="Rostelecom Basis"/>
              </a:rPr>
              <a:t>WHY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084064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Почему это критично?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5084064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Руководитель не видит воронку, клиенты получают несогласованные коммуникации.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C8C6C7-ABF8-8737-A85B-1E59B838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01828"/>
                </a:solidFill>
                <a:latin typeface="Aptos Display"/>
              </a:rPr>
              <a:t>CRM — </a:t>
            </a:r>
            <a:r>
              <a:rPr lang="ru-RU" sz="2600" b="1" i="0" dirty="0">
                <a:solidFill>
                  <a:srgbClr val="101828"/>
                </a:solidFill>
                <a:latin typeface="Aptos Display"/>
              </a:rPr>
              <a:t>Как пример</a:t>
            </a:r>
            <a:endParaRPr sz="2600" b="1" i="0" dirty="0">
              <a:solidFill>
                <a:srgbClr val="101828"/>
              </a:solidFill>
              <a:latin typeface="Aptos Display"/>
            </a:endParaRP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657600" cy="4480560"/>
          </a:xfrm>
          <a:prstGeom prst="roundRect">
            <a:avLst/>
          </a:prstGeom>
          <a:solidFill>
            <a:srgbClr val="101828"/>
          </a:solidFill>
          <a:ln w="1016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1755648"/>
            <a:ext cx="1463040" cy="310896"/>
          </a:xfrm>
          <a:prstGeom prst="roundRect">
            <a:avLst/>
          </a:prstGeom>
          <a:solidFill>
            <a:srgbClr val="7700FF"/>
          </a:solidFill>
          <a:ln w="1016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Rostelecom Basis"/>
              </a:rPr>
              <a:t>ООО «АЛЬФАТРЕЙД»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Rostelecom Basis"/>
              </a:rPr>
              <a:t>B2B-продажи
150 сотрудников
25 менеджеров
≈ 8 000 клиентов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D0D5DD"/>
                </a:solidFill>
                <a:latin typeface="Rostelecom Basis"/>
              </a:rPr>
              <a:t>Срок инициативы: 6 месяцев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72768"/>
            <a:ext cx="6537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19472" y="1792224"/>
            <a:ext cx="658368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74336" y="184708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75564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75564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Excel у каждого менеджера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578608"/>
            <a:ext cx="6537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19472" y="2798064"/>
            <a:ext cx="658368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74336" y="285292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76148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Продажи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76148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Нет единой воронки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3584448"/>
            <a:ext cx="6537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919472" y="3803904"/>
            <a:ext cx="658368" cy="310896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74336" y="38587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82F6"/>
                </a:solidFill>
                <a:latin typeface="Rostelecom Basi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37673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Клиенты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76732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Дубли и параллельные контакты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590288"/>
            <a:ext cx="6537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919472" y="4809744"/>
            <a:ext cx="658368" cy="310896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74336" y="48646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A97A"/>
                </a:solidFill>
                <a:latin typeface="Rostelecom Basi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47731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1828"/>
                </a:solidFill>
                <a:latin typeface="Rostelecom Basis"/>
              </a:rPr>
              <a:t>Интеграции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77316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67085"/>
                </a:solidFill>
                <a:latin typeface="Rostelecom Basis"/>
              </a:rPr>
              <a:t>Есть 1С и корпоративная почта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5486400"/>
            <a:ext cx="6537960" cy="438912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5596128"/>
            <a:ext cx="6080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01828"/>
                </a:solidFill>
                <a:latin typeface="Rostelecom Basis"/>
              </a:rPr>
              <a:t>Инициатор говорит: «Нужно внедрить CRM». Ваша задача — пока не соглашаться с решением, а уточнить проблему и цель.</a:t>
            </a:r>
          </a:p>
        </p:txBody>
      </p:sp>
      <p:sp>
        <p:nvSpPr>
          <p:cNvPr id="35" name="Номер слайда 34">
            <a:extLst>
              <a:ext uri="{FF2B5EF4-FFF2-40B4-BE49-F238E27FC236}">
                <a16:creationId xmlns:a16="http://schemas.microsoft.com/office/drawing/2014/main" id="{23616030-383F-ECC7-D444-C63E6D00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Практика</a:t>
            </a:r>
            <a:r>
              <a:rPr sz="2600" b="1" i="0" dirty="0">
                <a:solidFill>
                  <a:srgbClr val="101828"/>
                </a:solidFill>
                <a:latin typeface="Aptos Display"/>
              </a:rPr>
              <a:t> 1. </a:t>
            </a: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Сформулируйте</a:t>
            </a:r>
            <a:r>
              <a:rPr sz="2600" b="1" i="0" dirty="0">
                <a:solidFill>
                  <a:srgbClr val="101828"/>
                </a:solidFill>
                <a:latin typeface="Aptos Display"/>
              </a:rPr>
              <a:t> </a:t>
            </a: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проблему</a:t>
            </a:r>
            <a:endParaRPr sz="2600" b="1" i="0" dirty="0">
              <a:solidFill>
                <a:srgbClr val="101828"/>
              </a:solidFill>
              <a:latin typeface="Aptos Display"/>
            </a:endParaRPr>
          </a:p>
        </p:txBody>
      </p:sp>
      <p:pic>
        <p:nvPicPr>
          <p:cNvPr id="3" name="Picture 2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452628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600200"/>
            <a:ext cx="114300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5506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ПРАКТИКА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1600200"/>
            <a:ext cx="1078992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22408" y="1655064"/>
            <a:ext cx="987551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950" b="1" dirty="0">
                <a:solidFill>
                  <a:srgbClr val="FF4F12"/>
                </a:solidFill>
                <a:latin typeface="Rostelecom Basis"/>
              </a:rPr>
              <a:t>10</a:t>
            </a:r>
            <a:r>
              <a:rPr sz="950" b="1" i="0" dirty="0">
                <a:solidFill>
                  <a:srgbClr val="FF4F12"/>
                </a:solidFill>
                <a:latin typeface="Rostelecom Basis"/>
              </a:rPr>
              <a:t> </a:t>
            </a:r>
            <a:r>
              <a:rPr sz="950" b="1" i="0" dirty="0" err="1">
                <a:solidFill>
                  <a:srgbClr val="FF4F12"/>
                </a:solidFill>
                <a:latin typeface="Rostelecom Basis"/>
              </a:rPr>
              <a:t>минут</a:t>
            </a:r>
            <a:endParaRPr sz="950" b="1" i="0" dirty="0">
              <a:solidFill>
                <a:srgbClr val="FF4F12"/>
              </a:solidFill>
              <a:latin typeface="Rostelecom Basi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001268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Сформулируйте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 Problem Statement в 3–4 </a:t>
            </a: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предложениях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. </a:t>
            </a: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Не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 </a:t>
            </a: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используйте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 </a:t>
            </a: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слово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 </a:t>
            </a:r>
            <a:r>
              <a:rPr lang="ru-RU" sz="1900" b="1" i="0" dirty="0" err="1">
                <a:solidFill>
                  <a:srgbClr val="101828"/>
                </a:solidFill>
                <a:latin typeface="Rostelecom Basis"/>
              </a:rPr>
              <a:t>автомтаитизация</a:t>
            </a:r>
            <a:r>
              <a:rPr lang="ru-RU" sz="1900" b="1" i="0" dirty="0">
                <a:solidFill>
                  <a:srgbClr val="101828"/>
                </a:solidFill>
                <a:latin typeface="Rostelecom Basis"/>
              </a:rPr>
              <a:t> </a:t>
            </a:r>
            <a:r>
              <a:rPr lang="en-US" sz="1900" b="1" i="0" dirty="0">
                <a:solidFill>
                  <a:srgbClr val="101828"/>
                </a:solidFill>
                <a:latin typeface="Rostelecom Basis"/>
              </a:rPr>
              <a:t>AI/ML</a:t>
            </a:r>
            <a:r>
              <a:rPr lang="ru-RU" sz="1900" b="1" i="0" dirty="0">
                <a:solidFill>
                  <a:srgbClr val="101828"/>
                </a:solidFill>
                <a:latin typeface="Rostelecom Basis"/>
              </a:rPr>
              <a:t>, </a:t>
            </a: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как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 </a:t>
            </a: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часть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 </a:t>
            </a:r>
            <a:r>
              <a:rPr sz="1900" b="1" i="0" dirty="0" err="1">
                <a:solidFill>
                  <a:srgbClr val="101828"/>
                </a:solidFill>
                <a:latin typeface="Rostelecom Basis"/>
              </a:rPr>
              <a:t>проблемы</a:t>
            </a:r>
            <a:r>
              <a:rPr sz="1900" b="1" i="0" dirty="0">
                <a:solidFill>
                  <a:srgbClr val="101828"/>
                </a:solidFill>
                <a:latin typeface="Rostelecom Basi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2148840" cy="141732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7700FF"/>
                </a:solidFill>
                <a:latin typeface="Rostelecom Basis"/>
              </a:rPr>
              <a:t>КТО?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39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Кто сталкивается с проблемой?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337560"/>
            <a:ext cx="2148840" cy="141732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3566160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4F12"/>
                </a:solidFill>
                <a:latin typeface="Rostelecom Basis"/>
              </a:rPr>
              <a:t>ЧТО?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977639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Что происходит сейчас?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337560"/>
            <a:ext cx="2148840" cy="141732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0760" y="3566160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B82F6"/>
                </a:solidFill>
                <a:latin typeface="Rostelecom Basis"/>
              </a:rPr>
              <a:t>ПОЧЕМУ?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977639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Почему это плохо для бизнеса?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3337560"/>
            <a:ext cx="2148840" cy="1417320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566160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A97A"/>
                </a:solidFill>
                <a:latin typeface="Rostelecom Basis"/>
              </a:rPr>
              <a:t>ЭФФЕКТ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977639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Как проявляется проблема?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9966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После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lang="ru-RU" sz="1050" b="0" i="1" dirty="0">
                <a:solidFill>
                  <a:srgbClr val="667085"/>
                </a:solidFill>
                <a:latin typeface="Rostelecom Basis"/>
              </a:rPr>
              <a:t>10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минут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— 2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команды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зачитывают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формулировку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.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Группа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ищет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: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где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симптом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,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где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причина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,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где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уже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спрятано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050" b="0" i="1" dirty="0" err="1">
                <a:solidFill>
                  <a:srgbClr val="667085"/>
                </a:solidFill>
                <a:latin typeface="Rostelecom Basis"/>
              </a:rPr>
              <a:t>решение</a:t>
            </a:r>
            <a:r>
              <a:rPr sz="1050" b="0" i="1" dirty="0">
                <a:solidFill>
                  <a:srgbClr val="667085"/>
                </a:solidFill>
                <a:latin typeface="Rostelecom Basis"/>
              </a:rPr>
              <a:t>.</a:t>
            </a:r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85C4D19C-1927-78B8-8262-0400A37C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Три уровня цели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Не путайте бизнес-эффект, цель проекта и физический результат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64208"/>
            <a:ext cx="3310128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50292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01828"/>
                </a:solidFill>
                <a:latin typeface="Rostelecom Basis"/>
              </a:rPr>
              <a:t>Бизнес-эффект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7700FF"/>
                </a:solidFill>
                <a:latin typeface="Rostelecom Basis"/>
              </a:rPr>
              <a:t>Зачем это нужно организации?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77639"/>
            <a:ext cx="2880360" cy="105156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16052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Снизить потери сделок и повысить прозрачность продаж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664208"/>
            <a:ext cx="3310128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44568" y="1874519"/>
            <a:ext cx="502920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192938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231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01828"/>
                </a:solidFill>
                <a:latin typeface="Rostelecom Basis"/>
              </a:rPr>
              <a:t>Цель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15468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FF4F12"/>
                </a:solidFill>
                <a:latin typeface="Rostelecom Basis"/>
              </a:rPr>
              <a:t>Что должно измениться к завершению проекта?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3977639"/>
            <a:ext cx="2880360" cy="105156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59" y="416052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Ввести единый процесс управления продажами в согласованный срок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1664208"/>
            <a:ext cx="3310128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0455" y="1874519"/>
            <a:ext cx="502920" cy="310896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5" y="192938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3B82F6"/>
                </a:solidFill>
                <a:latin typeface="Rostelecom Basi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5" y="24231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01828"/>
                </a:solidFill>
                <a:latin typeface="Rostelecom Basis"/>
              </a:rPr>
              <a:t>Результат / 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5" y="315468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3B82F6"/>
                </a:solidFill>
                <a:latin typeface="Rostelecom Basis"/>
              </a:rPr>
              <a:t>Что команда должна передать?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0455" y="3977639"/>
            <a:ext cx="2880360" cy="105156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5048" y="416052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Настроенная система, миграция, интеграции, инструкции и приёмка</a:t>
            </a:r>
          </a:p>
        </p:txBody>
      </p:sp>
      <p:sp>
        <p:nvSpPr>
          <p:cNvPr id="29" name="Номер слайда 28">
            <a:extLst>
              <a:ext uri="{FF2B5EF4-FFF2-40B4-BE49-F238E27FC236}">
                <a16:creationId xmlns:a16="http://schemas.microsoft.com/office/drawing/2014/main" id="{FB243DD4-8CBD-CE87-22FD-5348014B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SMART — проверка формулировки цели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Метод не делает цель правильной сам по себе, но быстро показывает, где формулировка размыта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0574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1872" y="2103120"/>
            <a:ext cx="713232" cy="713232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61872" y="225856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Rostelecom Basis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632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547872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Конкретно: что именно меняем?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828800"/>
            <a:ext cx="20574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66160" y="2103120"/>
            <a:ext cx="713232" cy="713232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25856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Rostelecom Basis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0632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Measurable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47872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Измеримо: как докажем достижение?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1828800"/>
            <a:ext cx="20574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70448" y="2103120"/>
            <a:ext cx="713232" cy="71323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0448" y="225856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Rostelecom Basi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30632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Achievable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3547872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Достижимо: есть ли ресурсы и компетенции?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1828800"/>
            <a:ext cx="20574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74736" y="2103120"/>
            <a:ext cx="713232" cy="713232"/>
          </a:xfrm>
          <a:prstGeom prst="ellipse">
            <a:avLst/>
          </a:prstGeom>
          <a:solidFill>
            <a:srgbClr val="1FA97A"/>
          </a:solidFill>
          <a:ln>
            <a:solidFill>
              <a:srgbClr val="1F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74736" y="225856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Rostelecom Basis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6" y="30632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Relevant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3547872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Релевантно: связано ли с проблемой?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1512" y="1828800"/>
            <a:ext cx="20574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79024" y="2103120"/>
            <a:ext cx="713232" cy="713232"/>
          </a:xfrm>
          <a:prstGeom prst="ellipse">
            <a:avLst/>
          </a:prstGeom>
          <a:solidFill>
            <a:srgbClr val="273A64"/>
          </a:solidFill>
          <a:ln>
            <a:solidFill>
              <a:srgbClr val="27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79024" y="225856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Rostelecom Basis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6104" y="30632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Time-bound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6104" y="3547872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Во времени: когда должен быть результат?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166360"/>
            <a:ext cx="10515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667085"/>
                </a:solidFill>
                <a:latin typeface="Rostelecom Basis"/>
              </a:rPr>
              <a:t>Важно: SMART проверяет форму цели. Связь цели с реальной проблемой проверяется отдельно.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5EB50934-FCBF-E429-9C74-B3B36285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9A13-E801-98E7-4E37-FD3DF129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9F0D7A-D6AD-D581-C3BC-C482F5118B40}"/>
              </a:ext>
            </a:extLst>
          </p:cNvPr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 dirty="0" err="1">
                <a:solidFill>
                  <a:srgbClr val="98A2B3"/>
                </a:solidFill>
                <a:latin typeface="Rostelecom Basis"/>
              </a:rPr>
              <a:t>Управление</a:t>
            </a:r>
            <a:r>
              <a:rPr sz="780" b="0" i="0" dirty="0">
                <a:solidFill>
                  <a:srgbClr val="98A2B3"/>
                </a:solidFill>
                <a:latin typeface="Rostelecom Basis"/>
              </a:rPr>
              <a:t> ИТ-</a:t>
            </a:r>
            <a:r>
              <a:rPr sz="780" b="0" i="0" dirty="0" err="1">
                <a:solidFill>
                  <a:srgbClr val="98A2B3"/>
                </a:solidFill>
                <a:latin typeface="Rostelecom Basis"/>
              </a:rPr>
              <a:t>проектами</a:t>
            </a:r>
            <a:endParaRPr sz="780" b="0" i="0" dirty="0">
              <a:solidFill>
                <a:srgbClr val="98A2B3"/>
              </a:solidFill>
              <a:latin typeface="Rostelecom Basis"/>
            </a:endParaRP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44E92DE-2D03-7CB3-0415-9FD55D00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9A96B1-2EED-DE9E-5AE9-40FB68618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6888"/>
            <a:ext cx="10629838" cy="598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38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CRM: от плохой цели к рабочей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Сделаем формулировку такой, чтобы по ней можно было принять проект и проверить завершение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74920" cy="333756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1828800"/>
            <a:ext cx="8686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8366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ПЛОХО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01828"/>
                </a:solidFill>
                <a:latin typeface="Rostelecom Basis"/>
              </a:rPr>
              <a:t>«Внедрить современную и удобную CRM»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7085"/>
                </a:solidFill>
                <a:latin typeface="Rostelecom Basis"/>
              </a:rPr>
              <a:t>Не определены: пользователи, границы, измеримый результат, срок, приёмка.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5074920" cy="333756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8686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8366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7700FF"/>
                </a:solidFill>
                <a:latin typeface="Rostelecom Basis"/>
              </a:rPr>
              <a:t>ЛУЧШЕ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4389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1828"/>
                </a:solidFill>
                <a:latin typeface="Rostelecom Basis"/>
              </a:rPr>
              <a:t>До конца 6-го месяца внедрить единый процесс ведения B2B-продаж для 25 менеджеров…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93008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667085"/>
                </a:solidFill>
                <a:latin typeface="Rostelecom Basis"/>
              </a:rPr>
              <a:t>…с миграцией клиентской базы, интеграцией с 1С и почтой, обучением пользователей и формальной приёмкой ключевых сценариев.</a:t>
            </a: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51BDA46C-DF12-9B1D-660C-4970073E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Критерии успеха: что будем считать «сделано»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Одна цель может иметь несколько разных типов критериев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310128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123444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7700FF"/>
                </a:solidFill>
                <a:latin typeface="Rostelecom Basis"/>
              </a:rPr>
              <a:t>ПРОЕКТНЫЕ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1828"/>
                </a:solidFill>
                <a:latin typeface="Rostelecom Basis"/>
              </a:rPr>
              <a:t>Срок · бюджет · согласованный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667085"/>
                </a:solidFill>
                <a:latin typeface="Rostelecom Basis"/>
              </a:rPr>
              <a:t>Проект завершён и принят в пределах согласованных ограничений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691640"/>
            <a:ext cx="3310128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44568" y="1920240"/>
            <a:ext cx="1234440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97510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FF4F12"/>
                </a:solidFill>
                <a:latin typeface="Rostelecom Basis"/>
              </a:rPr>
              <a:t>РЕЗУЛЬТАТА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146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1828"/>
                </a:solidFill>
                <a:latin typeface="Rostelecom Basis"/>
              </a:rPr>
              <a:t>Работает ли созданное решение?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401568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667085"/>
                </a:solidFill>
                <a:latin typeface="Rostelecom Basis"/>
              </a:rPr>
              <a:t>Миграция выполнена; интеграции проходят тест; ключевые сценарии доступны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691640"/>
            <a:ext cx="3310128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0455" y="1920240"/>
            <a:ext cx="1234440" cy="310896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5" y="197510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3B82F6"/>
                </a:solidFill>
                <a:latin typeface="Rostelecom Basis"/>
              </a:rPr>
              <a:t>БИЗНЕСА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5" y="25146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1828"/>
                </a:solidFill>
                <a:latin typeface="Rostelecom Basis"/>
              </a:rPr>
              <a:t>Изменилось ли что-то после внедрения?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5" y="3401568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0" i="0">
                <a:solidFill>
                  <a:srgbClr val="667085"/>
                </a:solidFill>
                <a:latin typeface="Rostelecom Basis"/>
              </a:rPr>
              <a:t>Прозрачность воронки, снижение дублей, рост дисциплины работы с клиентами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59552"/>
            <a:ext cx="10698480" cy="365760"/>
          </a:xfrm>
          <a:prstGeom prst="roundRect">
            <a:avLst/>
          </a:prstGeom>
          <a:solidFill>
            <a:srgbClr val="101828"/>
          </a:solidFill>
          <a:ln w="1016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FFFFFF"/>
                </a:solidFill>
                <a:latin typeface="Rostelecom Basis"/>
              </a:rPr>
              <a:t>Проект может быть формально успешным, но не дать бизнес-эффекта — и наоборот. Поэтому критерии нужно разделять.</a:t>
            </a:r>
          </a:p>
        </p:txBody>
      </p:sp>
      <p:sp>
        <p:nvSpPr>
          <p:cNvPr id="25" name="Номер слайда 24">
            <a:extLst>
              <a:ext uri="{FF2B5EF4-FFF2-40B4-BE49-F238E27FC236}">
                <a16:creationId xmlns:a16="http://schemas.microsoft.com/office/drawing/2014/main" id="{6B081087-AB82-0728-CFAF-8F4D84D3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Ограничения, допущения, зависимости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Три вещи, которые легко перепутать — и дорого игнорировать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246120" cy="342900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50292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7510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1828"/>
                </a:solidFill>
                <a:latin typeface="Rostelecom Basis"/>
              </a:rPr>
              <a:t>Ограничение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7700FF"/>
                </a:solidFill>
                <a:latin typeface="Rostelecom Basis"/>
              </a:rPr>
              <a:t>Нельзя изменить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2697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67085"/>
                </a:solidFill>
                <a:latin typeface="Rostelecom Basis"/>
              </a:rPr>
              <a:t>Срок 6 месяцев; доступный бюджет; политика ИБ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691640"/>
            <a:ext cx="3246120" cy="342900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0288" y="1920240"/>
            <a:ext cx="50292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7" y="197510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42316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1828"/>
                </a:solidFill>
                <a:latin typeface="Rostelecom Basis"/>
              </a:rPr>
              <a:t>Допущение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9260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FF4F12"/>
                </a:solidFill>
                <a:latin typeface="Rostelecom Basis"/>
              </a:rPr>
              <a:t>Считаем истинным до проверки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493008"/>
            <a:ext cx="2697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67085"/>
                </a:solidFill>
                <a:latin typeface="Rostelecom Basis"/>
              </a:rPr>
              <a:t>1С предоставляет API; данные можно мигрировать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691640"/>
            <a:ext cx="3246120" cy="342900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66175" y="1920240"/>
            <a:ext cx="50292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11896" y="197510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3B82F6"/>
                </a:solidFill>
                <a:latin typeface="Rostelecom Basi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423160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1828"/>
                </a:solidFill>
                <a:latin typeface="Rostelecom Basis"/>
              </a:rPr>
              <a:t>Зависимость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29260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3B82F6"/>
                </a:solidFill>
                <a:latin typeface="Rostelecom Basis"/>
              </a:rPr>
              <a:t>Результат зависит от другого события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3493008"/>
            <a:ext cx="2697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67085"/>
                </a:solidFill>
                <a:latin typeface="Rostelecom Basis"/>
              </a:rPr>
              <a:t>Интеграция стартует после доступа к тестовой 1С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667085"/>
                </a:solidFill>
                <a:latin typeface="Rostelecom Basis"/>
              </a:rPr>
              <a:t>Практическое правило: каждое ключевое допущение, которое может не подтвердиться, почти автоматически становится источником риска.</a:t>
            </a:r>
          </a:p>
        </p:txBody>
      </p:sp>
      <p:sp>
        <p:nvSpPr>
          <p:cNvPr id="27" name="Номер слайда 26">
            <a:extLst>
              <a:ext uri="{FF2B5EF4-FFF2-40B4-BE49-F238E27FC236}">
                <a16:creationId xmlns:a16="http://schemas.microsoft.com/office/drawing/2014/main" id="{52B139FC-9C51-31B8-23C8-F88DFC07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066CD7-2488-348B-853D-DECFEDCE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49" name="Номер слайда 48">
            <a:extLst>
              <a:ext uri="{FF2B5EF4-FFF2-40B4-BE49-F238E27FC236}">
                <a16:creationId xmlns:a16="http://schemas.microsoft.com/office/drawing/2014/main" id="{DC550F35-02EC-DEDD-8E83-4119865B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7ADA3F-D65F-7C1B-9D7F-C6CB5313D972}"/>
              </a:ext>
            </a:extLst>
          </p:cNvPr>
          <p:cNvSpPr txBox="1"/>
          <p:nvPr/>
        </p:nvSpPr>
        <p:spPr>
          <a:xfrm>
            <a:off x="1080135" y="100076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Мини-паспорт</a:t>
            </a:r>
            <a:r>
              <a:rPr sz="2600" b="1" i="0" dirty="0">
                <a:solidFill>
                  <a:srgbClr val="101828"/>
                </a:solidFill>
                <a:latin typeface="Aptos Display"/>
              </a:rPr>
              <a:t> </a:t>
            </a:r>
            <a:r>
              <a:rPr sz="2600" b="1" i="0" dirty="0" err="1">
                <a:solidFill>
                  <a:srgbClr val="101828"/>
                </a:solidFill>
                <a:latin typeface="Aptos Display"/>
              </a:rPr>
              <a:t>проекта</a:t>
            </a:r>
            <a:endParaRPr sz="2600" b="1" i="0" dirty="0">
              <a:solidFill>
                <a:srgbClr val="101828"/>
              </a:solidFill>
              <a:latin typeface="Aptos Display"/>
            </a:endParaRPr>
          </a:p>
        </p:txBody>
      </p:sp>
      <p:pic>
        <p:nvPicPr>
          <p:cNvPr id="52" name="Picture 3" descr="Основной_цветной.png">
            <a:extLst>
              <a:ext uri="{FF2B5EF4-FFF2-40B4-BE49-F238E27FC236}">
                <a16:creationId xmlns:a16="http://schemas.microsoft.com/office/drawing/2014/main" id="{C1B06EDE-6849-39B2-D90A-96A2F8761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Практика 2. Соберите мини-паспорт своего кейса</a:t>
            </a:r>
          </a:p>
        </p:txBody>
      </p:sp>
      <p:pic>
        <p:nvPicPr>
          <p:cNvPr id="3" name="Picture 2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452628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600200"/>
            <a:ext cx="114300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5506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ПРАКТИКА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1600200"/>
            <a:ext cx="1078992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22408" y="1655064"/>
            <a:ext cx="987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20 минут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0012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1828"/>
                </a:solidFill>
                <a:latin typeface="Rostelecom Basis"/>
              </a:rPr>
              <a:t>Команда берёт выбранный ML/AI-кейс и формулирует 8 полей паспорта. Технические детали модели сейчас вторичны.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73552"/>
            <a:ext cx="2148840" cy="146304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78992" y="3456432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351129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91363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Проблема + цель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40740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7700FF"/>
                </a:solidFill>
                <a:latin typeface="Rostelecom Basis"/>
              </a:rPr>
              <a:t>5 мин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273552"/>
            <a:ext cx="2148840" cy="146304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93592" y="3456432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8456" y="351129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391363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Результат + границы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440740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5 мин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273552"/>
            <a:ext cx="2148840" cy="146304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08192" y="3456432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63055" y="351129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82F6"/>
                </a:solidFill>
                <a:latin typeface="Rostelecom Basi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91363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Критерии + ограничения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40740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3B82F6"/>
                </a:solidFill>
                <a:latin typeface="Rostelecom Basis"/>
              </a:rPr>
              <a:t>5 мин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273552"/>
            <a:ext cx="2148840" cy="1463040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22792" y="3456432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77656" y="351129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A97A"/>
                </a:solidFill>
                <a:latin typeface="Rostelecom Basi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391363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Допущения + заказчик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440740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1FA97A"/>
                </a:solidFill>
                <a:latin typeface="Rostelecom Basis"/>
              </a:rPr>
              <a:t>5 мин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30368"/>
            <a:ext cx="10012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67085"/>
                </a:solidFill>
                <a:latin typeface="Rostelecom Basis"/>
              </a:rPr>
              <a:t>В финале — 60 секунд на команду: «какую проблему решаем, что создаём, как поймём, что проект завершён».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3C37724D-43BA-3876-E343-FFA39413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Gate 1. Готовы ли мы к следующему этапу?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Если на эти вопросы нет ответа — планирование будет строиться на догадках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4983480" cy="91440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1819656"/>
            <a:ext cx="438912" cy="438912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5623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Проблема сформулирована без подмены решением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4983480" cy="91440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37376" y="1819656"/>
            <a:ext cx="438912" cy="438912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185623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Есть понятная и проверяемая цель проекта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34640"/>
            <a:ext cx="4983480" cy="91440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0976" y="3054096"/>
            <a:ext cx="438912" cy="43891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309067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6324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Понятно, какой результат создаётся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34640"/>
            <a:ext cx="4983480" cy="91440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37376" y="3054096"/>
            <a:ext cx="438912" cy="438912"/>
          </a:xfrm>
          <a:prstGeom prst="ellipse">
            <a:avLst/>
          </a:prstGeom>
          <a:solidFill>
            <a:srgbClr val="1FA97A"/>
          </a:solidFill>
          <a:ln>
            <a:solidFill>
              <a:srgbClr val="1FA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309067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06324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Назван заказчик / владелец бизнес-цели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69080"/>
            <a:ext cx="4983480" cy="91440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0976" y="4288536"/>
            <a:ext cx="438912" cy="438912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432511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9768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Определены ключевые ограничения и допущения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069080"/>
            <a:ext cx="4983480" cy="91440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37376" y="4288536"/>
            <a:ext cx="438912" cy="438912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432511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Rostelecom Basi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29768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1828"/>
                </a:solidFill>
                <a:latin typeface="Rostelecom Basis"/>
              </a:rPr>
              <a:t>Есть первичные критерии успеха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440680"/>
            <a:ext cx="10469880" cy="54864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596128"/>
            <a:ext cx="10012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7700FF"/>
                </a:solidFill>
                <a:latin typeface="Rostelecom Basis"/>
              </a:rPr>
              <a:t>До пары 3: обновить карточку кейса и принести список людей/ролей, которые влияют на проект или пользуются результатом.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96DC4F96-7871-A7A6-FAA4-F81E5BB1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89720" y="182880"/>
            <a:ext cx="2148840" cy="2148840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2011680"/>
            <a:ext cx="1325880" cy="1325880"/>
          </a:xfrm>
          <a:prstGeom prst="ellipse">
            <a:avLst/>
          </a:prstGeom>
          <a:solidFill>
            <a:srgbClr val="B76CFF"/>
          </a:solidFill>
          <a:ln>
            <a:solidFill>
              <a:srgbClr val="B7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95560" y="4480560"/>
            <a:ext cx="1554480" cy="1554480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Основной_белы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549" y="888270"/>
            <a:ext cx="1600200" cy="418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65960"/>
            <a:ext cx="71323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Стейкхолдеры
и требования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01568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0D5DD"/>
                </a:solidFill>
                <a:latin typeface="Rostelecom Basis"/>
              </a:rPr>
              <a:t>Сначала понимаем людей — потом фиксируем, что именно им нужно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D0D5DD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331E28-A2F6-9BBF-F451-0FEB5414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Пара 3. План на 90 минут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Задача пары — научиться находить нужных людей, разговаривать с ними и переводить ожидания в проверяемые требования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719072"/>
            <a:ext cx="86868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739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0–20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Стейкхолдеры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Кто влияет и кто пользуется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80" y="1719072"/>
            <a:ext cx="868680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7739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20–35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214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Карта влияния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05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Power × Interest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55448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83879" y="1719072"/>
            <a:ext cx="868680" cy="310896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7739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3B82F6"/>
                </a:solidFill>
                <a:latin typeface="Rostelecom Basis"/>
              </a:rPr>
              <a:t>35–50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1214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Требования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0545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Уровни и типы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3730752"/>
            <a:ext cx="868680" cy="310896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78561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A97A"/>
                </a:solidFill>
                <a:latin typeface="Rostelecom Basis"/>
              </a:rPr>
              <a:t>50–65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330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Сбор требований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1713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Интервью, воркшоп, наблюдение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56616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26280" y="3730752"/>
            <a:ext cx="86868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378561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65–82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1330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CRM-интервью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51713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Ролевая практика с заказчиком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3566160"/>
            <a:ext cx="331012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83879" y="3730752"/>
            <a:ext cx="868680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378561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82–90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13308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1828"/>
                </a:solidFill>
                <a:latin typeface="Rostelecom Basis"/>
              </a:rPr>
              <a:t>Gate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51713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085"/>
                </a:solidFill>
                <a:latin typeface="Rostelecom Basis"/>
              </a:rPr>
              <a:t>Фиксация требований и домашнее задание</a:t>
            </a:r>
          </a:p>
        </p:txBody>
      </p:sp>
      <p:sp>
        <p:nvSpPr>
          <p:cNvPr id="38" name="Номер слайда 37">
            <a:extLst>
              <a:ext uri="{FF2B5EF4-FFF2-40B4-BE49-F238E27FC236}">
                <a16:creationId xmlns:a16="http://schemas.microsoft.com/office/drawing/2014/main" id="{176D1A44-2DF5-20C5-4C30-4C2116CC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Стейкхолдер — любой, кто влияет или испытывает влияние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29" name="Номер слайда 28">
            <a:extLst>
              <a:ext uri="{FF2B5EF4-FFF2-40B4-BE49-F238E27FC236}">
                <a16:creationId xmlns:a16="http://schemas.microsoft.com/office/drawing/2014/main" id="{AB09683D-A74C-7626-2BB2-88DF3ABE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1294E6-675A-E02B-90B4-B2C2731CD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45367"/>
            <a:ext cx="9424035" cy="491098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Матрица Power × Interest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Не всем стейкхолдерам нужно одинаковое внимание — стратегия зависит от влияния и интереса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691640"/>
            <a:ext cx="3246120" cy="2103120"/>
          </a:xfrm>
          <a:prstGeom prst="rect">
            <a:avLst/>
          </a:prstGeom>
          <a:solidFill>
            <a:srgbClr val="F1F3F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246120" cy="2103120"/>
          </a:xfrm>
          <a:prstGeom prst="rect">
            <a:avLst/>
          </a:prstGeom>
          <a:solidFill>
            <a:srgbClr val="F1E8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3794760"/>
            <a:ext cx="3246120" cy="2103120"/>
          </a:xfrm>
          <a:prstGeom prst="rect">
            <a:avLst/>
          </a:prstGeom>
          <a:solidFill>
            <a:srgbClr val="EAF4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794760"/>
            <a:ext cx="3246120" cy="2103120"/>
          </a:xfrm>
          <a:prstGeom prst="rect">
            <a:avLst/>
          </a:prstGeom>
          <a:solidFill>
            <a:srgbClr val="FFF0E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1828"/>
                </a:solidFill>
                <a:latin typeface="Rostelecom Basis"/>
              </a:rPr>
              <a:t>Держать в курсе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700FF"/>
                </a:solidFill>
                <a:latin typeface="Rostelecom Basis"/>
              </a:rPr>
              <a:t>Управлять тесно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B82F6"/>
                </a:solidFill>
                <a:latin typeface="Rostelecom Basis"/>
              </a:rPr>
              <a:t>Наблюдать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4F12"/>
                </a:solidFill>
                <a:latin typeface="Rostelecom Basis"/>
              </a:rPr>
              <a:t>Удовлетворять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60350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67085"/>
                </a:solidFill>
                <a:latin typeface="Rostelecom Basis"/>
              </a:rPr>
              <a:t>ИНТЕРЕС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37560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67085"/>
                </a:solidFill>
                <a:latin typeface="Rostelecom Basis"/>
              </a:rPr>
              <a:t>ВЛИЯНИЕ 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91640"/>
            <a:ext cx="3337560" cy="420624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1828"/>
                </a:solidFill>
                <a:latin typeface="Rostelecom Basis"/>
              </a:rPr>
              <a:t>Как использовать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06040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7700FF"/>
                </a:solidFill>
                <a:latin typeface="Rostelecom Basis"/>
              </a:rPr>
              <a:t>Высокое влияние + высокий интерес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62072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085"/>
                </a:solidFill>
                <a:latin typeface="Rostelecom Basis"/>
              </a:rPr>
              <a:t>частые решения, личное участие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1927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FF4F12"/>
                </a:solidFill>
                <a:latin typeface="Rostelecom Basis"/>
              </a:rPr>
              <a:t>Высокое влияние + низкий интерес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575304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085"/>
                </a:solidFill>
                <a:latin typeface="Rostelecom Basis"/>
              </a:rPr>
              <a:t>короткие управленческие апдейты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032504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3B82F6"/>
                </a:solidFill>
                <a:latin typeface="Rostelecom Basis"/>
              </a:rPr>
              <a:t>Низкое влияние + высокий интерес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288536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085"/>
                </a:solidFill>
                <a:latin typeface="Rostelecom Basis"/>
              </a:rPr>
              <a:t>регулярная информация и обратная связь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745736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667085"/>
                </a:solidFill>
                <a:latin typeface="Rostelecom Basis"/>
              </a:rPr>
              <a:t>Низкое влияние + низкий интерес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00176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085"/>
                </a:solidFill>
                <a:latin typeface="Rostelecom Basis"/>
              </a:rPr>
              <a:t>мониторинг без перегрузки коммуникацией</a:t>
            </a:r>
          </a:p>
        </p:txBody>
      </p:sp>
      <p:sp>
        <p:nvSpPr>
          <p:cNvPr id="28" name="Номер слайда 27">
            <a:extLst>
              <a:ext uri="{FF2B5EF4-FFF2-40B4-BE49-F238E27FC236}">
                <a16:creationId xmlns:a16="http://schemas.microsoft.com/office/drawing/2014/main" id="{0EA2EAC8-DECE-2D3A-1A93-E8E9F0D2A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Практика 3. Разложите CRM-стейкхолдеров</a:t>
            </a:r>
          </a:p>
        </p:txBody>
      </p:sp>
      <p:pic>
        <p:nvPicPr>
          <p:cNvPr id="3" name="Picture 2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452628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600200"/>
            <a:ext cx="114300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5506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ПРАКТИКА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1600200"/>
            <a:ext cx="1078992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22408" y="1655064"/>
            <a:ext cx="987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10 минут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0012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1828"/>
                </a:solidFill>
                <a:latin typeface="Rostelecom Basis"/>
              </a:rPr>
              <a:t>Разместите роли на матрице Power × Interest и определите для каждой стратегии взаимодействия.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63240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2552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Коммерческий директор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063240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8728" y="32552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Руководитель продаж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063240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3328" y="32552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25 менеджеров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063240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67928" y="32552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ИТ-архитектор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77639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4169663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ИБ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977639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8728" y="4169663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1С-команда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977639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8" y="4169663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Поддержка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3977639"/>
            <a:ext cx="2148840" cy="658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67928" y="4169663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01828"/>
                </a:solidFill>
                <a:latin typeface="Rostelecom Basis"/>
              </a:rPr>
              <a:t>Финансы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60" b="1" i="0">
                <a:solidFill>
                  <a:srgbClr val="667085"/>
                </a:solidFill>
                <a:latin typeface="Rostelecom Basis"/>
              </a:rPr>
              <a:t>После размещения выберите 2 роли и ответьте: какую информацию они должны получать, как часто и кто отвечает за коммуникацию?</a:t>
            </a:r>
          </a:p>
        </p:txBody>
      </p:sp>
      <p:sp>
        <p:nvSpPr>
          <p:cNvPr id="30" name="Номер слайда 29">
            <a:extLst>
              <a:ext uri="{FF2B5EF4-FFF2-40B4-BE49-F238E27FC236}">
                <a16:creationId xmlns:a16="http://schemas.microsoft.com/office/drawing/2014/main" id="{7EEA62A3-E310-DCDF-2AC1-6619B822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Требования образуют иерархию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Чем ниже уровень — тем конкретнее и проверяемее формулировка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10789920" cy="658368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1746504"/>
            <a:ext cx="36576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8013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1" i="0">
                <a:solidFill>
                  <a:srgbClr val="7700FF"/>
                </a:solidFill>
                <a:latin typeface="Rostelecom Basi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82495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Бизнес-требование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82495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 i="0">
                <a:solidFill>
                  <a:srgbClr val="7700FF"/>
                </a:solidFill>
                <a:latin typeface="Rostelecom Basis"/>
              </a:rPr>
              <a:t>Зачем?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82495"/>
            <a:ext cx="6355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67085"/>
                </a:solidFill>
                <a:latin typeface="Rostelecom Basis"/>
              </a:rPr>
              <a:t>Руководитель должен видеть единую воронку продаж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9848" y="2414016"/>
            <a:ext cx="10021824" cy="658368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79576" y="2587752"/>
            <a:ext cx="36576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5296" y="264261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1" i="0">
                <a:solidFill>
                  <a:srgbClr val="FF4F12"/>
                </a:solidFill>
                <a:latin typeface="Rostelecom Basi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7" y="252374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Пользовательское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5237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 i="0">
                <a:solidFill>
                  <a:srgbClr val="FF4F12"/>
                </a:solidFill>
                <a:latin typeface="Rostelecom Basis"/>
              </a:rPr>
              <a:t>Что нужно пользователю?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523744"/>
            <a:ext cx="5586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67085"/>
                </a:solidFill>
                <a:latin typeface="Rostelecom Basis"/>
              </a:rPr>
              <a:t>Менеджер должен видеть историю взаимодействий с клиентом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53895" y="3255264"/>
            <a:ext cx="9253728" cy="65836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563624" y="3429000"/>
            <a:ext cx="36576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9344" y="348386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1" i="0">
                <a:solidFill>
                  <a:srgbClr val="3B82F6"/>
                </a:solidFill>
                <a:latin typeface="Rostelecom Basi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5" y="33649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Функциональное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9935" y="336499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 i="0">
                <a:solidFill>
                  <a:srgbClr val="3B82F6"/>
                </a:solidFill>
                <a:latin typeface="Rostelecom Basis"/>
              </a:rPr>
              <a:t>Что должна делать система?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3364992"/>
            <a:ext cx="4818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67085"/>
                </a:solidFill>
                <a:latin typeface="Rostelecom Basis"/>
              </a:rPr>
              <a:t>Система должна сохранять звонки, письма и задачи в карточке клиента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37943" y="4096512"/>
            <a:ext cx="8485632" cy="658368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947672" y="4270248"/>
            <a:ext cx="36576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93391" y="43251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1" i="0">
                <a:solidFill>
                  <a:srgbClr val="1FA97A"/>
                </a:solidFill>
                <a:latin typeface="Rostelecom Basi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3" y="420624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Нефункциональное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420624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 i="0">
                <a:solidFill>
                  <a:srgbClr val="1FA97A"/>
                </a:solidFill>
                <a:latin typeface="Rostelecom Basis"/>
              </a:rPr>
              <a:t>Насколько хорошо?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4206240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67085"/>
                </a:solidFill>
                <a:latin typeface="Rostelecom Basis"/>
              </a:rPr>
              <a:t>Ключевые операции открываются не дольше 3 секунд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21991" y="4937760"/>
            <a:ext cx="7717536" cy="658368"/>
          </a:xfrm>
          <a:prstGeom prst="roundRect">
            <a:avLst/>
          </a:prstGeom>
          <a:solidFill>
            <a:srgbClr val="F1F3F5"/>
          </a:solidFill>
          <a:ln w="10160">
            <a:solidFill>
              <a:srgbClr val="F1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331720" y="5111496"/>
            <a:ext cx="36576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77439" y="51663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1" i="0">
                <a:solidFill>
                  <a:srgbClr val="273A64"/>
                </a:solidFill>
                <a:latin typeface="Rostelecom Basi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6351" y="504748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1828"/>
                </a:solidFill>
                <a:latin typeface="Rostelecom Basis"/>
              </a:rPr>
              <a:t>Ограничение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1" y="504748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 i="0">
                <a:solidFill>
                  <a:srgbClr val="273A64"/>
                </a:solidFill>
                <a:latin typeface="Rostelecom Basis"/>
              </a:rPr>
              <a:t>Что нельзя нарушить?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047488"/>
            <a:ext cx="3282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67085"/>
                </a:solidFill>
                <a:latin typeface="Rostelecom Basis"/>
              </a:rPr>
              <a:t>Авторизация через корпоративную учётную запись</a:t>
            </a:r>
          </a:p>
        </p:txBody>
      </p:sp>
      <p:sp>
        <p:nvSpPr>
          <p:cNvPr id="38" name="Номер слайда 37">
            <a:extLst>
              <a:ext uri="{FF2B5EF4-FFF2-40B4-BE49-F238E27FC236}">
                <a16:creationId xmlns:a16="http://schemas.microsoft.com/office/drawing/2014/main" id="{DEF90843-5188-029F-D44F-DE22FFD3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Хорошее требование можно проверить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Фраза должна быть понятной, атомарной и иметь способ верификации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057400" cy="123444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01828"/>
                </a:solidFill>
                <a:latin typeface="Rostelecom Basis"/>
              </a:rPr>
              <a:t>Однозначное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7700FF"/>
                </a:solidFill>
                <a:latin typeface="Rostelecom Basis"/>
              </a:rPr>
              <a:t>Одна трактовка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1600200"/>
            <a:ext cx="2057400" cy="123444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2656" y="1847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01828"/>
                </a:solidFill>
                <a:latin typeface="Rostelecom Basis"/>
              </a:rPr>
              <a:t>Атомарное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2860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Одна мысль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600200"/>
            <a:ext cx="2057400" cy="123444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66944" y="1847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01828"/>
                </a:solidFill>
                <a:latin typeface="Rostelecom Basis"/>
              </a:rPr>
              <a:t>Проверяемое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2860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3B82F6"/>
                </a:solidFill>
                <a:latin typeface="Rostelecom Basis"/>
              </a:rPr>
              <a:t>Есть способ подтвердить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1600200"/>
            <a:ext cx="2057400" cy="1234440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71231" y="1847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01828"/>
                </a:solidFill>
                <a:latin typeface="Rostelecom Basis"/>
              </a:rPr>
              <a:t>Реализуемое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2860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1FA97A"/>
                </a:solidFill>
                <a:latin typeface="Rostelecom Basis"/>
              </a:rPr>
              <a:t>Не противоречит ограничениям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65792" y="1600200"/>
            <a:ext cx="2057400" cy="1234440"/>
          </a:xfrm>
          <a:prstGeom prst="roundRect">
            <a:avLst/>
          </a:prstGeom>
          <a:solidFill>
            <a:srgbClr val="F1F3F5"/>
          </a:solidFill>
          <a:ln w="10160">
            <a:solidFill>
              <a:srgbClr val="F1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19" y="1847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101828"/>
                </a:solidFill>
                <a:latin typeface="Rostelecom Basis"/>
              </a:rPr>
              <a:t>Трассируемое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2860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273A64"/>
                </a:solidFill>
                <a:latin typeface="Rostelecom Basis"/>
              </a:rPr>
              <a:t>Понятен источник и связь с целью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40"/>
            <a:ext cx="4983480" cy="201168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0120" y="3520440"/>
            <a:ext cx="777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575304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FF4F12"/>
                </a:solidFill>
                <a:latin typeface="Rostelecom Basis"/>
              </a:rPr>
              <a:t>ПЛОХО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69080"/>
            <a:ext cx="4206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1828"/>
                </a:solidFill>
                <a:latin typeface="Rostelecom Basis"/>
              </a:rPr>
              <a:t>«CRM должна быть удобной и быстрой»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63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Непонятно: для кого? что значит «удобной»? насколько быстрой? как проверить?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291840"/>
            <a:ext cx="4983480" cy="201168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0" y="3520440"/>
            <a:ext cx="777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575304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7700FF"/>
                </a:solidFill>
                <a:latin typeface="Rostelecom Basis"/>
              </a:rPr>
              <a:t>ЛУЧШЕ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39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1828"/>
                </a:solidFill>
                <a:latin typeface="Rostelecom Basis"/>
              </a:rPr>
              <a:t>«Карточка клиента должна открываться ≤ 3 сек. для 95% запросов»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365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Есть объект, условие и критерий проверки.</a:t>
            </a:r>
          </a:p>
        </p:txBody>
      </p:sp>
      <p:sp>
        <p:nvSpPr>
          <p:cNvPr id="33" name="Номер слайда 32">
            <a:extLst>
              <a:ext uri="{FF2B5EF4-FFF2-40B4-BE49-F238E27FC236}">
                <a16:creationId xmlns:a16="http://schemas.microsoft.com/office/drawing/2014/main" id="{475161CE-78AC-80B3-9CA9-DB5A0E94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Как собирать 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Интервью — только один из инструментов; метод выбирается под тип знания и доступность стейкхолдера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084831" cy="114300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01828"/>
                </a:solidFill>
                <a:latin typeface="Rostelecom Basis"/>
              </a:rPr>
              <a:t>Интервью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7700FF"/>
                </a:solidFill>
                <a:latin typeface="Rostelecom Basis"/>
              </a:rPr>
              <a:t>глубина и мотивы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1554480"/>
            <a:ext cx="2084831" cy="114300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5224" y="17830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01828"/>
                </a:solidFill>
                <a:latin typeface="Rostelecom Basis"/>
              </a:rPr>
              <a:t>Воркшоп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4F12"/>
                </a:solidFill>
                <a:latin typeface="Rostelecom Basis"/>
              </a:rPr>
              <a:t>согласовать разные позиции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72" y="1554480"/>
            <a:ext cx="2084831" cy="114300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7830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01828"/>
                </a:solidFill>
                <a:latin typeface="Rostelecom Basis"/>
              </a:rPr>
              <a:t>Наблюдение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3B82F6"/>
                </a:solidFill>
                <a:latin typeface="Rostelecom Basis"/>
              </a:rPr>
              <a:t>увидеть реальный процесс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0648" y="1554480"/>
            <a:ext cx="2084831" cy="1143000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0375" y="17830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01828"/>
                </a:solidFill>
                <a:latin typeface="Rostelecom Basis"/>
              </a:rPr>
              <a:t>Документы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5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A97A"/>
                </a:solidFill>
                <a:latin typeface="Rostelecom Basis"/>
              </a:rPr>
              <a:t>правила, регламенты, договоры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93224" y="1554480"/>
            <a:ext cx="2084831" cy="1143000"/>
          </a:xfrm>
          <a:prstGeom prst="roundRect">
            <a:avLst/>
          </a:prstGeom>
          <a:solidFill>
            <a:srgbClr val="F1F3F5"/>
          </a:solidFill>
          <a:ln w="10160">
            <a:solidFill>
              <a:srgbClr val="F1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02952" y="17830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 i="0">
                <a:solidFill>
                  <a:srgbClr val="101828"/>
                </a:solidFill>
                <a:latin typeface="Rostelecom Basis"/>
              </a:rPr>
              <a:t>Прототип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273A64"/>
                </a:solidFill>
                <a:latin typeface="Rostelecom Basis"/>
              </a:rPr>
              <a:t>получить обратную связь на конкретике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063240"/>
            <a:ext cx="10469880" cy="242316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3101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1828"/>
                </a:solidFill>
                <a:latin typeface="Rostelecom Basis"/>
              </a:rPr>
              <a:t>Воронка интервью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310128"/>
            <a:ext cx="1719072" cy="1572768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081528" y="3474720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36392" y="352958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1528" y="3931920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01828"/>
                </a:solidFill>
                <a:latin typeface="Rostelecom Basis"/>
              </a:rPr>
              <a:t>Открытые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4315968"/>
            <a:ext cx="14996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667085"/>
                </a:solidFill>
                <a:latin typeface="Rostelecom Basis"/>
              </a:rPr>
              <a:t>«Расскажите, как сейчас…»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3310128"/>
            <a:ext cx="1719072" cy="1572768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47488" y="3474720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02352" y="352958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3931920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01828"/>
                </a:solidFill>
                <a:latin typeface="Rostelecom Basis"/>
              </a:rPr>
              <a:t>Уточняющие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4315968"/>
            <a:ext cx="14996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667085"/>
                </a:solidFill>
                <a:latin typeface="Rostelecom Basis"/>
              </a:rPr>
              <a:t>«Что происходит, если…?»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3310128"/>
            <a:ext cx="1719072" cy="157276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013448" y="3474720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68312" y="352958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82F6"/>
                </a:solidFill>
                <a:latin typeface="Rostelecom Basi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3448" y="3931920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01828"/>
                </a:solidFill>
                <a:latin typeface="Rostelecom Basis"/>
              </a:rPr>
              <a:t>Проверочные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448" y="4315968"/>
            <a:ext cx="14996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667085"/>
                </a:solidFill>
                <a:latin typeface="Rostelecom Basis"/>
              </a:rPr>
              <a:t>«Правильно ли я понял…?»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3310128"/>
            <a:ext cx="1719072" cy="1572768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979407" y="3474720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34272" y="352958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A97A"/>
                </a:solidFill>
                <a:latin typeface="Rostelecom Basi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7" y="3931920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01828"/>
                </a:solidFill>
                <a:latin typeface="Rostelecom Basis"/>
              </a:rPr>
              <a:t>Приоритет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7" y="4315968"/>
            <a:ext cx="14996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667085"/>
                </a:solidFill>
                <a:latin typeface="Rostelecom Basis"/>
              </a:rPr>
              <a:t>«Что критично для запуска?»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102352"/>
            <a:ext cx="9875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 i="0">
                <a:solidFill>
                  <a:srgbClr val="FF4F12"/>
                </a:solidFill>
                <a:latin typeface="Rostelecom Basis"/>
              </a:rPr>
              <a:t>Не начинайте с «Вам нужна такая функция?». Это подталкивает к заранее выбранному решению.</a:t>
            </a:r>
          </a:p>
        </p:txBody>
      </p:sp>
      <p:sp>
        <p:nvSpPr>
          <p:cNvPr id="46" name="Номер слайда 45">
            <a:extLst>
              <a:ext uri="{FF2B5EF4-FFF2-40B4-BE49-F238E27FC236}">
                <a16:creationId xmlns:a16="http://schemas.microsoft.com/office/drawing/2014/main" id="{9302120E-EF29-0761-3C51-1DCBA053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Практика 4. Интервью с заказчиком CRM</a:t>
            </a:r>
          </a:p>
        </p:txBody>
      </p:sp>
      <p:pic>
        <p:nvPicPr>
          <p:cNvPr id="3" name="Picture 2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4526280"/>
          </a:xfrm>
          <a:prstGeom prst="roundRect">
            <a:avLst/>
          </a:prstGeom>
          <a:solidFill>
            <a:srgbClr val="FCFCFD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600200"/>
            <a:ext cx="1143000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5506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ПРАКТИКА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1600200"/>
            <a:ext cx="1078992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22408" y="1655064"/>
            <a:ext cx="987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17 минут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0012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1828"/>
                </a:solidFill>
                <a:latin typeface="Rostelecom Basis"/>
              </a:rPr>
              <a:t>Преподаватель играет коммерческого директора. Ваша задача — за 12 минут получить достаточно информации, чтобы сформировать требования.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71800"/>
            <a:ext cx="4572000" cy="205740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21868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1828"/>
                </a:solidFill>
                <a:latin typeface="Rostelecom Basis"/>
              </a:rPr>
              <a:t>Что нужно выяснить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1. Проблема и ожидаемый эффект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59352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2. Ключевые пользователи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15383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3. Критические сценарии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47141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4. Ограничения и интеграции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2744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5. Приоритеты и критерии приёмки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971800"/>
            <a:ext cx="4572000" cy="205740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321868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1828"/>
                </a:solidFill>
                <a:latin typeface="Rostelecom Basis"/>
              </a:rPr>
              <a:t>Правила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0332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1. Не спрашивать всё подряд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959352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2. Сначала открытые вопросы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215383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3. Фиксировать факты, а не интерпретации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47141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4. Перефразировать и подтверждать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72744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67085"/>
                </a:solidFill>
                <a:latin typeface="Rostelecom Basis"/>
              </a:rPr>
              <a:t>5. В конце — резюме договорённостей</a:t>
            </a:r>
          </a:p>
        </p:txBody>
      </p:sp>
      <p:sp>
        <p:nvSpPr>
          <p:cNvPr id="28" name="Номер слайда 27">
            <a:extLst>
              <a:ext uri="{FF2B5EF4-FFF2-40B4-BE49-F238E27FC236}">
                <a16:creationId xmlns:a16="http://schemas.microsoft.com/office/drawing/2014/main" id="{7098B9C6-72D8-BFB1-FCBE-9603DC5F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Приоритизация и фиксация требований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Если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всё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важно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—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ничего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не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важно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.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Минимум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нужен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единый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реестр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и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явный</a:t>
            </a:r>
            <a:r>
              <a:rPr sz="1150" b="0" i="0" dirty="0">
                <a:solidFill>
                  <a:srgbClr val="667085"/>
                </a:solidFill>
                <a:latin typeface="Rostelecom Basis"/>
              </a:rPr>
              <a:t> </a:t>
            </a:r>
            <a:r>
              <a:rPr sz="1150" b="0" i="0" dirty="0" err="1">
                <a:solidFill>
                  <a:srgbClr val="667085"/>
                </a:solidFill>
                <a:latin typeface="Rostelecom Basis"/>
              </a:rPr>
              <a:t>приоритет</a:t>
            </a:r>
            <a:endParaRPr sz="1150" b="0" i="0" dirty="0">
              <a:solidFill>
                <a:srgbClr val="667085"/>
              </a:solidFill>
              <a:latin typeface="Rostelecom Basis"/>
            </a:endParaRP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  <a:reflection endPos="0" dist="508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2423160" cy="141732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>
            <a:spLocks noChangeAspect="1"/>
          </p:cNvSpPr>
          <p:nvPr/>
        </p:nvSpPr>
        <p:spPr>
          <a:xfrm>
            <a:off x="850392" y="1658112"/>
            <a:ext cx="502920" cy="502920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>
            <a:spLocks noChangeAspect="1"/>
          </p:cNvSpPr>
          <p:nvPr/>
        </p:nvSpPr>
        <p:spPr>
          <a:xfrm>
            <a:off x="850392" y="1767840"/>
            <a:ext cx="502920" cy="182880"/>
          </a:xfrm>
          <a:prstGeom prst="rect">
            <a:avLst/>
          </a:prstGeom>
          <a:noFill/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Rostelecom Basis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1828"/>
                </a:solidFill>
                <a:latin typeface="Rostelecom Basis"/>
              </a:rPr>
              <a:t>Must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67085"/>
                </a:solidFill>
                <a:latin typeface="Rostelecom Basis"/>
              </a:rPr>
              <a:t>Без этого запуск не имеет смысла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423160" cy="141732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>
            <a:spLocks noChangeAspect="1"/>
          </p:cNvSpPr>
          <p:nvPr/>
        </p:nvSpPr>
        <p:spPr>
          <a:xfrm>
            <a:off x="3593592" y="1639062"/>
            <a:ext cx="502920" cy="502920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ChangeAspect="1"/>
          </p:cNvSpPr>
          <p:nvPr/>
        </p:nvSpPr>
        <p:spPr>
          <a:xfrm>
            <a:off x="3593592" y="1748790"/>
            <a:ext cx="502920" cy="182880"/>
          </a:xfrm>
          <a:prstGeom prst="rect">
            <a:avLst/>
          </a:prstGeom>
          <a:noFill/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Rostelecom Basis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1828"/>
                </a:solidFill>
                <a:latin typeface="Rostelecom Basis"/>
              </a:rPr>
              <a:t>Should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331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67085"/>
                </a:solidFill>
                <a:latin typeface="Rostelecom Basis"/>
              </a:rPr>
              <a:t>Очень желательно, но можно обойтись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2423160" cy="1417320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>
            <a:spLocks noChangeAspect="1"/>
          </p:cNvSpPr>
          <p:nvPr/>
        </p:nvSpPr>
        <p:spPr>
          <a:xfrm>
            <a:off x="6336792" y="1620012"/>
            <a:ext cx="502920" cy="50292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>
            <a:spLocks noChangeAspect="1"/>
          </p:cNvSpPr>
          <p:nvPr/>
        </p:nvSpPr>
        <p:spPr>
          <a:xfrm>
            <a:off x="6336792" y="1729740"/>
            <a:ext cx="502920" cy="182880"/>
          </a:xfrm>
          <a:prstGeom prst="rect">
            <a:avLst/>
          </a:prstGeom>
          <a:noFill/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Rostelecom Basi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1828"/>
                </a:solidFill>
                <a:latin typeface="Rostelecom Basis"/>
              </a:rPr>
              <a:t>Could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331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67085"/>
                </a:solidFill>
                <a:latin typeface="Rostelecom Basis"/>
              </a:rPr>
              <a:t>Полезно, если остаётся ресурс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554480"/>
            <a:ext cx="2423160" cy="1417320"/>
          </a:xfrm>
          <a:prstGeom prst="roundRect">
            <a:avLst/>
          </a:prstGeom>
          <a:solidFill>
            <a:srgbClr val="F1F3F5"/>
          </a:solidFill>
          <a:ln w="10160">
            <a:solidFill>
              <a:srgbClr val="F1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>
            <a:spLocks noChangeAspect="1"/>
          </p:cNvSpPr>
          <p:nvPr/>
        </p:nvSpPr>
        <p:spPr>
          <a:xfrm>
            <a:off x="9079992" y="1658112"/>
            <a:ext cx="502920" cy="502920"/>
          </a:xfrm>
          <a:prstGeom prst="ellipse">
            <a:avLst/>
          </a:prstGeom>
          <a:solidFill>
            <a:srgbClr val="667085"/>
          </a:solidFill>
          <a:ln>
            <a:solidFill>
              <a:srgbClr val="667085"/>
            </a:solidFill>
          </a:ln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>
            <a:spLocks noChangeAspect="1"/>
          </p:cNvSpPr>
          <p:nvPr/>
        </p:nvSpPr>
        <p:spPr>
          <a:xfrm>
            <a:off x="9079992" y="1767840"/>
            <a:ext cx="502920" cy="182880"/>
          </a:xfrm>
          <a:prstGeom prst="rect">
            <a:avLst/>
          </a:prstGeom>
          <a:noFill/>
          <a:effectLst>
            <a:outerShdw blurRad="50800" dist="50800" dir="5400000" sx="90000" sy="90000" algn="ctr" rotWithShape="0">
              <a:srgbClr val="000000">
                <a:alpha val="43137"/>
              </a:srgbClr>
            </a:outerShdw>
          </a:effectLst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Rostelecom Basis"/>
              </a:rP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7830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1828"/>
                </a:solidFill>
                <a:latin typeface="Rostelecom Basis"/>
              </a:rPr>
              <a:t>Won’t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2331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667085"/>
                </a:solidFill>
                <a:latin typeface="Rostelecom Basis"/>
              </a:rPr>
              <a:t>Осознанно не делаем сейчас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42900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1828"/>
                </a:solidFill>
                <a:latin typeface="Rostelecom Basis"/>
              </a:rPr>
              <a:t>Минимальный реестр требований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86200"/>
            <a:ext cx="685800" cy="502920"/>
          </a:xfrm>
          <a:prstGeom prst="rect">
            <a:avLst/>
          </a:prstGeom>
          <a:solidFill>
            <a:srgbClr val="10182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4041648"/>
            <a:ext cx="5760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Rostelecom Basis"/>
              </a:rPr>
              <a:t>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3886200"/>
            <a:ext cx="3520440" cy="502920"/>
          </a:xfrm>
          <a:prstGeom prst="rect">
            <a:avLst/>
          </a:prstGeom>
          <a:solidFill>
            <a:srgbClr val="10182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72184" y="4041648"/>
            <a:ext cx="34107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Rostelecom Basis"/>
              </a:rPr>
              <a:t>Требование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886200"/>
            <a:ext cx="1920240" cy="502920"/>
          </a:xfrm>
          <a:prstGeom prst="rect">
            <a:avLst/>
          </a:prstGeom>
          <a:solidFill>
            <a:srgbClr val="10182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92624" y="4041648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Rostelecom Basis"/>
              </a:rPr>
              <a:t>Источник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886200"/>
            <a:ext cx="1554480" cy="502920"/>
          </a:xfrm>
          <a:prstGeom prst="rect">
            <a:avLst/>
          </a:prstGeom>
          <a:solidFill>
            <a:srgbClr val="10182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12864" y="4041648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Rostelecom Basis"/>
              </a:rPr>
              <a:t>Приоритет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3886200"/>
            <a:ext cx="2240280" cy="502920"/>
          </a:xfrm>
          <a:prstGeom prst="rect">
            <a:avLst/>
          </a:prstGeom>
          <a:solidFill>
            <a:srgbClr val="10182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67344" y="4041648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Rostelecom Basis"/>
              </a:rPr>
              <a:t>Проверка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389120"/>
            <a:ext cx="6858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5262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101828"/>
                </a:solidFill>
                <a:latin typeface="Rostelecom Basis"/>
              </a:rPr>
              <a:t>REQ-01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20" y="4389120"/>
            <a:ext cx="352044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72184" y="452628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01828"/>
                </a:solidFill>
                <a:latin typeface="Rostelecom Basis"/>
              </a:rPr>
              <a:t>Карточка клиента содержит историю контактов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4389120"/>
            <a:ext cx="192024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92624" y="4526280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 i="0">
                <a:solidFill>
                  <a:srgbClr val="101828"/>
                </a:solidFill>
                <a:latin typeface="Rostelecom Basis"/>
              </a:rPr>
              <a:t>Руководитель продаж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389120"/>
            <a:ext cx="15544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12864" y="452628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7700FF"/>
                </a:solidFill>
                <a:latin typeface="Rostelecom Basis"/>
              </a:rPr>
              <a:t>Must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4389120"/>
            <a:ext cx="22402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67344" y="4526280"/>
            <a:ext cx="2130552" cy="124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 i="0" dirty="0">
                <a:solidFill>
                  <a:srgbClr val="101828"/>
                </a:solidFill>
                <a:latin typeface="Rostelecom Basis"/>
              </a:rPr>
              <a:t>UAT</a:t>
            </a:r>
            <a:r>
              <a:rPr lang="ru-RU" sz="810" b="0" i="0" dirty="0">
                <a:solidFill>
                  <a:srgbClr val="101828"/>
                </a:solidFill>
                <a:latin typeface="Rostelecom Basis"/>
              </a:rPr>
              <a:t> (</a:t>
            </a:r>
            <a:r>
              <a:rPr lang="en-US" sz="810" dirty="0">
                <a:solidFill>
                  <a:srgbClr val="101828"/>
                </a:solidFill>
                <a:latin typeface="Rostelecom Basis"/>
              </a:rPr>
              <a:t>User Acceptance Testing</a:t>
            </a:r>
            <a:r>
              <a:rPr lang="ru-RU" sz="810" dirty="0">
                <a:solidFill>
                  <a:srgbClr val="101828"/>
                </a:solidFill>
                <a:latin typeface="Rostelecom Basis"/>
              </a:rPr>
              <a:t>)</a:t>
            </a:r>
            <a:endParaRPr sz="810" b="0" i="0" dirty="0">
              <a:solidFill>
                <a:srgbClr val="101828"/>
              </a:solidFill>
              <a:latin typeface="Rostelecom Basi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31520" y="4965192"/>
            <a:ext cx="6858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6384" y="51023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101828"/>
                </a:solidFill>
                <a:latin typeface="Rostelecom Basis"/>
              </a:rPr>
              <a:t>REQ-02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7320" y="4965192"/>
            <a:ext cx="352044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72184" y="5102352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01828"/>
                </a:solidFill>
                <a:latin typeface="Rostelecom Basis"/>
              </a:rPr>
              <a:t>Открытие карточки ≤ 3 сек.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4965192"/>
            <a:ext cx="192024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92624" y="510235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 i="0">
                <a:solidFill>
                  <a:srgbClr val="101828"/>
                </a:solidFill>
                <a:latin typeface="Rostelecom Basis"/>
              </a:rPr>
              <a:t>Пользователь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965192"/>
            <a:ext cx="15544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12864" y="5102352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 i="0">
                <a:solidFill>
                  <a:srgbClr val="FF4F12"/>
                </a:solidFill>
                <a:latin typeface="Rostelecom Basis"/>
              </a:rPr>
              <a:t>Should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965192"/>
            <a:ext cx="224028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67344" y="5102352"/>
            <a:ext cx="2130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 i="0">
                <a:solidFill>
                  <a:srgbClr val="101828"/>
                </a:solidFill>
                <a:latin typeface="Rostelecom Basis"/>
              </a:rPr>
              <a:t>Замер</a:t>
            </a:r>
          </a:p>
        </p:txBody>
      </p:sp>
      <p:sp>
        <p:nvSpPr>
          <p:cNvPr id="59" name="Номер слайда 58">
            <a:extLst>
              <a:ext uri="{FF2B5EF4-FFF2-40B4-BE49-F238E27FC236}">
                <a16:creationId xmlns:a16="http://schemas.microsoft.com/office/drawing/2014/main" id="{2D02B6C9-C522-9B16-F787-42F07399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Практика команды + Gate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Закрепляем пару на собственном ML/AI-кейсе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810512"/>
            <a:ext cx="658368" cy="310896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700FF"/>
                </a:solidFill>
                <a:latin typeface="Rostelecom Basi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Stakeholder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Не менее 5 ролей; Power × Interest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002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11880" y="1810512"/>
            <a:ext cx="658368" cy="310896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66744" y="18653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4F12"/>
                </a:solidFill>
                <a:latin typeface="Rostelecom Basi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3172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Интервью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7889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10 вопросов предполагаемому заказчику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55080" y="1810512"/>
            <a:ext cx="658368" cy="310896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18653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82F6"/>
                </a:solidFill>
                <a:latin typeface="Rostelecom Basi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Требования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889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Не менее 8 первичных требований разных типов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6002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98280" y="1810512"/>
            <a:ext cx="658368" cy="310896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53144" y="18653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A97A"/>
                </a:solidFill>
                <a:latin typeface="Rostelecom Basi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3172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1828"/>
                </a:solidFill>
                <a:latin typeface="Rostelecom Basis"/>
              </a:rPr>
              <a:t>Приоритет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7889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MoSCoW + источник каждого требования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60520"/>
            <a:ext cx="10469880" cy="1188720"/>
          </a:xfrm>
          <a:prstGeom prst="roundRect">
            <a:avLst/>
          </a:prstGeom>
          <a:solidFill>
            <a:srgbClr val="101828"/>
          </a:solidFill>
          <a:ln w="1016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46227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4F12"/>
                </a:solidFill>
                <a:latin typeface="Rostelecom Basis"/>
              </a:rPr>
              <a:t>Gate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343400"/>
            <a:ext cx="81838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Rostelecom Basis"/>
              </a:rPr>
              <a:t>Мы понимаем, кто влияет на проект, кому нужен результат и какие требования являются обязательными для следующего этапа.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96128"/>
            <a:ext cx="10469880" cy="438912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705856"/>
            <a:ext cx="9966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7700FF"/>
                </a:solidFill>
                <a:latin typeface="Rostelecom Basis"/>
              </a:rPr>
              <a:t>На следующее занятие: согласованный паспорт + stakeholder map + реестр требований. Далее — scope, WBS и планирование в ProjectLibre.</a:t>
            </a:r>
          </a:p>
        </p:txBody>
      </p:sp>
      <p:sp>
        <p:nvSpPr>
          <p:cNvPr id="33" name="Номер слайда 32">
            <a:extLst>
              <a:ext uri="{FF2B5EF4-FFF2-40B4-BE49-F238E27FC236}">
                <a16:creationId xmlns:a16="http://schemas.microsoft.com/office/drawing/2014/main" id="{55DBC6AA-7242-6DC6-680A-3F9453BC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Карточка преподавателя: роль заказчика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Не показывать студентам до завершения интервью — выдавайте информацию только в ответ на хорошие вопросы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4983480" cy="1207008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91639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700FF"/>
                </a:solidFill>
                <a:latin typeface="Rostelecom Basis"/>
              </a:rPr>
              <a:t>Почему инициировали проект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73351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Руководство не доверяет текущей воронке; сделки теряются между Excel-файлами.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4983480" cy="1207008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691639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4F12"/>
                </a:solidFill>
                <a:latin typeface="Rostelecom Basis"/>
              </a:rPr>
              <a:t>Что критично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73351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Единая карточка клиента, история контактов, задачи, воронка, отчёт руководителя.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17520"/>
            <a:ext cx="4983480" cy="120700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2004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B82F6"/>
                </a:solidFill>
                <a:latin typeface="Rostelecom Basis"/>
              </a:rPr>
              <a:t>Интеграции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82112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1С — контрагенты и счета; почта — письма. Телефония желательна, но не Must.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17520"/>
            <a:ext cx="4983480" cy="1207008"/>
          </a:xfrm>
          <a:prstGeom prst="roundRect">
            <a:avLst/>
          </a:prstGeom>
          <a:solidFill>
            <a:srgbClr val="EAF9F3"/>
          </a:solidFill>
          <a:ln w="10160">
            <a:solidFill>
              <a:srgbClr val="EAF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32004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A97A"/>
                </a:solidFill>
                <a:latin typeface="Rostelecom Basis"/>
              </a:rPr>
              <a:t>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82112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≈8 000 клиентов. Есть дубли и неполные записи. Нужна очистка перед миграцией.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26279"/>
            <a:ext cx="4983480" cy="1207008"/>
          </a:xfrm>
          <a:prstGeom prst="roundRect">
            <a:avLst/>
          </a:prstGeom>
          <a:solidFill>
            <a:srgbClr val="F1F3F5"/>
          </a:solidFill>
          <a:ln w="10160">
            <a:solidFill>
              <a:srgbClr val="F1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4709159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73A64"/>
                </a:solidFill>
                <a:latin typeface="Rostelecom Basis"/>
              </a:rPr>
              <a:t>Ограничения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90871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6 месяцев. Внутренняя ИБ. Пользователи не хотят «ещё одну систему».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526279"/>
            <a:ext cx="4983480" cy="1207008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4709159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700FF"/>
                </a:solidFill>
                <a:latin typeface="Rostelecom Basis"/>
              </a:rPr>
              <a:t>Критерий успеха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90871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085"/>
                </a:solidFill>
                <a:latin typeface="Rostelecom Basis"/>
              </a:rPr>
              <a:t>25 менеджеров работают в едином процессе; ключевые сценарии приняты; руководитель видит актуальную воронку.</a:t>
            </a:r>
          </a:p>
        </p:txBody>
      </p:sp>
      <p:sp>
        <p:nvSpPr>
          <p:cNvPr id="27" name="Номер слайда 26">
            <a:extLst>
              <a:ext uri="{FF2B5EF4-FFF2-40B4-BE49-F238E27FC236}">
                <a16:creationId xmlns:a16="http://schemas.microsoft.com/office/drawing/2014/main" id="{85E6482E-59F6-ABA9-23DA-FEDCC8A0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1828"/>
                </a:solidFill>
                <a:latin typeface="Aptos Display"/>
              </a:rPr>
              <a:t>Ориентир для разбора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85"/>
                </a:solidFill>
                <a:latin typeface="Rostelecom Basis"/>
              </a:rPr>
              <a:t>Пример не единственно правильный — он нужен, чтобы после практики показать уровень детализации</a:t>
            </a:r>
          </a:p>
        </p:txBody>
      </p:sp>
      <p:pic>
        <p:nvPicPr>
          <p:cNvPr id="4" name="Picture 3" descr="Основной_цветно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074920" cy="4251960"/>
          </a:xfrm>
          <a:prstGeom prst="roundRect">
            <a:avLst/>
          </a:prstGeom>
          <a:solidFill>
            <a:srgbClr val="F1E8FF"/>
          </a:solidFill>
          <a:ln w="10160">
            <a:solidFill>
              <a:srgbClr val="F1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755648"/>
            <a:ext cx="11430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700FF"/>
                </a:solidFill>
                <a:latin typeface="Rostelecom Basis"/>
              </a:rPr>
              <a:t>ИНИЦИАЦИЯ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700FF"/>
                </a:solidFill>
                <a:latin typeface="Rostelecom Basis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267712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Разрозненное ведение клиентов не позволяет контролировать воронку и приводит к дублям коммуникаций.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700FF"/>
                </a:solidFill>
                <a:latin typeface="Rostelecom Basis"/>
              </a:rPr>
              <a:t>Цель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90672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За 6 месяцев ввести единый процесс B2B-продаж для 25 менеджеров с миграцией, интеграциями и приёмкой.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700FF"/>
                </a:solidFill>
                <a:latin typeface="Rostelecom Basis"/>
              </a:rP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41063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Настроенная система + данные + интеграции + инструкции + обученные пользователи.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700FF"/>
                </a:solidFill>
                <a:latin typeface="Rostelecom Basis"/>
              </a:rPr>
              <a:t>Критерии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782312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667085"/>
                </a:solidFill>
                <a:latin typeface="Rostelecom Basis"/>
              </a:rPr>
              <a:t>Ключевые сценарии приняты, клиентская база мигрирована, пользователи работают в едином процессе.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508760"/>
            <a:ext cx="5074920" cy="4251960"/>
          </a:xfrm>
          <a:prstGeom prst="roundRect">
            <a:avLst/>
          </a:prstGeom>
          <a:solidFill>
            <a:srgbClr val="FFF0EA"/>
          </a:solidFill>
          <a:ln w="10160">
            <a:solidFill>
              <a:srgbClr val="FF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1755648"/>
            <a:ext cx="11430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8105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4F12"/>
                </a:solidFill>
                <a:latin typeface="Rostelecom Basis"/>
              </a:rPr>
              <a:t>ТРЕБОВАНИЯ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REQ-01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23317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101828"/>
                </a:solidFill>
                <a:latin typeface="Rostelecom Basis"/>
              </a:rPr>
              <a:t>Менеджер видит единый список клиентов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87000" y="2304288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32720" y="235915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7700FF"/>
                </a:solidFill>
                <a:latin typeface="Rostelecom Basis"/>
              </a:rPr>
              <a:t>Must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352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REQ-02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293522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101828"/>
                </a:solidFill>
                <a:latin typeface="Rostelecom Basis"/>
              </a:rPr>
              <a:t>Карточка содержит историю контактов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87000" y="2907792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296265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7700FF"/>
                </a:solidFill>
                <a:latin typeface="Rostelecom Basis"/>
              </a:rPr>
              <a:t>Must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3872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REQ-03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35387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101828"/>
                </a:solidFill>
                <a:latin typeface="Rostelecom Basis"/>
              </a:rPr>
              <a:t>Воронка строится по единым стадиям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3511296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0" y="356616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7700FF"/>
                </a:solidFill>
                <a:latin typeface="Rostelecom Basis"/>
              </a:rPr>
              <a:t>Must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42231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REQ-04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4142231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101828"/>
                </a:solidFill>
                <a:latin typeface="Rostelecom Basis"/>
              </a:rPr>
              <a:t>Данные контрагента синхронизируются с 1С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4114799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32720" y="4169663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7700FF"/>
                </a:solidFill>
                <a:latin typeface="Rostelecom Basis"/>
              </a:rPr>
              <a:t>Must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4573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F4F12"/>
                </a:solidFill>
                <a:latin typeface="Rostelecom Basis"/>
              </a:rPr>
              <a:t>REQ-05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474573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101828"/>
                </a:solidFill>
                <a:latin typeface="Rostelecom Basis"/>
              </a:rPr>
              <a:t>Карточка открывается ≤ 3 сек.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87000" y="4718303"/>
            <a:ext cx="658368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20" y="4773167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3B82F6"/>
                </a:solidFill>
                <a:latin typeface="Rostelecom Basis"/>
              </a:rPr>
              <a:t>Should</a:t>
            </a:r>
          </a:p>
        </p:txBody>
      </p:sp>
      <p:sp>
        <p:nvSpPr>
          <p:cNvPr id="42" name="Номер слайда 41">
            <a:extLst>
              <a:ext uri="{FF2B5EF4-FFF2-40B4-BE49-F238E27FC236}">
                <a16:creationId xmlns:a16="http://schemas.microsoft.com/office/drawing/2014/main" id="{EA82BF42-AFFC-32C6-B61C-CCA297D3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50074B4-40A7-A734-A339-BCC807FD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3108960" cy="22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 dirty="0" err="1">
                <a:latin typeface="Rostelecom Basis"/>
              </a:rPr>
              <a:t>Управление</a:t>
            </a:r>
            <a:r>
              <a:rPr sz="830" b="0" dirty="0">
                <a:latin typeface="Rostelecom Basis"/>
              </a:rPr>
              <a:t> ИТ-</a:t>
            </a:r>
            <a:r>
              <a:rPr sz="830" b="0" dirty="0" err="1">
                <a:latin typeface="Rostelecom Basis"/>
              </a:rPr>
              <a:t>проектами</a:t>
            </a:r>
            <a:endParaRPr sz="830" b="0" dirty="0">
              <a:latin typeface="Rostelecom Basis"/>
            </a:endParaRPr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CC9779EE-A2F9-A0B7-236B-FCC4EB4B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  <p:pic>
        <p:nvPicPr>
          <p:cNvPr id="32" name="Picture 3" descr="image.png">
            <a:extLst>
              <a:ext uri="{FF2B5EF4-FFF2-40B4-BE49-F238E27FC236}">
                <a16:creationId xmlns:a16="http://schemas.microsoft.com/office/drawing/2014/main" id="{6C281BCF-4601-4A40-B6C0-0041A4FBD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73FD-14B5-D570-EBE3-F725782F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0492A-095D-67AD-BAE5-238033FB5516}"/>
              </a:ext>
            </a:extLst>
          </p:cNvPr>
          <p:cNvSpPr txBox="1"/>
          <p:nvPr/>
        </p:nvSpPr>
        <p:spPr>
          <a:xfrm>
            <a:off x="594360" y="47548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ptos Display"/>
              </a:rPr>
              <a:t>Инициация проекта: что прочитать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F644B-6348-3823-E17D-3A3C9E9330A9}"/>
              </a:ext>
            </a:extLst>
          </p:cNvPr>
          <p:cNvSpPr txBox="1"/>
          <p:nvPr/>
        </p:nvSpPr>
        <p:spPr>
          <a:xfrm>
            <a:off x="612648" y="969264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67085"/>
                </a:solidFill>
                <a:latin typeface="Rostelecom Basis"/>
              </a:rPr>
              <a:t>Фокус — зачем запускаем проект, какую проблему решаем и что должно быть зафиксировано на старте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0D485EDA-5471-B645-B4FE-D68CB210B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D2AD16-3AA0-44F9-4F79-6C7C4B116D28}"/>
              </a:ext>
            </a:extLst>
          </p:cNvPr>
          <p:cNvSpPr txBox="1"/>
          <p:nvPr/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5F9F1-924B-64E4-B1C9-AFE741A8177F}"/>
              </a:ext>
            </a:extLst>
          </p:cNvPr>
          <p:cNvSpPr txBox="1"/>
          <p:nvPr/>
        </p:nvSpPr>
        <p:spPr>
          <a:xfrm>
            <a:off x="10753344" y="6345936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30" b="0">
                <a:solidFill>
                  <a:srgbClr val="98A2B3"/>
                </a:solidFill>
                <a:latin typeface="Rostelecom Basis"/>
              </a:rPr>
              <a:t>34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5E087B-BDA5-2B0A-62BD-766935CA8614}"/>
              </a:ext>
            </a:extLst>
          </p:cNvPr>
          <p:cNvSpPr/>
          <p:nvPr/>
        </p:nvSpPr>
        <p:spPr>
          <a:xfrm>
            <a:off x="640080" y="1481328"/>
            <a:ext cx="5074920" cy="1947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7B3975-1662-0E22-4737-5050FD9EE9B9}"/>
              </a:ext>
            </a:extLst>
          </p:cNvPr>
          <p:cNvSpPr/>
          <p:nvPr/>
        </p:nvSpPr>
        <p:spPr>
          <a:xfrm>
            <a:off x="868680" y="1700784"/>
            <a:ext cx="941832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91B14-4FDA-986A-DF15-3A98AF13CE45}"/>
              </a:ext>
            </a:extLst>
          </p:cNvPr>
          <p:cNvSpPr txBox="1"/>
          <p:nvPr/>
        </p:nvSpPr>
        <p:spPr>
          <a:xfrm>
            <a:off x="868680" y="1709928"/>
            <a:ext cx="94183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Rostelecom Basis"/>
              </a:rPr>
              <a:t>СТАНДАРТ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C12205-4DE7-2A19-D727-FCFF9B83FE34}"/>
              </a:ext>
            </a:extLst>
          </p:cNvPr>
          <p:cNvSpPr txBox="1"/>
          <p:nvPr/>
        </p:nvSpPr>
        <p:spPr>
          <a:xfrm>
            <a:off x="868680" y="2066543"/>
            <a:ext cx="4480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1828"/>
                </a:solidFill>
                <a:latin typeface="Rostelecom Basis"/>
              </a:rPr>
              <a:t>ГОСТ Р ИСО 21502-2024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8F0DB-A897-CF89-A271-CA39A127BEBB}"/>
              </a:ext>
            </a:extLst>
          </p:cNvPr>
          <p:cNvSpPr txBox="1"/>
          <p:nvPr/>
        </p:nvSpPr>
        <p:spPr>
          <a:xfrm>
            <a:off x="868680" y="2382011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dirty="0">
                <a:solidFill>
                  <a:srgbClr val="344054"/>
                </a:solidFill>
                <a:latin typeface="Rostelecom Basis"/>
              </a:rPr>
              <a:t>§ 6.5 «</a:t>
            </a:r>
            <a:r>
              <a:rPr sz="1220" b="0" dirty="0" err="1">
                <a:solidFill>
                  <a:srgbClr val="344054"/>
                </a:solidFill>
                <a:latin typeface="Rostelecom Basis"/>
              </a:rPr>
              <a:t>Инициирование</a:t>
            </a:r>
            <a:r>
              <a:rPr sz="122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220" b="0" dirty="0" err="1">
                <a:solidFill>
                  <a:srgbClr val="344054"/>
                </a:solidFill>
                <a:latin typeface="Rostelecom Basis"/>
              </a:rPr>
              <a:t>проекта</a:t>
            </a:r>
            <a:r>
              <a:rPr sz="1220" b="0" dirty="0">
                <a:solidFill>
                  <a:srgbClr val="344054"/>
                </a:solidFill>
                <a:latin typeface="Rostelecom Basis"/>
              </a:rPr>
              <a:t>» — </a:t>
            </a:r>
            <a:r>
              <a:rPr sz="1220" b="0" dirty="0" err="1">
                <a:solidFill>
                  <a:srgbClr val="344054"/>
                </a:solidFill>
                <a:latin typeface="Rostelecom Basis"/>
              </a:rPr>
              <a:t>особенно</a:t>
            </a:r>
            <a:r>
              <a:rPr sz="1220" b="0" dirty="0">
                <a:solidFill>
                  <a:srgbClr val="344054"/>
                </a:solidFill>
                <a:latin typeface="Rostelecom Basis"/>
              </a:rPr>
              <a:t> 6.5.4 «</a:t>
            </a:r>
            <a:r>
              <a:rPr sz="1220" b="0" dirty="0" err="1">
                <a:solidFill>
                  <a:srgbClr val="344054"/>
                </a:solidFill>
                <a:latin typeface="Rostelecom Basis"/>
              </a:rPr>
              <a:t>Первоначальное</a:t>
            </a:r>
            <a:r>
              <a:rPr sz="122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220" b="0" dirty="0" err="1">
                <a:solidFill>
                  <a:srgbClr val="344054"/>
                </a:solidFill>
                <a:latin typeface="Rostelecom Basis"/>
              </a:rPr>
              <a:t>обоснование</a:t>
            </a:r>
            <a:r>
              <a:rPr sz="1220" b="0" dirty="0">
                <a:solidFill>
                  <a:srgbClr val="344054"/>
                </a:solidFill>
                <a:latin typeface="Rostelecom Basis"/>
              </a:rPr>
              <a:t>» и 6.5.5 «</a:t>
            </a:r>
            <a:r>
              <a:rPr sz="1220" b="0" dirty="0" err="1">
                <a:solidFill>
                  <a:srgbClr val="344054"/>
                </a:solidFill>
                <a:latin typeface="Rostelecom Basis"/>
              </a:rPr>
              <a:t>Первоначальное</a:t>
            </a:r>
            <a:r>
              <a:rPr sz="122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220" b="0" dirty="0" err="1">
                <a:solidFill>
                  <a:srgbClr val="344054"/>
                </a:solidFill>
                <a:latin typeface="Rostelecom Basis"/>
              </a:rPr>
              <a:t>планирование</a:t>
            </a:r>
            <a:r>
              <a:rPr sz="1220" b="0" dirty="0">
                <a:solidFill>
                  <a:srgbClr val="344054"/>
                </a:solidFill>
                <a:latin typeface="Rostelecom Basis"/>
              </a:rPr>
              <a:t>».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62ACD-78B6-D35E-8788-DAE33D003767}"/>
              </a:ext>
            </a:extLst>
          </p:cNvPr>
          <p:cNvSpPr txBox="1"/>
          <p:nvPr/>
        </p:nvSpPr>
        <p:spPr>
          <a:xfrm>
            <a:off x="868680" y="304550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dirty="0" err="1">
                <a:solidFill>
                  <a:srgbClr val="7700FF"/>
                </a:solidFill>
                <a:latin typeface="Rostelecom Basis"/>
                <a:hlinkClick r:id="rId3"/>
              </a:rPr>
              <a:t>Открыть</a:t>
            </a:r>
            <a:r>
              <a:rPr sz="1150" b="1" dirty="0">
                <a:solidFill>
                  <a:srgbClr val="7700FF"/>
                </a:solidFill>
                <a:latin typeface="Rostelecom Basis"/>
                <a:hlinkClick r:id="rId3"/>
              </a:rPr>
              <a:t> </a:t>
            </a:r>
            <a:r>
              <a:rPr sz="1150" b="1" dirty="0" err="1">
                <a:solidFill>
                  <a:srgbClr val="7700FF"/>
                </a:solidFill>
                <a:latin typeface="Rostelecom Basis"/>
                <a:hlinkClick r:id="rId3"/>
              </a:rPr>
              <a:t>карточку</a:t>
            </a:r>
            <a:r>
              <a:rPr sz="1150" b="1" dirty="0">
                <a:solidFill>
                  <a:srgbClr val="7700FF"/>
                </a:solidFill>
                <a:latin typeface="Rostelecom Basis"/>
                <a:hlinkClick r:id="rId3"/>
              </a:rPr>
              <a:t> </a:t>
            </a:r>
            <a:r>
              <a:rPr sz="1150" b="1" dirty="0" err="1">
                <a:solidFill>
                  <a:srgbClr val="7700FF"/>
                </a:solidFill>
                <a:latin typeface="Rostelecom Basis"/>
                <a:hlinkClick r:id="rId3"/>
              </a:rPr>
              <a:t>стандарта</a:t>
            </a:r>
            <a:r>
              <a:rPr sz="1150" b="1" dirty="0">
                <a:solidFill>
                  <a:srgbClr val="7700FF"/>
                </a:solidFill>
                <a:latin typeface="Rostelecom Basis"/>
                <a:hlinkClick r:id="rId3"/>
              </a:rPr>
              <a:t> 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440029-B2B2-C765-9FA7-6AEED4596F99}"/>
              </a:ext>
            </a:extLst>
          </p:cNvPr>
          <p:cNvSpPr/>
          <p:nvPr/>
        </p:nvSpPr>
        <p:spPr>
          <a:xfrm>
            <a:off x="5989320" y="1481328"/>
            <a:ext cx="5074920" cy="1947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893CF5A-40D8-A294-BD95-D894CBC0504F}"/>
              </a:ext>
            </a:extLst>
          </p:cNvPr>
          <p:cNvSpPr/>
          <p:nvPr/>
        </p:nvSpPr>
        <p:spPr>
          <a:xfrm>
            <a:off x="6217920" y="1700784"/>
            <a:ext cx="768096" cy="274320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0B8564-F70A-0DE9-5B8F-D90E0EB9C3BE}"/>
              </a:ext>
            </a:extLst>
          </p:cNvPr>
          <p:cNvSpPr txBox="1"/>
          <p:nvPr/>
        </p:nvSpPr>
        <p:spPr>
          <a:xfrm>
            <a:off x="6217920" y="1695821"/>
            <a:ext cx="76809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950" b="1" dirty="0">
                <a:solidFill>
                  <a:srgbClr val="FFFFFF"/>
                </a:solidFill>
                <a:latin typeface="Rostelecom Basis"/>
              </a:rPr>
              <a:t>КУРС</a:t>
            </a:r>
            <a:endParaRPr sz="950" b="1" dirty="0">
              <a:solidFill>
                <a:srgbClr val="FFFFFF"/>
              </a:solidFill>
              <a:latin typeface="Rostelecom Basi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C3E9C-8668-87BA-83E0-DF5F5ECCD477}"/>
              </a:ext>
            </a:extLst>
          </p:cNvPr>
          <p:cNvSpPr txBox="1"/>
          <p:nvPr/>
        </p:nvSpPr>
        <p:spPr>
          <a:xfrm>
            <a:off x="6217920" y="3031653"/>
            <a:ext cx="1553630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dirty="0" err="1">
                <a:solidFill>
                  <a:srgbClr val="7700FF"/>
                </a:solidFill>
                <a:latin typeface="Rostelecom Basis"/>
                <a:hlinkClick r:id="rId4"/>
              </a:rPr>
              <a:t>Содержание</a:t>
            </a:r>
            <a:r>
              <a:rPr sz="1150" b="1" dirty="0">
                <a:solidFill>
                  <a:srgbClr val="7700FF"/>
                </a:solidFill>
                <a:latin typeface="Rostelecom Basis"/>
                <a:hlinkClick r:id="rId4"/>
              </a:rPr>
              <a:t> </a:t>
            </a:r>
            <a:r>
              <a:rPr lang="ru-RU" sz="1150" b="1" dirty="0">
                <a:solidFill>
                  <a:srgbClr val="7700FF"/>
                </a:solidFill>
                <a:latin typeface="Rostelecom Basis"/>
                <a:hlinkClick r:id="rId4"/>
              </a:rPr>
              <a:t>курса</a:t>
            </a:r>
            <a:r>
              <a:rPr sz="1150" b="1" dirty="0">
                <a:solidFill>
                  <a:srgbClr val="7700FF"/>
                </a:solidFill>
                <a:latin typeface="Rostelecom Basis"/>
                <a:hlinkClick r:id="rId4"/>
              </a:rPr>
              <a:t> →</a:t>
            </a:r>
            <a:endParaRPr sz="1150" b="1" dirty="0">
              <a:solidFill>
                <a:srgbClr val="7700FF"/>
              </a:solidFill>
              <a:latin typeface="Rostelecom Basis"/>
              <a:hlinkClick r:id="rId5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A513D-244C-4197-67D9-F7A4B86BCA41}"/>
              </a:ext>
            </a:extLst>
          </p:cNvPr>
          <p:cNvSpPr/>
          <p:nvPr/>
        </p:nvSpPr>
        <p:spPr>
          <a:xfrm>
            <a:off x="640080" y="3657600"/>
            <a:ext cx="10424160" cy="1664208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E9D7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FAF81-9886-AB10-7DA0-2A4737C10780}"/>
              </a:ext>
            </a:extLst>
          </p:cNvPr>
          <p:cNvSpPr txBox="1"/>
          <p:nvPr/>
        </p:nvSpPr>
        <p:spPr>
          <a:xfrm>
            <a:off x="868680" y="3767328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 err="1">
                <a:solidFill>
                  <a:srgbClr val="7700FF"/>
                </a:solidFill>
                <a:latin typeface="Rostelecom Basis"/>
              </a:rPr>
              <a:t>Короткое</a:t>
            </a:r>
            <a:r>
              <a:rPr sz="1600" b="1" dirty="0">
                <a:solidFill>
                  <a:srgbClr val="7700FF"/>
                </a:solidFill>
                <a:latin typeface="Rostelecom Basis"/>
              </a:rPr>
              <a:t> </a:t>
            </a:r>
            <a:r>
              <a:rPr sz="1600" b="1" dirty="0" err="1">
                <a:solidFill>
                  <a:srgbClr val="7700FF"/>
                </a:solidFill>
                <a:latin typeface="Rostelecom Basis"/>
              </a:rPr>
              <a:t>чтение</a:t>
            </a:r>
            <a:r>
              <a:rPr sz="1600" b="1" dirty="0">
                <a:solidFill>
                  <a:srgbClr val="7700FF"/>
                </a:solidFill>
                <a:latin typeface="Rostelecom Basis"/>
              </a:rPr>
              <a:t> PMI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FA599-3C25-6B52-3EE6-40D6B435D34B}"/>
              </a:ext>
            </a:extLst>
          </p:cNvPr>
          <p:cNvSpPr txBox="1"/>
          <p:nvPr/>
        </p:nvSpPr>
        <p:spPr>
          <a:xfrm>
            <a:off x="868680" y="4325112"/>
            <a:ext cx="4251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44054"/>
                </a:solidFill>
                <a:latin typeface="Rostelecom Basis"/>
              </a:rPr>
              <a:t>«The Charter — Selling your Project»
Что должно быть в Project Charter и зачем он нужен.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33040B-D22B-939E-8F14-DCB5AC486DA5}"/>
              </a:ext>
            </a:extLst>
          </p:cNvPr>
          <p:cNvSpPr txBox="1"/>
          <p:nvPr/>
        </p:nvSpPr>
        <p:spPr>
          <a:xfrm>
            <a:off x="868680" y="486460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7700FF"/>
                </a:solidFill>
                <a:latin typeface="Rostelecom Basis"/>
                <a:hlinkClick r:id="rId6"/>
              </a:rPr>
              <a:t>Читать 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6F180F-5432-C8EF-8926-42D1FF061582}"/>
              </a:ext>
            </a:extLst>
          </p:cNvPr>
          <p:cNvSpPr txBox="1"/>
          <p:nvPr/>
        </p:nvSpPr>
        <p:spPr>
          <a:xfrm>
            <a:off x="5532120" y="4325112"/>
            <a:ext cx="4343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44054"/>
                </a:solidFill>
                <a:latin typeface="Rostelecom Basis"/>
              </a:rPr>
              <a:t>«Do More in Less» → раздел Project Charter
Практичный список: цель, scope, deliverables, риски, допущения.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9D9A5-EFA5-70BA-E4CA-5EC5ADDAC63D}"/>
              </a:ext>
            </a:extLst>
          </p:cNvPr>
          <p:cNvSpPr txBox="1"/>
          <p:nvPr/>
        </p:nvSpPr>
        <p:spPr>
          <a:xfrm>
            <a:off x="5532120" y="486460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7700FF"/>
                </a:solidFill>
                <a:latin typeface="Rostelecom Basis"/>
                <a:hlinkClick r:id="rId7"/>
              </a:rPr>
              <a:t>Читать →</a:t>
            </a:r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6D523AED-D9AA-9589-6693-B3EF39FB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E0A3DE-E4CE-9E8E-0DFF-01603460B265}"/>
              </a:ext>
            </a:extLst>
          </p:cNvPr>
          <p:cNvSpPr txBox="1"/>
          <p:nvPr/>
        </p:nvSpPr>
        <p:spPr>
          <a:xfrm>
            <a:off x="6217920" y="2080813"/>
            <a:ext cx="32461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1600" b="1" dirty="0">
                <a:solidFill>
                  <a:srgbClr val="101828"/>
                </a:solidFill>
                <a:latin typeface="Rostelecom Basis"/>
              </a:rPr>
              <a:t>КУРС НИУ ВШЭ — «Управление проектами» Платформа «Открытое образование» </a:t>
            </a:r>
            <a:endParaRPr sz="1600" b="1" dirty="0">
              <a:solidFill>
                <a:srgbClr val="101828"/>
              </a:solidFill>
              <a:latin typeface="Rostelecom Basis"/>
            </a:endParaRPr>
          </a:p>
        </p:txBody>
      </p:sp>
    </p:spTree>
    <p:extLst>
      <p:ext uri="{BB962C8B-B14F-4D97-AF65-F5344CB8AC3E}">
        <p14:creationId xmlns:p14="http://schemas.microsoft.com/office/powerpoint/2010/main" val="983906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ptos Display"/>
              </a:rPr>
              <a:t>Стейкхолдеры и интервью: что прочитать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9264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67085"/>
                </a:solidFill>
                <a:latin typeface="Rostelecom Basis"/>
              </a:rPr>
              <a:t>Фокус — найти нужных людей, понять их интересы и получить требования, не подсовывая готовое решение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345936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30" b="0">
                <a:solidFill>
                  <a:srgbClr val="98A2B3"/>
                </a:solidFill>
                <a:latin typeface="Rostelecom Basis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1546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719072"/>
            <a:ext cx="941832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28216"/>
            <a:ext cx="94183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Rostelecom Basis"/>
              </a:rPr>
              <a:t>СТАНДАРТ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Rostelecom Basis"/>
              </a:rPr>
              <a:t>ГОСТ Р ИСО 21502-2024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75037"/>
            <a:ext cx="260604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7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§ 7.12.2 — </a:t>
            </a:r>
            <a:r>
              <a:rPr dirty="0" err="1"/>
              <a:t>идентификация</a:t>
            </a:r>
            <a:r>
              <a:rPr dirty="0"/>
              <a:t> </a:t>
            </a:r>
            <a:r>
              <a:rPr dirty="0" err="1"/>
              <a:t>заинтересованных</a:t>
            </a:r>
            <a:r>
              <a:rPr dirty="0"/>
              <a:t> </a:t>
            </a:r>
            <a:r>
              <a:rPr dirty="0" err="1"/>
              <a:t>сторон</a:t>
            </a:r>
            <a:endParaRPr dirty="0"/>
          </a:p>
          <a:p>
            <a:pPr>
              <a:spcAft>
                <a:spcPts val="400"/>
              </a:spcAft>
              <a:defRPr sz="117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§ 7.12.3 — </a:t>
            </a:r>
            <a:r>
              <a:rPr dirty="0" err="1"/>
              <a:t>вовлечение</a:t>
            </a:r>
            <a:r>
              <a:rPr dirty="0"/>
              <a:t> </a:t>
            </a:r>
            <a:r>
              <a:rPr dirty="0" err="1"/>
              <a:t>заинтересованных</a:t>
            </a:r>
            <a:r>
              <a:rPr dirty="0"/>
              <a:t> </a:t>
            </a:r>
            <a:r>
              <a:rPr dirty="0" err="1"/>
              <a:t>сторон</a:t>
            </a:r>
            <a:endParaRPr dirty="0"/>
          </a:p>
          <a:p>
            <a:pPr>
              <a:spcAft>
                <a:spcPts val="400"/>
              </a:spcAft>
              <a:defRPr sz="117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</a:t>
            </a:r>
            <a:r>
              <a:rPr dirty="0" err="1"/>
              <a:t>Смотрите</a:t>
            </a:r>
            <a:r>
              <a:rPr dirty="0"/>
              <a:t>: </a:t>
            </a:r>
            <a:r>
              <a:rPr dirty="0" err="1"/>
              <a:t>интерес</a:t>
            </a:r>
            <a:r>
              <a:rPr dirty="0"/>
              <a:t>, </a:t>
            </a:r>
            <a:r>
              <a:rPr dirty="0" err="1"/>
              <a:t>влияние</a:t>
            </a:r>
            <a:r>
              <a:rPr dirty="0"/>
              <a:t>, </a:t>
            </a:r>
            <a:r>
              <a:rPr dirty="0" err="1"/>
              <a:t>ожидания</a:t>
            </a:r>
            <a:r>
              <a:rPr dirty="0"/>
              <a:t>, </a:t>
            </a:r>
            <a:r>
              <a:rPr dirty="0" err="1"/>
              <a:t>потребности</a:t>
            </a:r>
            <a:r>
              <a:rPr dirty="0"/>
              <a:t> и </a:t>
            </a:r>
            <a:r>
              <a:rPr dirty="0" err="1"/>
              <a:t>участие</a:t>
            </a:r>
            <a:r>
              <a:rPr dirty="0"/>
              <a:t> в </a:t>
            </a:r>
            <a:r>
              <a:rPr dirty="0" err="1"/>
              <a:t>решениях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68680" y="489204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7700FF"/>
                </a:solidFill>
                <a:latin typeface="Rostelecom Basis"/>
                <a:hlinkClick r:id="rId4"/>
              </a:rPr>
              <a:t>Открыть источник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481328"/>
            <a:ext cx="37307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06240" y="1719072"/>
            <a:ext cx="768096" cy="274320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714109"/>
            <a:ext cx="76809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950" b="1" dirty="0">
                <a:solidFill>
                  <a:srgbClr val="FFFFFF"/>
                </a:solidFill>
                <a:latin typeface="Rostelecom Basis"/>
              </a:rPr>
              <a:t>КУРС</a:t>
            </a:r>
            <a:endParaRPr sz="950" b="1" dirty="0">
              <a:solidFill>
                <a:srgbClr val="FFFFFF"/>
              </a:solidFill>
              <a:latin typeface="Rostelecom Basi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2103120"/>
            <a:ext cx="32461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1600" b="1" dirty="0">
                <a:solidFill>
                  <a:srgbClr val="101828"/>
                </a:solidFill>
                <a:latin typeface="Rostelecom Basis"/>
              </a:rPr>
              <a:t>КУРС НИУ ВШЭ — «Управление проектами» Платформа «Открытое образование» </a:t>
            </a:r>
            <a:endParaRPr sz="1600" b="1" dirty="0">
              <a:solidFill>
                <a:srgbClr val="101828"/>
              </a:solidFill>
              <a:latin typeface="Rostelecom Basi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06240" y="3177879"/>
            <a:ext cx="3200400" cy="1403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70">
                <a:solidFill>
                  <a:srgbClr val="344054"/>
                </a:solidFill>
                <a:latin typeface="Rostelecom Basis"/>
              </a:defRPr>
            </a:pPr>
            <a:r>
              <a:rPr lang="ru-RU" dirty="0"/>
              <a:t>Тема 2. «Концептуальное проектирование: от идеи к концепции проекта»</a:t>
            </a:r>
          </a:p>
          <a:p>
            <a:pPr>
              <a:spcAft>
                <a:spcPts val="400"/>
              </a:spcAft>
              <a:defRPr sz="1170">
                <a:solidFill>
                  <a:srgbClr val="344054"/>
                </a:solidFill>
                <a:latin typeface="Rostelecom Basis"/>
              </a:defRPr>
            </a:pPr>
            <a:r>
              <a:rPr lang="ru-RU" dirty="0"/>
              <a:t>Тема 3. «Управление содержанием: инициация и структурная декомпозиция»  Фокус: переход от идеи к концепции проекта, инициация, определение содержания и подготовка проекта к планированию.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7909560" y="1481328"/>
            <a:ext cx="31546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38160" y="1719072"/>
            <a:ext cx="804672" cy="2743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1728216"/>
            <a:ext cx="80467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Rostelecom Basis"/>
              </a:rPr>
              <a:t>СТАТЬЯ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03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Rostelecom Basis"/>
              </a:rPr>
              <a:t>PMI: требования для РП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79470"/>
            <a:ext cx="2606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 dirty="0">
                <a:solidFill>
                  <a:srgbClr val="344054"/>
                </a:solidFill>
                <a:latin typeface="Rostelecom Basis"/>
              </a:rPr>
              <a:t>«What a project manager really needs to know about requirements»
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Хорошо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дополняет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тему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: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как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планировать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 elicitation и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выбирать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техники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сбора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 </a:t>
            </a:r>
            <a:r>
              <a:rPr sz="1170" b="0" dirty="0" err="1">
                <a:solidFill>
                  <a:srgbClr val="344054"/>
                </a:solidFill>
                <a:latin typeface="Rostelecom Basis"/>
              </a:rPr>
              <a:t>требований</a:t>
            </a:r>
            <a:r>
              <a:rPr sz="1170" b="0" dirty="0">
                <a:solidFill>
                  <a:srgbClr val="344054"/>
                </a:solidFill>
                <a:latin typeface="Rostelecom Basi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89204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7700FF"/>
                </a:solidFill>
                <a:latin typeface="Rostelecom Basis"/>
                <a:hlinkClick r:id="rId5"/>
              </a:rPr>
              <a:t>Читать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2356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1">
                <a:solidFill>
                  <a:srgbClr val="7700FF"/>
                </a:solidFill>
                <a:latin typeface="Rostelecom Basis"/>
              </a:rPr>
              <a:t>Практический вопрос после чтения: кого вы ещё не включили в stakeholder map своего кейса — и почему?</a:t>
            </a:r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04E21855-5F6B-5A91-0323-BD994103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89409B-3928-9E0A-92DC-88393838FB20}"/>
              </a:ext>
            </a:extLst>
          </p:cNvPr>
          <p:cNvSpPr txBox="1"/>
          <p:nvPr/>
        </p:nvSpPr>
        <p:spPr>
          <a:xfrm>
            <a:off x="4289385" y="4885404"/>
            <a:ext cx="1553630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dirty="0" err="1">
                <a:solidFill>
                  <a:srgbClr val="7700FF"/>
                </a:solidFill>
                <a:latin typeface="Rostelecom Basis"/>
                <a:hlinkClick r:id="rId6"/>
              </a:rPr>
              <a:t>Содержание</a:t>
            </a:r>
            <a:r>
              <a:rPr sz="1150" b="1" dirty="0">
                <a:solidFill>
                  <a:srgbClr val="7700FF"/>
                </a:solidFill>
                <a:latin typeface="Rostelecom Basis"/>
                <a:hlinkClick r:id="rId6"/>
              </a:rPr>
              <a:t> </a:t>
            </a:r>
            <a:r>
              <a:rPr lang="ru-RU" sz="1150" b="1" dirty="0">
                <a:solidFill>
                  <a:srgbClr val="7700FF"/>
                </a:solidFill>
                <a:latin typeface="Rostelecom Basis"/>
                <a:hlinkClick r:id="rId6"/>
              </a:rPr>
              <a:t>курса</a:t>
            </a:r>
            <a:r>
              <a:rPr sz="1150" b="1" dirty="0">
                <a:solidFill>
                  <a:srgbClr val="7700FF"/>
                </a:solidFill>
                <a:latin typeface="Rostelecom Basis"/>
                <a:hlinkClick r:id="rId6"/>
              </a:rPr>
              <a:t> →</a:t>
            </a:r>
            <a:endParaRPr sz="1150" b="1" dirty="0">
              <a:solidFill>
                <a:srgbClr val="7700FF"/>
              </a:solidFill>
              <a:latin typeface="Rostelecom Basis"/>
              <a:hlinkClick r:id="rId7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7548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ptos Display"/>
              </a:rPr>
              <a:t>Требования: как писать, приоритизировать и проверять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28600"/>
            <a:ext cx="1600200" cy="4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0">
                <a:solidFill>
                  <a:srgbClr val="98A2B3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345936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30" b="0">
                <a:solidFill>
                  <a:srgbClr val="98A2B3"/>
                </a:solidFill>
                <a:latin typeface="Rostelecom Basis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49834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719072"/>
            <a:ext cx="1517904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28216"/>
            <a:ext cx="1517904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dirty="0">
                <a:solidFill>
                  <a:srgbClr val="FFFFFF"/>
                </a:solidFill>
                <a:latin typeface="Rostelecom Basis"/>
              </a:rPr>
              <a:t>РУССКИЙ ИСТОЧНИК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1"/>
            <a:ext cx="4297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01828"/>
                </a:solidFill>
                <a:latin typeface="Rostelecom Basis"/>
              </a:rPr>
              <a:t>Ю. А. Маглинец — «Анализ требований к АИС»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4343400" cy="143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</a:t>
            </a:r>
            <a:r>
              <a:rPr dirty="0" err="1"/>
              <a:t>Тема</a:t>
            </a:r>
            <a:r>
              <a:rPr dirty="0"/>
              <a:t> 2 — </a:t>
            </a:r>
            <a:r>
              <a:rPr dirty="0" err="1"/>
              <a:t>понятие</a:t>
            </a:r>
            <a:r>
              <a:rPr dirty="0"/>
              <a:t> и </a:t>
            </a:r>
            <a:r>
              <a:rPr dirty="0" err="1"/>
              <a:t>классификация</a:t>
            </a:r>
            <a:r>
              <a:rPr dirty="0"/>
              <a:t> </a:t>
            </a:r>
            <a:r>
              <a:rPr dirty="0" err="1"/>
              <a:t>требований</a:t>
            </a:r>
            <a:endParaRPr dirty="0"/>
          </a:p>
          <a:p>
            <a:pPr>
              <a:spcAft>
                <a:spcPts val="400"/>
              </a:spcAft>
              <a:defRPr sz="115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</a:t>
            </a:r>
            <a:r>
              <a:rPr dirty="0" err="1"/>
              <a:t>Тема</a:t>
            </a:r>
            <a:r>
              <a:rPr dirty="0"/>
              <a:t> 3 — </a:t>
            </a:r>
            <a:r>
              <a:rPr dirty="0" err="1"/>
              <a:t>свойства</a:t>
            </a:r>
            <a:r>
              <a:rPr dirty="0"/>
              <a:t> </a:t>
            </a:r>
            <a:r>
              <a:rPr dirty="0" err="1"/>
              <a:t>хорошего</a:t>
            </a:r>
            <a:r>
              <a:rPr dirty="0"/>
              <a:t> </a:t>
            </a:r>
            <a:r>
              <a:rPr dirty="0" err="1"/>
              <a:t>требования</a:t>
            </a:r>
            <a:endParaRPr dirty="0"/>
          </a:p>
          <a:p>
            <a:pPr>
              <a:spcAft>
                <a:spcPts val="400"/>
              </a:spcAft>
              <a:defRPr sz="115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</a:t>
            </a:r>
            <a:r>
              <a:rPr dirty="0" err="1"/>
              <a:t>Тема</a:t>
            </a:r>
            <a:r>
              <a:rPr dirty="0"/>
              <a:t> 4 —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требований</a:t>
            </a:r>
            <a:endParaRPr dirty="0"/>
          </a:p>
          <a:p>
            <a:pPr>
              <a:spcAft>
                <a:spcPts val="400"/>
              </a:spcAft>
              <a:defRPr sz="115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</a:t>
            </a:r>
            <a:r>
              <a:rPr dirty="0" err="1"/>
              <a:t>Тема</a:t>
            </a:r>
            <a:r>
              <a:rPr dirty="0"/>
              <a:t> 5 — </a:t>
            </a:r>
            <a:r>
              <a:rPr dirty="0" err="1"/>
              <a:t>контекст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требований</a:t>
            </a:r>
            <a:endParaRPr dirty="0"/>
          </a:p>
          <a:p>
            <a:pPr>
              <a:spcAft>
                <a:spcPts val="400"/>
              </a:spcAft>
              <a:defRPr sz="1150">
                <a:solidFill>
                  <a:srgbClr val="344054"/>
                </a:solidFill>
                <a:latin typeface="Rostelecom Basis"/>
              </a:defRPr>
            </a:pPr>
            <a:r>
              <a:rPr dirty="0"/>
              <a:t>• </a:t>
            </a:r>
            <a:r>
              <a:rPr dirty="0" err="1"/>
              <a:t>Тема</a:t>
            </a:r>
            <a:r>
              <a:rPr dirty="0"/>
              <a:t> 6 — </a:t>
            </a:r>
            <a:r>
              <a:rPr dirty="0" err="1"/>
              <a:t>выявление</a:t>
            </a:r>
            <a:r>
              <a:rPr dirty="0"/>
              <a:t> </a:t>
            </a:r>
            <a:r>
              <a:rPr dirty="0" err="1"/>
              <a:t>требований</a:t>
            </a:r>
            <a:endParaRPr lang="ru-RU" dirty="0"/>
          </a:p>
          <a:p>
            <a:pPr>
              <a:spcAft>
                <a:spcPts val="400"/>
              </a:spcAft>
              <a:defRPr sz="1150">
                <a:solidFill>
                  <a:srgbClr val="344054"/>
                </a:solidFill>
                <a:latin typeface="Rostelecom Basis"/>
              </a:defRPr>
            </a:pPr>
            <a:r>
              <a:rPr lang="ru-RU" sz="1150" u="sng" dirty="0">
                <a:solidFill>
                  <a:srgbClr val="344054"/>
                </a:solidFill>
                <a:hlinkClick r:id="rId3"/>
              </a:rPr>
              <a:t>https://www.iprbookshop.ru/books/133919/details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852160" y="1481328"/>
            <a:ext cx="52120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2084831"/>
            <a:ext cx="44348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ru-RU" sz="1600" b="1" dirty="0"/>
              <a:t>ГОСТ 34.602-2020</a:t>
            </a:r>
            <a:endParaRPr lang="ru-R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6096000" y="2421191"/>
            <a:ext cx="4526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«Техническое задание на создание автоматизированной системы»</a:t>
            </a:r>
          </a:p>
          <a:p>
            <a:r>
              <a:rPr lang="ru-RU" sz="1200" b="1" dirty="0"/>
              <a:t>Что посмотреть:</a:t>
            </a:r>
            <a:br>
              <a:rPr lang="ru-RU" sz="1200" dirty="0"/>
            </a:br>
            <a:r>
              <a:rPr lang="ru-RU" sz="1200" dirty="0"/>
              <a:t>• п. 4.6 — требования к автоматизированной системе</a:t>
            </a:r>
            <a:br>
              <a:rPr lang="ru-RU" sz="1200" dirty="0"/>
            </a:br>
            <a:r>
              <a:rPr lang="ru-RU" sz="1200" dirty="0"/>
              <a:t>• п. 4.6.1 — требования к структуре системы</a:t>
            </a:r>
            <a:br>
              <a:rPr lang="ru-RU" sz="1200" dirty="0"/>
            </a:br>
            <a:r>
              <a:rPr lang="ru-RU" sz="1200" dirty="0"/>
              <a:t>• п. 4.6.2 — требования к функциям</a:t>
            </a:r>
            <a:br>
              <a:rPr lang="ru-RU" sz="1200" dirty="0"/>
            </a:br>
            <a:r>
              <a:rPr lang="ru-RU" sz="1200" dirty="0"/>
              <a:t>• п. 4.6.3 — требования к видам обеспечения </a:t>
            </a:r>
          </a:p>
          <a:p>
            <a:r>
              <a:rPr lang="ru-RU" sz="1200" b="1" dirty="0"/>
              <a:t>Практический фокус:</a:t>
            </a:r>
            <a:br>
              <a:rPr lang="ru-RU" sz="1200" dirty="0"/>
            </a:br>
            <a:r>
              <a:rPr lang="ru-RU" sz="1200" dirty="0"/>
              <a:t>как превращать пожелания заказчика в формализованные и проверяемые требования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136179" y="4405466"/>
            <a:ext cx="1463862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150" b="1" dirty="0">
                <a:solidFill>
                  <a:srgbClr val="7700FF"/>
                </a:solidFill>
                <a:latin typeface="Rostelecom Basis"/>
                <a:hlinkClick r:id="rId4"/>
              </a:rPr>
              <a:t>ГОСТ 34.602-2020 →</a:t>
            </a:r>
            <a:endParaRPr sz="1150" b="1" dirty="0">
              <a:solidFill>
                <a:srgbClr val="7700FF"/>
              </a:solidFill>
              <a:latin typeface="Rostelecom Basis"/>
              <a:hlinkClick r:id="rId5"/>
            </a:endParaRPr>
          </a:p>
        </p:txBody>
      </p:sp>
      <p:sp>
        <p:nvSpPr>
          <p:cNvPr id="24" name="Номер слайда 23">
            <a:extLst>
              <a:ext uri="{FF2B5EF4-FFF2-40B4-BE49-F238E27FC236}">
                <a16:creationId xmlns:a16="http://schemas.microsoft.com/office/drawing/2014/main" id="{484331B0-DAEB-B948-02F5-30EC48A6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1861CD8F-440D-BC91-3C29-3431B04A2E5D}"/>
              </a:ext>
            </a:extLst>
          </p:cNvPr>
          <p:cNvSpPr/>
          <p:nvPr/>
        </p:nvSpPr>
        <p:spPr>
          <a:xfrm>
            <a:off x="6199435" y="1698815"/>
            <a:ext cx="941832" cy="274320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8CD078-BE17-5A11-6518-CFDB18FD4FAE}"/>
              </a:ext>
            </a:extLst>
          </p:cNvPr>
          <p:cNvSpPr txBox="1"/>
          <p:nvPr/>
        </p:nvSpPr>
        <p:spPr>
          <a:xfrm>
            <a:off x="6199435" y="1707959"/>
            <a:ext cx="94183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dirty="0">
                <a:solidFill>
                  <a:srgbClr val="FFFFFF"/>
                </a:solidFill>
                <a:latin typeface="Rostelecom Basis"/>
              </a:rPr>
              <a:t>СТАНДАРТ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Вертикальный_белы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777240"/>
            <a:ext cx="2468880" cy="3127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71800" y="4315968"/>
            <a:ext cx="6263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Спасибо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" y="6400800"/>
            <a:ext cx="11411712" cy="0"/>
          </a:xfrm>
          <a:prstGeom prst="line">
            <a:avLst/>
          </a:prstGeom>
          <a:noFill/>
          <a:ln w="8890">
            <a:solidFill>
              <a:srgbClr val="4046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37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8EC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E3E8E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3758</Words>
  <Application>Microsoft Office PowerPoint</Application>
  <PresentationFormat>Широкоэкранный</PresentationFormat>
  <Paragraphs>840</Paragraphs>
  <Slides>52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8" baseType="lpstr">
      <vt:lpstr>Aptos Display</vt:lpstr>
      <vt:lpstr>Arial</vt:lpstr>
      <vt:lpstr>Calibri</vt:lpstr>
      <vt:lpstr>Calibri Light</vt:lpstr>
      <vt:lpstr>Rostelecom Basis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Veriasov</dc:creator>
  <cp:lastModifiedBy>Nikita Veriasov</cp:lastModifiedBy>
  <cp:revision>14</cp:revision>
  <dcterms:created xsi:type="dcterms:W3CDTF">2026-10-03T11:00:59Z</dcterms:created>
  <dcterms:modified xsi:type="dcterms:W3CDTF">2026-10-03T11:37:40Z</dcterms:modified>
</cp:coreProperties>
</file>