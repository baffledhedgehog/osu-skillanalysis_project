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87" r:id="rId2"/>
    <p:sldId id="339" r:id="rId3"/>
    <p:sldId id="340" r:id="rId4"/>
    <p:sldId id="373" r:id="rId5"/>
    <p:sldId id="341" r:id="rId6"/>
    <p:sldId id="374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99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273" r:id="rId25"/>
    <p:sldId id="358" r:id="rId26"/>
    <p:sldId id="359" r:id="rId27"/>
    <p:sldId id="377" r:id="rId28"/>
    <p:sldId id="378" r:id="rId29"/>
    <p:sldId id="379" r:id="rId30"/>
    <p:sldId id="360" r:id="rId31"/>
    <p:sldId id="380" r:id="rId32"/>
    <p:sldId id="361" r:id="rId33"/>
    <p:sldId id="362" r:id="rId34"/>
    <p:sldId id="363" r:id="rId35"/>
    <p:sldId id="382" r:id="rId36"/>
    <p:sldId id="383" r:id="rId37"/>
    <p:sldId id="384" r:id="rId38"/>
    <p:sldId id="385" r:id="rId39"/>
    <p:sldId id="387" r:id="rId40"/>
    <p:sldId id="364" r:id="rId41"/>
    <p:sldId id="365" r:id="rId42"/>
    <p:sldId id="388" r:id="rId43"/>
    <p:sldId id="389" r:id="rId44"/>
    <p:sldId id="390" r:id="rId45"/>
    <p:sldId id="391" r:id="rId46"/>
    <p:sldId id="392" r:id="rId47"/>
    <p:sldId id="393" r:id="rId48"/>
    <p:sldId id="366" r:id="rId49"/>
    <p:sldId id="394" r:id="rId50"/>
    <p:sldId id="400" r:id="rId51"/>
    <p:sldId id="395" r:id="rId52"/>
    <p:sldId id="397" r:id="rId53"/>
    <p:sldId id="398" r:id="rId54"/>
    <p:sldId id="369" r:id="rId55"/>
    <p:sldId id="370" r:id="rId56"/>
    <p:sldId id="322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DF851C-71F4-43BB-9695-E7D26776DE0A}">
          <p14:sldIdLst>
            <p14:sldId id="287"/>
            <p14:sldId id="339"/>
            <p14:sldId id="340"/>
            <p14:sldId id="373"/>
            <p14:sldId id="341"/>
            <p14:sldId id="374"/>
            <p14:sldId id="342"/>
            <p14:sldId id="343"/>
            <p14:sldId id="344"/>
            <p14:sldId id="345"/>
            <p14:sldId id="346"/>
            <p14:sldId id="347"/>
            <p14:sldId id="348"/>
            <p14:sldId id="399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273"/>
            <p14:sldId id="358"/>
            <p14:sldId id="359"/>
            <p14:sldId id="377"/>
            <p14:sldId id="378"/>
            <p14:sldId id="379"/>
            <p14:sldId id="360"/>
            <p14:sldId id="380"/>
            <p14:sldId id="361"/>
            <p14:sldId id="362"/>
            <p14:sldId id="363"/>
            <p14:sldId id="382"/>
            <p14:sldId id="383"/>
            <p14:sldId id="384"/>
            <p14:sldId id="385"/>
            <p14:sldId id="387"/>
            <p14:sldId id="364"/>
            <p14:sldId id="365"/>
            <p14:sldId id="388"/>
            <p14:sldId id="389"/>
            <p14:sldId id="390"/>
            <p14:sldId id="391"/>
            <p14:sldId id="392"/>
            <p14:sldId id="393"/>
            <p14:sldId id="366"/>
            <p14:sldId id="394"/>
            <p14:sldId id="400"/>
            <p14:sldId id="395"/>
            <p14:sldId id="397"/>
            <p14:sldId id="398"/>
            <p14:sldId id="369"/>
            <p14:sldId id="370"/>
            <p14:sldId id="322"/>
          </p14:sldIdLst>
        </p14:section>
        <p14:section name="Раздел по умолчанию" id="{C4EC6E4A-5956-4D8D-9118-698E5BADD1C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ita Veriasov" initials="NV" lastIdx="1" clrIdx="0">
    <p:extLst>
      <p:ext uri="{19B8F6BF-5375-455C-9EA6-DF929625EA0E}">
        <p15:presenceInfo xmlns:p15="http://schemas.microsoft.com/office/powerpoint/2012/main" userId="acaf56e19c4812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09T22:15:59.899" idx="1">
    <p:pos x="10" y="10"/>
    <p:text>«будет определено позднее».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87F09-AD1C-4092-9EF4-1CBECE1EFDAF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24A8F-DD6B-4B4A-9A77-15102BBC8C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03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студентов: что будет, если перейти к планированию без ТЗ?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BB355-C855-E5F9-790A-54E329B2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6571-4F81-8025-931B-7E36EFDFA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E2963-C3A5-68B3-1280-E72341C5E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9EC6C-2882-4774-A97E-BE5B82C1B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17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реестр можно менять чаще, а ТЗ фиксирует версию договорённостей.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продолжение слайда из прошлой пары, но теперь связываем с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Объяснить, что AC не всегда равен тест-кейсу, но должен быть тестируемым.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«будет определено позднее».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Хороший момент заставить команды думать про защиту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876A3-E956-5C50-D31B-C1C34AB33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A1FD05-4586-43B5-D838-D817E9B3C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CE348F-16DB-308A-8783-B6BC9EDC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D8835A-093D-0785-1C7B-D0FA12EBD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CD84FF-35DE-840E-B445-FE78FF50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0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BBD17-1911-130C-5B2B-249ACAB2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1DCE3A-6D61-E14B-3B85-F51C234FA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1A8D8-0758-27BF-1B26-31662ED4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89D231-AB39-7521-1702-FC61156A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3DC68B-877D-BAC4-6C61-A08752AB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74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BF52A-B3D0-AE00-6814-DB286D1E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6E8BDD-0675-553B-4812-05BC28466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85186C-6DA8-B80D-065E-98C3C710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C2E578-6514-6522-2ABF-C623D9CD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8136BC-825C-3DD2-72FE-6DF60675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33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E245F-CDC7-83E0-35D3-1B49AEBE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2F799C-1E57-B266-6CC8-4ACC0D250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A60F37-87E4-F315-A668-E8D6A9081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96BA0C-919E-14AA-78F8-EF9CC1BD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0E9122-AE6A-572C-24B4-BF773DE5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E287C8-7494-10C4-D134-DC7161C1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48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263B1-DE7A-9FFA-C4F2-6FC710FF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F99058-6865-B8D0-7A15-0362E10C5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C0C530-B9EF-7992-D520-329A64550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2362F-572F-5094-27BB-0B33E306A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838843-2DC5-EC7D-08B7-5117170A5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8FC274-99B4-1515-57A0-CB64DC07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35C46C-CAF4-67AD-2F9F-48288EB6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6AD181-0168-B86B-4961-5BC8D67F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43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26643-44D7-68F1-0762-D905A591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446AF3-94AE-033F-74D8-601707F3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4731DE-07E6-114B-FE6F-59B2F44E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19B35C-3B4F-C9CA-FF21-284C73E9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32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7A032E-199A-5A99-EA16-827C9CEE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5C0355-3C65-50CE-AE7F-99085107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DFAB4A-BE9E-9ABC-6E62-4A0B6BCC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4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277CA-FF27-0193-6C8E-22B4992E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DEC303-B3F2-7C20-F550-90E123E81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DCD0A8-FE8F-1D19-CF80-609F5DD48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AC1D42-3FE6-5112-F759-CE692523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0C4432-FC76-C5BE-C827-516D2113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F0E701-FDD5-9478-C4A9-45EB466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74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8F016-C9AE-5238-7986-D1B6A079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7A0D65-12A1-11D1-26D2-6E89514BAB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C8AED0-A0E3-1298-1328-81DA8DEEC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4D789E-62AF-D955-120A-1D344754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620F27-56B1-1DDB-9636-57AD4D4D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BD10CC-4511-040D-D11F-976621E3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94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D0D8A-4B99-8E15-58D5-8CFEF35F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BD75E8-8781-5A69-20BC-2DF8F049E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761B48-A0A4-13A8-0FB4-0CC52BAB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62BF93-BA0F-4606-45BF-8E7C3B3C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B700B-27D8-AE7E-BAC7-FF35F74E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41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D9C5427-DA25-B38E-BE89-A74015491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4E412D-8672-2C50-4BE7-D1C38520D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DEE10A-E465-B028-8E88-72BFF77D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E1D7-E088-BD44-7817-491C8A9B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CF3AD-7276-A9BC-B163-DD8F2B6A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71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DARK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82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4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C30D5-E8E3-1CAB-7D3E-226AC924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2909F5-8902-C6CF-9B98-23FAA0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7D4A9-E4A4-B44E-8AE6-CEF6DC41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74FE37-975E-074B-DDB2-C7C676B8A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39E2A9-0CC2-737C-409B-9665F8B7D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1972E-E66D-4A01-A89C-7181F91E76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27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comments" Target="../comments/commen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pic>
        <p:nvPicPr>
          <p:cNvPr id="4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178" y="305344"/>
            <a:ext cx="1159454" cy="1477736"/>
          </a:xfrm>
          <a:prstGeom prst="rect">
            <a:avLst/>
          </a:prstGeom>
          <a:solidFill>
            <a:srgbClr val="101828"/>
          </a:solidFill>
        </p:spPr>
      </p:pic>
      <p:sp>
        <p:nvSpPr>
          <p:cNvPr id="5" name="Text 2"/>
          <p:cNvSpPr/>
          <p:nvPr/>
        </p:nvSpPr>
        <p:spPr>
          <a:xfrm>
            <a:off x="658368" y="100584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ИТ-проектами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28346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13232" y="3913632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970641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09.03.01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3913632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75104" y="3970641"/>
            <a:ext cx="1490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 курс · 7 семестр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75888" y="3913632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3730752" y="3970641"/>
            <a:ext cx="1764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FFFF"/>
                </a:solidFill>
                <a:ea typeface="Rostelecom Basis" pitchFamily="34" charset="-122"/>
              </a:rPr>
              <a:t>14 часов лекций/16 часов практических занятий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9799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Ростелеком ИТ Школа × Университет Иннополис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5504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2026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393C88-7473-3270-ADC6-FDCA88AF6C2E}"/>
              </a:ext>
            </a:extLst>
          </p:cNvPr>
          <p:cNvSpPr txBox="1"/>
          <p:nvPr/>
        </p:nvSpPr>
        <p:spPr>
          <a:xfrm>
            <a:off x="640080" y="2816352"/>
            <a:ext cx="6949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0" i="0" dirty="0">
                <a:solidFill>
                  <a:srgbClr val="D0D5DD"/>
                </a:solidFill>
                <a:latin typeface="Rostelecom Basis"/>
              </a:rPr>
              <a:t>Scope</a:t>
            </a:r>
            <a:r>
              <a:rPr sz="1600" b="0" i="0" dirty="0">
                <a:solidFill>
                  <a:srgbClr val="D0D5DD"/>
                </a:solidFill>
                <a:latin typeface="Rostelecom Basis"/>
              </a:rPr>
              <a:t> · </a:t>
            </a:r>
            <a:r>
              <a:rPr lang="en-US" sz="1600" b="0" i="0" dirty="0">
                <a:solidFill>
                  <a:srgbClr val="D0D5DD"/>
                </a:solidFill>
                <a:latin typeface="Rostelecom Basis"/>
              </a:rPr>
              <a:t>WBS</a:t>
            </a:r>
            <a:r>
              <a:rPr sz="1600" b="0" i="0" dirty="0">
                <a:solidFill>
                  <a:srgbClr val="D0D5DD"/>
                </a:solidFill>
                <a:latin typeface="Rostelecom Basis"/>
              </a:rPr>
              <a:t> · </a:t>
            </a:r>
            <a:r>
              <a:rPr lang="en-US" sz="1600" b="0" i="0" dirty="0" err="1">
                <a:solidFill>
                  <a:srgbClr val="D0D5DD"/>
                </a:solidFill>
                <a:latin typeface="Rostelecom Basis"/>
              </a:rPr>
              <a:t>ProjectLibre</a:t>
            </a:r>
            <a:endParaRPr sz="1600" b="0" i="0" dirty="0">
              <a:solidFill>
                <a:srgbClr val="D0D5DD"/>
              </a:solidFill>
              <a:latin typeface="Rostelecom Basis"/>
            </a:endParaRP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B8729FB8-1642-D0D1-0FE2-0964C36D25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Где мы в учебном треке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018520" y="6015329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5713577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5722721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ТРЕК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298448" y="2112264"/>
            <a:ext cx="10424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Старт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108960" y="2112264"/>
            <a:ext cx="10424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2542032" y="1828800"/>
            <a:ext cx="566928" cy="56692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42032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313432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2953512" y="2240280"/>
            <a:ext cx="164592" cy="16459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19472" y="2112264"/>
            <a:ext cx="10424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4352544" y="1828800"/>
            <a:ext cx="566928" cy="56692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23944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729984" y="2112264"/>
            <a:ext cx="10424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6163056" y="1828800"/>
            <a:ext cx="566928" cy="56692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63056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34456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8540496" y="2112264"/>
            <a:ext cx="10424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7973568" y="1828800"/>
            <a:ext cx="566928" cy="56692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73568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744968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Передача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9784080" y="1828800"/>
            <a:ext cx="566928" cy="566928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784080" y="1892808"/>
            <a:ext cx="5669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555480" y="2514600"/>
            <a:ext cx="10241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ПСИ / ОПЭ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658368" y="3299561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9536" y="3500729"/>
            <a:ext cx="1005840" cy="27432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" y="3509873"/>
            <a:ext cx="10058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ru-RU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Ранее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859536" y="4012793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Старт проекта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59536" y="4652873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Проблема, цель, заказчик, стейкхолдеры, первичные требования и допущения.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407408" y="3299561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08576" y="3500729"/>
            <a:ext cx="914400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08576" y="3509873"/>
            <a:ext cx="9144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СЕГОДНЯ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4608576" y="4012793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 и Scope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608576" y="4652873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Уточняем требования, границы, критерии приёмки и фиксируем согласованный результат.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156448" y="3299561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57616" y="3500729"/>
            <a:ext cx="914400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57616" y="3509873"/>
            <a:ext cx="91440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ДАЛЬШЕ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8357616" y="4012793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 и план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357616" y="4652873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Разбиваем результат на работы, зависимости, вехи и первый план в ProjectLibre.</a:t>
            </a:r>
            <a:endParaRPr lang="en-US" sz="1150" dirty="0"/>
          </a:p>
        </p:txBody>
      </p:sp>
      <p:sp>
        <p:nvSpPr>
          <p:cNvPr id="49" name="Shape 0">
            <a:extLst>
              <a:ext uri="{FF2B5EF4-FFF2-40B4-BE49-F238E27FC236}">
                <a16:creationId xmlns:a16="http://schemas.microsoft.com/office/drawing/2014/main" id="{9E8C25F5-6122-01B7-6F46-BE89A6DF3B6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B7EF0E95-AC69-0AB4-E3A8-B8E4A7351EFF}"/>
              </a:ext>
            </a:extLst>
          </p:cNvPr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ru-RU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Примерный план занятия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292852"/>
              </p:ext>
            </p:extLst>
          </p:nvPr>
        </p:nvGraphicFramePr>
        <p:xfrm>
          <a:off x="658368" y="1508760"/>
          <a:ext cx="10835640" cy="45171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Время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Блок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0–15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Разбор домашнего задания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Gate 1: проблема, цель, стейкхолдеры, требования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15–35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Зачем нужно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Требования ≠ ТЗ; что фиксируем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35–65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Структура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Функции, данные, интеграции, критерии приёмки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65–85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Практика CRM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Перевод пожеланий в требования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85–95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Перерыв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95–120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Scope / Out of Scope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Границы проекта и управляемое «не делаем»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120–150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WBS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Декомпозиция результата в работы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150–172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ProjectLibre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Задачи, зависимости, вехи, ресурсы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7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172–180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Домашнее задание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Пакет: ТЗ + Scope + WBS + черновик плана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1A0BD-2354-6D5F-D8F9-8E59992A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ABC7BAE-500F-B969-8F9D-19ABADD201CC}"/>
              </a:ext>
            </a:extLst>
          </p:cNvPr>
          <p:cNvSpPr/>
          <p:nvPr/>
        </p:nvSpPr>
        <p:spPr>
          <a:xfrm>
            <a:off x="9189720" y="182880"/>
            <a:ext cx="2148840" cy="214884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459689-EE71-CCF2-D66A-85327BD8BF01}"/>
              </a:ext>
            </a:extLst>
          </p:cNvPr>
          <p:cNvSpPr/>
          <p:nvPr/>
        </p:nvSpPr>
        <p:spPr>
          <a:xfrm>
            <a:off x="10058400" y="2011680"/>
            <a:ext cx="1325880" cy="1325880"/>
          </a:xfrm>
          <a:prstGeom prst="ellipse">
            <a:avLst/>
          </a:prstGeom>
          <a:solidFill>
            <a:srgbClr val="B76CFF"/>
          </a:solidFill>
          <a:ln>
            <a:solidFill>
              <a:srgbClr val="B7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B363A8-2AB2-FECA-4994-638F788EC5BA}"/>
              </a:ext>
            </a:extLst>
          </p:cNvPr>
          <p:cNvSpPr/>
          <p:nvPr/>
        </p:nvSpPr>
        <p:spPr>
          <a:xfrm>
            <a:off x="10195560" y="4480560"/>
            <a:ext cx="1554480" cy="155448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Основной_белый.png">
            <a:extLst>
              <a:ext uri="{FF2B5EF4-FFF2-40B4-BE49-F238E27FC236}">
                <a16:creationId xmlns:a16="http://schemas.microsoft.com/office/drawing/2014/main" id="{9CF7BCC3-AF88-E43F-61BA-2BDB1072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49" y="888270"/>
            <a:ext cx="1600200" cy="418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17FF0-0E29-BAF9-BA83-D6A97790AED3}"/>
              </a:ext>
            </a:extLst>
          </p:cNvPr>
          <p:cNvSpPr txBox="1"/>
          <p:nvPr/>
        </p:nvSpPr>
        <p:spPr>
          <a:xfrm>
            <a:off x="640080" y="1965960"/>
            <a:ext cx="713232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4400" b="1" i="0" dirty="0">
                <a:solidFill>
                  <a:srgbClr val="FFFFFF"/>
                </a:solidFill>
                <a:latin typeface="Aptos Display"/>
              </a:rPr>
              <a:t>Техническое задание,</a:t>
            </a:r>
          </a:p>
          <a:p>
            <a:pPr algn="l">
              <a:lnSpc>
                <a:spcPct val="100000"/>
              </a:lnSpc>
            </a:pPr>
            <a:r>
              <a:rPr lang="en-US" sz="4400" b="1" i="0" dirty="0">
                <a:solidFill>
                  <a:srgbClr val="FFFFFF"/>
                </a:solidFill>
                <a:latin typeface="Aptos Display"/>
              </a:rPr>
              <a:t>Scope</a:t>
            </a:r>
            <a:endParaRPr sz="44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C1AFD-8DAB-FBFA-8CC1-8082A9853BD2}"/>
              </a:ext>
            </a:extLst>
          </p:cNvPr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D0D5DD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078E9E-AE24-1E63-C64F-F29540CA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4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От первичных требований к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Сырые пожелания нужно превратить в согласованный, проверяемый и управляемый результат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31520" y="187452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" y="2011680"/>
            <a:ext cx="329184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2020824"/>
            <a:ext cx="32918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2395728"/>
            <a:ext cx="1417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Пожелания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896112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«Нужна удобная CRM»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2532888" y="2487168"/>
            <a:ext cx="338328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44368" y="187452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63240" y="2011680"/>
            <a:ext cx="329184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2020824"/>
            <a:ext cx="32918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108960" y="2395728"/>
            <a:ext cx="1417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Анализ</a:t>
            </a:r>
            <a:endParaRPr lang="en-US" sz="1380" dirty="0"/>
          </a:p>
        </p:txBody>
      </p:sp>
      <p:sp>
        <p:nvSpPr>
          <p:cNvPr id="20" name="Text 17"/>
          <p:cNvSpPr/>
          <p:nvPr/>
        </p:nvSpPr>
        <p:spPr>
          <a:xfrm>
            <a:off x="3108960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именно нужно и кому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4745736" y="2487168"/>
            <a:ext cx="338328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157216" y="187452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76088" y="2011680"/>
            <a:ext cx="329184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76088" y="2020824"/>
            <a:ext cx="32918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321808" y="2395728"/>
            <a:ext cx="1417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Приоритеты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5321808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Must / Should / Could / Won’t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6958584" y="2487168"/>
            <a:ext cx="338328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370064" y="1874520"/>
            <a:ext cx="1783080" cy="1234440"/>
          </a:xfrm>
          <a:prstGeom prst="roundRect">
            <a:avLst/>
          </a:prstGeom>
          <a:solidFill>
            <a:srgbClr val="F4EB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88936" y="2011680"/>
            <a:ext cx="329184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88936" y="2020824"/>
            <a:ext cx="32918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534656" y="2395728"/>
            <a:ext cx="1417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1380" dirty="0"/>
          </a:p>
        </p:txBody>
      </p:sp>
      <p:sp>
        <p:nvSpPr>
          <p:cNvPr id="32" name="Text 29"/>
          <p:cNvSpPr/>
          <p:nvPr/>
        </p:nvSpPr>
        <p:spPr>
          <a:xfrm>
            <a:off x="7534656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создаём и как примем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9171432" y="2487168"/>
            <a:ext cx="338328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9582912" y="187452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701784" y="2011680"/>
            <a:ext cx="329184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701784" y="2020824"/>
            <a:ext cx="329184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747504" y="2395728"/>
            <a:ext cx="14173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1380" dirty="0"/>
          </a:p>
        </p:txBody>
      </p:sp>
      <p:sp>
        <p:nvSpPr>
          <p:cNvPr id="38" name="Text 35"/>
          <p:cNvSpPr/>
          <p:nvPr/>
        </p:nvSpPr>
        <p:spPr>
          <a:xfrm>
            <a:off x="9747504" y="2770632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как делаем и когда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822960" y="3931920"/>
            <a:ext cx="10424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Ключевая идея: ТЗ — это не «переписанный реестр требований», а договорённость о результате, границах и критериях приёмки.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F45F-8A84-3ADA-A918-B2F8828E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3DEE31-95F0-692F-268D-1117B8DC43AA}"/>
              </a:ext>
            </a:extLst>
          </p:cNvPr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вообще нужно ТЗ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E8E6EA-2160-5996-025A-CF571D6AC7C3}"/>
              </a:ext>
            </a:extLst>
          </p:cNvPr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>
            <a:extLst>
              <a:ext uri="{FF2B5EF4-FFF2-40B4-BE49-F238E27FC236}">
                <a16:creationId xmlns:a16="http://schemas.microsoft.com/office/drawing/2014/main" id="{B15D2EB1-2286-719E-3ED0-32BBB1B25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ABBE440-6558-8CE7-A59D-247C8B348F68}"/>
              </a:ext>
            </a:extLst>
          </p:cNvPr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43C75D7-035B-689A-E694-6A2F52D5C72C}"/>
              </a:ext>
            </a:extLst>
          </p:cNvPr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8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5C64896-C806-704F-A9B9-7076F064D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38" y="897056"/>
            <a:ext cx="9705110" cy="54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8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вообще нужно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 снижает риск разного понимания результата проекта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00200"/>
            <a:ext cx="5257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1828800"/>
            <a:ext cx="1051560" cy="283464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3794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БЕЗ ТЗ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6968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Каждый понимает по-своему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6968" y="2907792"/>
            <a:ext cx="4754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заказчик думает про бизнес-эффект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аналитик фиксирует функции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разработчик строит техническое решение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тестировщик проверяет то, что смог сформулировать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приёмка превращается в спор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600200"/>
            <a:ext cx="5257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828800"/>
            <a:ext cx="1051560" cy="283464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83794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 ТЗ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Есть общий договор о результате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00800" y="2907792"/>
            <a:ext cx="47548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понятно, что входит в проект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понятно, что не входит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есть проверяемые требования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есть критерии приёмки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можно строить WBS и план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51560" y="5870448"/>
            <a:ext cx="10149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Формула</a:t>
            </a:r>
            <a:r>
              <a:rPr lang="en-US" sz="12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ТЗ = «что создаём» + «для кого» + «по каким правилам» + «как проверим».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Реестр требований ≠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Реестр помогает собрать материал, а ТЗ превращает его в согласованную постановку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41248" y="1719072"/>
          <a:ext cx="10561320" cy="4069079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Реестр требований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Техническое задание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Набор отдельных требований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Целостное описание создаваемого результата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Может содержать черновики и TBD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Фиксирует согласованную версию требований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Показывает: кто чего хочет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Показывает: что именно реализуем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Нужен команде для анализа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Нужен команде, заказчику и приёмке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Может содержать противоречия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Противоречия должны быть разрешены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Источник для обсуждения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44054"/>
                          </a:solidFill>
                        </a:rPr>
                        <a:t>Основание для плана, тестов и приёмки</a:t>
                      </a:r>
                      <a:endParaRPr lang="en-US" sz="12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</a:t>
            </a: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31520" y="153619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709928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71907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44752" y="164592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Контекст и основание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11880" y="165506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зачем проект появился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6217920" y="153619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1709928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71907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31152" y="164592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Цель и результат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098280" y="165506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должно измениться и что передаём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731520" y="258775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2761488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277063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444752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Scope / Out of Scope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611880" y="270662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границы проекта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217920" y="258775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55080" y="2761488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277063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31152" y="269748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Пользователи и роли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098280" y="270662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кто работает с результатом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731520" y="363931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381304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382219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444752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Функциональные требования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3611880" y="375818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система должна делать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6217920" y="363931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5080" y="381304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55080" y="382219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931152" y="374904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Нефункциональные требования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9262872" y="3758184"/>
            <a:ext cx="17099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как хорошо должна работать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731520" y="469087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68680" y="486460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8680" y="487375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444752" y="480060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Данные / интеграции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3611880" y="480974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источники, форматы, связи</a:t>
            </a:r>
            <a:endParaRPr lang="en-US" sz="1030" dirty="0"/>
          </a:p>
        </p:txBody>
      </p:sp>
      <p:sp>
        <p:nvSpPr>
          <p:cNvPr id="45" name="Shape 42"/>
          <p:cNvSpPr/>
          <p:nvPr/>
        </p:nvSpPr>
        <p:spPr>
          <a:xfrm>
            <a:off x="6217920" y="4690872"/>
            <a:ext cx="498348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55080" y="486460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55080" y="487375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8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931152" y="4800600"/>
            <a:ext cx="2331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Критерии приёмки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9098280" y="4809744"/>
            <a:ext cx="1874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как докажем готовность</a:t>
            </a:r>
            <a:endParaRPr lang="en-US" sz="1030" dirty="0"/>
          </a:p>
        </p:txBody>
      </p:sp>
      <p:sp>
        <p:nvSpPr>
          <p:cNvPr id="50" name="Text 47"/>
          <p:cNvSpPr/>
          <p:nvPr/>
        </p:nvSpPr>
        <p:spPr>
          <a:xfrm>
            <a:off x="850392" y="5870448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Хорошее ТЗ можно проверить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Если критерий нельзя проверить — это пока не требование, а пожелание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13232" y="16916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1874520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883664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2267712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Однозначность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96112" y="2624328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одно толкование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502152" y="16916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85032" y="1874520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85032" y="1883664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85032" y="2267712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Атомарность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85032" y="2624328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одно требование — одна мысль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91072" y="16916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1874520"/>
            <a:ext cx="384048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1883664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73952" y="2267712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Проверяемость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73952" y="2624328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есть тест / замер / приёмка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9079992" y="16916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62872" y="1874520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62872" y="1883664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62872" y="2267712"/>
            <a:ext cx="2103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Трассируемость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62872" y="2624328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понятен источник и связь с целью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749808" y="3931920"/>
            <a:ext cx="5230368" cy="1152144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4151376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Плохо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«CRM должна быть удобной и быстрой»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199632" y="3931920"/>
            <a:ext cx="5230368" cy="1152144"/>
          </a:xfrm>
          <a:prstGeom prst="roundRect">
            <a:avLst/>
          </a:prstGeom>
          <a:solidFill>
            <a:srgbClr val="E8F9F2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37376" y="4151376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B76A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Лучше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37376" y="4498848"/>
            <a:ext cx="4526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3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«Карточка клиента открывается ≤ 3 сек. для 95% запросов»</a:t>
            </a:r>
            <a:endParaRPr lang="en-US" sz="13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Какие требования попадут в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 учебном проекте важно показать не только функции, но и ограничения результата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152455"/>
              </p:ext>
            </p:extLst>
          </p:nvPr>
        </p:nvGraphicFramePr>
        <p:xfrm>
          <a:off x="685800" y="1508760"/>
          <a:ext cx="10835640" cy="4526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Вопрос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Пример для CRM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Бизнес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Зачем?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руководитель видит единую воронку продаж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Пользовательское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Что нужно роли?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менеджер видит историю контактов клиента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Функциональное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Что делает система?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сохраняет звонки, письма и задачи в карточке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Нефункциональное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Насколько хорошо?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карточка открывается ≤ 3 сек.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Данные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Какие данные нужны?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импорт 8 000 клиентов из Excel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 чем связана?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синхронизация контрагентов с 1С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Ограничение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Что нельзя нарушить?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авторизация через корпоративную учётную запись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CRM: превращаем пожелания в требования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Задача — убрать расплывчатость и добавить способ проверки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67015"/>
              </p:ext>
            </p:extLst>
          </p:nvPr>
        </p:nvGraphicFramePr>
        <p:xfrm>
          <a:off x="548640" y="1508760"/>
          <a:ext cx="11064240" cy="4526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Пожелание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Требование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Проверка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«Нужна единая база»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Система должна отображать единый список клиентов с исключением дублей по ИНН/телефону.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UAT + проверка выборки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«Нужна история общения»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Карточка клиента должна содержать звонки, письма, задачи и комментарии по сделкам.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тест сценария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«Руководитель хочет отчёт»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Система должна строить воронку по согласованным стадиям продаж.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сверка отчёта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«Нужно быстро»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Карточка клиента должна открываться ≤ 3 сек. для 95% запросов.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замер времени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«Есть 1С»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CRM должна получать данные контрагента из 1С по согласованному идентификатору.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интеграционный тест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 1. Переведите пожелания в ТЗ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Работаем сначала на CRM, потом на собственном кейсе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ПРАКТИКА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49808" y="1600200"/>
            <a:ext cx="438912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1810512"/>
            <a:ext cx="987552" cy="292608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819656"/>
            <a:ext cx="9875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10 минут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CRM-пожелания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743200"/>
            <a:ext cx="37947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«Чтобы всё было в одном месте»</a:t>
            </a:r>
            <a:endParaRPr lang="en-US" sz="1200" dirty="0"/>
          </a:p>
          <a:p>
            <a:r>
              <a:rPr lang="en-US" sz="12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«Нужна понятная воронка»</a:t>
            </a:r>
            <a:endParaRPr lang="en-US" sz="1200" dirty="0"/>
          </a:p>
          <a:p>
            <a:r>
              <a:rPr lang="en-US" sz="12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«Менеджеры не должны забывать задачи»</a:t>
            </a:r>
            <a:endParaRPr lang="en-US" sz="1200" dirty="0"/>
          </a:p>
          <a:p>
            <a:r>
              <a:rPr lang="en-US" sz="12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«Интеграция с 1С нужна, наверное»</a:t>
            </a:r>
            <a:endParaRPr lang="en-US" sz="1200" dirty="0"/>
          </a:p>
          <a:p>
            <a:r>
              <a:rPr lang="en-US" sz="12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«Отчёты должны быть удобными»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0" y="1600200"/>
            <a:ext cx="5897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0" y="1810512"/>
            <a:ext cx="987552" cy="292608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1819656"/>
            <a:ext cx="98755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ЗАДАНИЕ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15000" y="2286000"/>
            <a:ext cx="4983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Для каждого пункта сформулируйте: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0" y="2743200"/>
            <a:ext cx="51663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3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 проверяемое требование</a:t>
            </a:r>
            <a:endParaRPr lang="en-US" sz="1230" dirty="0"/>
          </a:p>
          <a:p>
            <a:r>
              <a:rPr lang="en-US" sz="123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тип требования</a:t>
            </a:r>
            <a:endParaRPr lang="en-US" sz="1230" dirty="0"/>
          </a:p>
          <a:p>
            <a:r>
              <a:rPr lang="en-US" sz="123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источник / стейкхолдер</a:t>
            </a:r>
            <a:endParaRPr lang="en-US" sz="1230" dirty="0"/>
          </a:p>
          <a:p>
            <a:r>
              <a:rPr lang="en-US" sz="123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приоритет MoSCoW</a:t>
            </a:r>
            <a:endParaRPr lang="en-US" sz="1230" dirty="0"/>
          </a:p>
          <a:p>
            <a:r>
              <a:rPr lang="en-US" sz="123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критерий проверки</a:t>
            </a:r>
            <a:endParaRPr lang="en-US" sz="12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86DBCA-75C6-553A-CBA7-4825BACBF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8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Критерии приёмки: как докажем, что сделано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Acceptance Criteria связывают требования, тесты и финальную защиту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005840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REQ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15568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требуется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17520" y="2404872"/>
            <a:ext cx="457200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703320" y="1828800"/>
            <a:ext cx="2011680" cy="1143000"/>
          </a:xfrm>
          <a:prstGeom prst="roundRect">
            <a:avLst/>
          </a:prstGeom>
          <a:solidFill>
            <a:srgbClr val="F4EB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13048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AC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813048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как проверить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2404872"/>
            <a:ext cx="457200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00800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TEST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10528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чем проверяем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12480" y="2404872"/>
            <a:ext cx="457200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098280" y="1828800"/>
            <a:ext cx="2011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8008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208008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какое доказательство покажем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3794760"/>
            <a:ext cx="10652760" cy="12252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87552" y="4370832"/>
            <a:ext cx="10012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REQ: «Система отображает историю контактов клиента» → AC: «В карточке клиента отображаются минимум 3 типа событий: звонок, письмо, задача; пользователь с ролью менеджер видит события своего клиента».</a:t>
            </a:r>
            <a:endParaRPr lang="en-US" sz="11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Метрики и baseline в ML/AI-кейсах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Техническую метрику выбирает команда, но она должна быть связана с бизнес-целью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ML/AI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9164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892808"/>
            <a:ext cx="1097280" cy="27432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190195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59536" y="240487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Бизнес-метрика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" y="304495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должно улучшиться для организации: снижение оттока, ускорение обработки, уменьшение ошибок, экономия времени.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07408" y="169164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1892808"/>
            <a:ext cx="1097280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90195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МОДЕЛЬ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608576" y="240487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Техническая метрика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08576" y="304495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измеряет качество решения: accuracy, recall, F1, MAE, время ответа — выбор зависит от задачи.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56448" y="169164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57616" y="1892808"/>
            <a:ext cx="1097280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57616" y="190195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BASELINE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357616" y="240487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Точка отсчёта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57616" y="304495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Простое решение, с которым сравниваем MVP. Если сложная модель не лучше baseline — это тоже важный вывод.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Требования к данным и интеграциям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 ML/AI-проекте данные — часть результата, а не техническая деталь где-то в конце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167985"/>
              </p:ext>
            </p:extLst>
          </p:nvPr>
        </p:nvGraphicFramePr>
        <p:xfrm>
          <a:off x="749808" y="1508760"/>
          <a:ext cx="10652760" cy="4251961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Блок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Что описать в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Пример вопроса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Источник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откуда берутся данные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кто владелец данных?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Формат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CSV / API / БД / ручная загрузка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как команда получает файл?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Объём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сколько строк / период / частота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достаточно ли для MVP?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Качество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пропуски, дубли, ошибки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что считается неприемлемым?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Обновление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разово / ежедневно / по запросу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как часто нужен новый прогноз?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куда отдаём результат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CRM, дашборд, файл, API?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TBD</a:t>
            </a:r>
            <a:r>
              <a:rPr lang="ru-RU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(To Be Determined) и допущения — это нормально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Плохо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то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чего-то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знает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.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Плохо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—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выдавать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догадку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факт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.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4592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847088"/>
            <a:ext cx="1097280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185623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TBD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59536" y="235915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Требует уточнения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" y="299923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Значение пока неизвестно: «требования к времени ответа TBD после интервью с пользователями».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07408" y="164592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1847088"/>
            <a:ext cx="1097280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85623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ДОПУЩЕНИЕ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608576" y="235915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Считаем истинным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08576" y="299923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Временная опора: «предполагаем, что доступ к датасету будет предоставлен до 10.10».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56448" y="164592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57616" y="1847088"/>
            <a:ext cx="1097280" cy="274320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57616" y="185623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РИСК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357616" y="235915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Может не подтвердиться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57616" y="299923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Если допущение критично и может сорваться — переносим в реестр рисков.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3. ТЗ готово к планированию?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GATE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841248" y="1627632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618488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1609344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Проблема, цель и результат согласованы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27648" y="1627632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1618488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1609344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Scope / Out of Scope определены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41248" y="2505456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2496312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2487168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Must-требования проверяемы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27648" y="2505456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2496312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66560" y="2487168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Критерии приёмки связаны с требованиями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1248" y="3383280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374136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80160" y="3364992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Метрики и baseline определены или отмечены TBD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27648" y="3383280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27648" y="3374136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66560" y="3364992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Данные и интеграции описаны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41248" y="4261104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1248" y="4251960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80160" y="4242816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Ограничения, допущения и риски зафиксированы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27648" y="4261104"/>
            <a:ext cx="310896" cy="31089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7648" y="4251960"/>
            <a:ext cx="3108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766560" y="4242816"/>
            <a:ext cx="47548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Есть версия документа и ответственный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Перерыв 10 минут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После перерыва переходим от «что сделать» к «как разложить на работы»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ПЕРЕРЫВ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920240" y="1920240"/>
            <a:ext cx="8321040" cy="2331720"/>
          </a:xfrm>
          <a:prstGeom prst="roundRect">
            <a:avLst/>
          </a:prstGeom>
          <a:solidFill>
            <a:srgbClr val="F4EB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0280" y="2468880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 отвечает на вопрос: ЧТО создать?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2240280" y="3154680"/>
            <a:ext cx="76809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 и ProjectLibre отвечают: КАК это сделать, в какой последовательности и кто за что отвечает.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что входит и что не входит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Границы проекта защищают команду от бесконечного расширения ожиданий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SCOPE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91640"/>
            <a:ext cx="52578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1920240"/>
            <a:ext cx="1051560" cy="283464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92938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ВХОДИТ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6968" y="239572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Scope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6968" y="2999232"/>
            <a:ext cx="47548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работы и результаты, которые команда обязуется сделать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функции и сценарии первой версии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данные, интеграции, документация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критерии приёмки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691640"/>
            <a:ext cx="52578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920240"/>
            <a:ext cx="1051560" cy="283464"/>
          </a:xfrm>
          <a:prstGeom prst="roundRect">
            <a:avLst/>
          </a:prstGeom>
          <a:solidFill>
            <a:srgbClr val="D92D20"/>
          </a:solidFill>
          <a:ln w="12700">
            <a:solidFill>
              <a:srgbClr val="D92D2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92938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 ВХОДИТ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239572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00800" y="2999232"/>
            <a:ext cx="47548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то, что сознательно не делаем сейчас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идеи «можно бы ещё»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большие функции следующих релизов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смежные процессы, не относящиеся к цели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5840" y="5824728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Хороший Out of Scope снижает конфликт на приёмке: «мы это не забыли, мы это сознательно исключили».</a:t>
            </a:r>
            <a:endParaRPr lang="en-US" sz="12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CRM: пример Scope / Out of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Показываем студентам: границы не менее важны, чем список функций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CRM</a:t>
            </a:r>
            <a:endParaRPr lang="en-US" sz="7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663388"/>
              </p:ext>
            </p:extLst>
          </p:nvPr>
        </p:nvGraphicFramePr>
        <p:xfrm>
          <a:off x="777240" y="1508760"/>
          <a:ext cx="10241280" cy="370332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 of Scope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настройка CRM под B2B-продажи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разработка собственной CRM с нуля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миграция клиентской базы из Excel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полная модернизация 1С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интеграция с 1С по контрагентам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перестройка всей оргструктуры продаж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интеграция с корпоративной почтой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внедрение сквозного BI по всем подразделениям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обучение 25 менеджеров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автоматизация всех процессов компании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Задание: добавьте по одному пункту в Scope и Out of Scope </a:t>
            </a:r>
            <a:r>
              <a:rPr lang="en-US" sz="1300" b="1" dirty="0" err="1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для</a:t>
            </a:r>
            <a:r>
              <a:rPr lang="en-US" sz="13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300" b="1" dirty="0" err="1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своего</a:t>
            </a:r>
            <a:r>
              <a:rPr lang="ru-RU" sz="13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300" b="1" dirty="0" err="1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кейса</a:t>
            </a:r>
            <a:r>
              <a:rPr lang="en-US" sz="13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 2. Определите границы своего проекта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должна уметь сказать не только «что делаем», но и «что пока не делаем»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ПРАКТИКА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77239" y="1645920"/>
            <a:ext cx="9578043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874520"/>
            <a:ext cx="1024128" cy="292608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883664"/>
            <a:ext cx="1024128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15 минут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05840" y="2331720"/>
            <a:ext cx="4297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Заполните 2 колонки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05840" y="2852928"/>
            <a:ext cx="4343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6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 пунктов Scope</a:t>
            </a:r>
            <a:endParaRPr lang="en-US" sz="1260" dirty="0"/>
          </a:p>
          <a:p>
            <a:r>
              <a:rPr lang="en-US" sz="126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 пунктов Out of Scope</a:t>
            </a:r>
            <a:endParaRPr lang="en-US" sz="1260" dirty="0"/>
          </a:p>
          <a:p>
            <a:r>
              <a:rPr lang="en-US" sz="126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 спорный пункт, который нужно согласовать</a:t>
            </a:r>
            <a:endParaRPr lang="en-US" sz="1260" dirty="0"/>
          </a:p>
          <a:p>
            <a:r>
              <a:rPr lang="en-US" sz="126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 риск, если границы не зафиксировать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309360" y="1883664"/>
            <a:ext cx="105156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ПРОВРКА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89720" y="182880"/>
            <a:ext cx="2148840" cy="2148840"/>
          </a:xfrm>
          <a:prstGeom prst="ellipse">
            <a:avLst/>
          </a:prstGeom>
          <a:solidFill>
            <a:srgbClr val="7700FF"/>
          </a:solidFill>
          <a:ln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011680"/>
            <a:ext cx="1325880" cy="1325880"/>
          </a:xfrm>
          <a:prstGeom prst="ellipse">
            <a:avLst/>
          </a:prstGeom>
          <a:solidFill>
            <a:srgbClr val="B76CFF"/>
          </a:solidFill>
          <a:ln>
            <a:solidFill>
              <a:srgbClr val="B7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95560" y="4480560"/>
            <a:ext cx="1554480" cy="1554480"/>
          </a:xfrm>
          <a:prstGeom prst="ellipse">
            <a:avLst/>
          </a:prstGeom>
          <a:solidFill>
            <a:srgbClr val="FF4F12"/>
          </a:solidFill>
          <a:ln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Основной_белы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549" y="888270"/>
            <a:ext cx="1600200" cy="418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965960"/>
            <a:ext cx="713232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 dirty="0">
                <a:solidFill>
                  <a:srgbClr val="FFFFFF"/>
                </a:solidFill>
                <a:latin typeface="Aptos Display"/>
              </a:rPr>
              <a:t>WBS</a:t>
            </a:r>
            <a:r>
              <a:rPr lang="ru-RU" sz="4400" b="1" dirty="0">
                <a:solidFill>
                  <a:srgbClr val="FFFFFF"/>
                </a:solidFill>
                <a:latin typeface="Aptos Display"/>
              </a:rPr>
              <a:t>, </a:t>
            </a:r>
            <a:r>
              <a:rPr lang="en-US" sz="4400" b="1" dirty="0">
                <a:solidFill>
                  <a:srgbClr val="FFFFFF"/>
                </a:solidFill>
                <a:latin typeface="Aptos Display"/>
              </a:rPr>
              <a:t>RACI, </a:t>
            </a:r>
            <a:r>
              <a:rPr lang="ru-RU" sz="4400" b="1" dirty="0">
                <a:solidFill>
                  <a:srgbClr val="FFFFFF"/>
                </a:solidFill>
                <a:latin typeface="Aptos Display"/>
              </a:rPr>
              <a:t>календарное планирование</a:t>
            </a:r>
            <a:endParaRPr sz="44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D0D5DD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331E28-A2F6-9BBF-F451-0FEB541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WBS: от результата к работам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Work Breakdown Structure помогает не забыть работы и не планировать «одну большую </a:t>
            </a:r>
            <a:r>
              <a:rPr lang="en-US" sz="1250" dirty="0" err="1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задачу</a:t>
            </a: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»</a:t>
            </a:r>
            <a:r>
              <a:rPr lang="ru-RU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ИСР – иерархическая структура работ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77240" y="1874520"/>
            <a:ext cx="1783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" y="2148840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Результат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8696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должно появиться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2560320" y="2468880"/>
            <a:ext cx="3566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017520" y="1874520"/>
            <a:ext cx="1783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2148840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Блоки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2724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крупные части результата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4800600" y="2468880"/>
            <a:ext cx="3566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257800" y="1874520"/>
            <a:ext cx="1783080" cy="1188720"/>
          </a:xfrm>
          <a:prstGeom prst="roundRect">
            <a:avLst/>
          </a:prstGeom>
          <a:solidFill>
            <a:srgbClr val="F4EB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67528" y="2148840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Работы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6752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нужно сделать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7040880" y="2468880"/>
            <a:ext cx="3566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98080" y="1874520"/>
            <a:ext cx="1783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07808" y="2148840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Пакеты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60780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можно оценить и назначить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9281160" y="2468880"/>
            <a:ext cx="356616" cy="0"/>
          </a:xfrm>
          <a:prstGeom prst="line">
            <a:avLst/>
          </a:prstGeom>
          <a:noFill/>
          <a:ln w="25400">
            <a:solidFill>
              <a:srgbClr val="EAECF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738360" y="1874520"/>
            <a:ext cx="1783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48088" y="2148840"/>
            <a:ext cx="1554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84808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сроки, зависимости, ресурсы</a:t>
            </a:r>
            <a:endParaRPr lang="en-US" sz="970" dirty="0"/>
          </a:p>
        </p:txBody>
      </p:sp>
      <p:sp>
        <p:nvSpPr>
          <p:cNvPr id="29" name="Text 26"/>
          <p:cNvSpPr/>
          <p:nvPr/>
        </p:nvSpPr>
        <p:spPr>
          <a:xfrm>
            <a:off x="914400" y="4206240"/>
            <a:ext cx="10058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Правило: WBS описывает работы для получения результата, а не организационную структуру команды.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строить WBS без боли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Лучше простая понятная декомпозиция, чем идеальная схема, которую никто не использует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801368"/>
            <a:ext cx="1097280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5953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От результата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Начинайте с deliverables: ТЗ, данные, модель, интерфейс, тесты, документация.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0740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1801368"/>
            <a:ext cx="1097280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60857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До управляемого размера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0857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Работа должна быть достаточно маленькой, чтобы оценить срок и назначить ответственного.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5644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57616" y="1801368"/>
            <a:ext cx="1097280" cy="274320"/>
          </a:xfrm>
          <a:prstGeom prst="roundRect">
            <a:avLst/>
          </a:prstGeom>
          <a:solidFill>
            <a:srgbClr val="12B76A"/>
          </a:solidFill>
          <a:ln w="12700">
            <a:solidFill>
              <a:srgbClr val="12B76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5761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35761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Без лишней глубины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5761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Если задача понятна и управляемая — не дробите её ради красивой структуры.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41248" y="5257800"/>
            <a:ext cx="10469880" cy="640080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5449824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Антипаттерн: «Разработка MVP — 1 задача на 6 недель». План вроде есть, но управлять нечем.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Методика № 1 — декомпозиция сверху вниз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Top-down: от результатов проекта к пакетам работ; хороший старт для новичков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ИСР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ИСР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527048"/>
            <a:ext cx="9966960" cy="594360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5256" y="1645919"/>
            <a:ext cx="82296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677923"/>
            <a:ext cx="78638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1636776"/>
            <a:ext cx="845820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CRM внедрена и передана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359152"/>
            <a:ext cx="89154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72184" y="2478024"/>
            <a:ext cx="82296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90472" y="2510028"/>
            <a:ext cx="78638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1" y="2468880"/>
            <a:ext cx="740664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01828"/>
                </a:solidFill>
                <a:latin typeface="Aptos"/>
              </a:rPr>
              <a:t>Настроенная система / данные / интеграции / передача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3191256"/>
            <a:ext cx="786384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39112" y="3310128"/>
            <a:ext cx="82296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57400" y="3342132"/>
            <a:ext cx="78638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300984"/>
            <a:ext cx="63550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01828"/>
                </a:solidFill>
                <a:latin typeface="Aptos"/>
              </a:rPr>
              <a:t>Настройка системы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5456" y="4023360"/>
            <a:ext cx="681228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06039" y="4142232"/>
            <a:ext cx="82296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24327" y="4174236"/>
            <a:ext cx="78638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1.1.1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133088"/>
            <a:ext cx="530352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01828"/>
                </a:solidFill>
                <a:latin typeface="Aptos"/>
              </a:rPr>
              <a:t>Карточка клиента · роли доступа · воронка · отчёты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407837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" y="5517565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Дробление завершаем, когда пакет можно оценить, назначить и проверить по результату.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Методика № 2 — снизу вверх и «набегающая волна»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Bottom-up помогает собрать неизвестные работы; Rolling Wave уточняет ближайшие пакеты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ИСР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ИСР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355848" cy="355701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1773936"/>
            <a:ext cx="182880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05939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BOTTOM-UP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31720"/>
            <a:ext cx="2898648" cy="2642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Команда выписывает конкретные работы: импорт Excel, настройка ролей, тест обмена 1С. Затем объединяет их в пакеты и результаты.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572768"/>
            <a:ext cx="3355848" cy="355701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773936"/>
            <a:ext cx="182880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7" y="1805939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ROLLING WAVE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331720"/>
            <a:ext cx="2898648" cy="2642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Ближний этап расписываем детально. Далёкие этапы оставляем укрупнёнными и уточняем, когда появятся данные.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572768"/>
            <a:ext cx="3355848" cy="355701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79" y="1773936"/>
            <a:ext cx="182880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7" y="1805939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КОМБИНАЦИЯ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331720"/>
            <a:ext cx="2898648" cy="2642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Сверху задаём набор результатов, снизу проверяем полноту работ; объединяем, устраняем дубли и пробелы.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35824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545552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Метод декомпозиции — не догма: выбирайте тот, который лучше выявляет пропущенные работы.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Правило 100% и словарь ИСР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Полнота: дочерние элементы вместе покрывают родительский объём — без пробелов и двойного учёта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ИСР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ИСР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5120640" cy="3447288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1810512"/>
            <a:ext cx="201168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42516"/>
            <a:ext cx="197510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ПРОВЕРКА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331720"/>
            <a:ext cx="4480560" cy="53263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Включены данные, миграция, тесты, обучение, передача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64358"/>
            <a:ext cx="4480560" cy="53263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Одна работа не продублирована в двух пакетах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96996"/>
            <a:ext cx="4480560" cy="53263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Нет лишних функций за пределами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929633"/>
            <a:ext cx="4480560" cy="53263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Есть обязательные результаты и приёмка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72768"/>
            <a:ext cx="5120640" cy="3447288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64224" y="1810512"/>
            <a:ext cx="210312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842516"/>
            <a:ext cx="2066543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СЛОВАРЬ ПАКЕТА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58568"/>
            <a:ext cx="4526280" cy="3931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40" b="0">
                <a:solidFill>
                  <a:srgbClr val="344054"/>
                </a:solidFill>
                <a:latin typeface="Aptos"/>
              </a:rPr>
              <a:t>ID: 3.2.1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06624"/>
            <a:ext cx="4526280" cy="3931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40" b="0">
                <a:solidFill>
                  <a:srgbClr val="344054"/>
                </a:solidFill>
                <a:latin typeface="Aptos"/>
              </a:rPr>
              <a:t>Результат: проверенный импорт клиентов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54680"/>
            <a:ext cx="4526280" cy="3931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40" b="0">
                <a:solidFill>
                  <a:srgbClr val="344054"/>
                </a:solidFill>
                <a:latin typeface="Aptos"/>
              </a:rPr>
              <a:t>Граница: не включает очистку исходных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02736"/>
            <a:ext cx="4526280" cy="3931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40" b="0">
                <a:solidFill>
                  <a:srgbClr val="344054"/>
                </a:solidFill>
                <a:latin typeface="Aptos"/>
              </a:rPr>
              <a:t>Готово: протокол сверки миграции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50791"/>
            <a:ext cx="4526280" cy="3931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40" b="0">
                <a:solidFill>
                  <a:srgbClr val="344054"/>
                </a:solidFill>
                <a:latin typeface="Aptos"/>
              </a:rPr>
              <a:t>Оценка: 4 раб. дня; ответственный: инженер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379844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5489572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Практический тест: для каждого пакета можно сказать «что будет на выходе?» и «как проверить готовность?»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CRM: пример верхнего уровня WBS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 образец для копирования, а способ мышления от результата к работам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800">
                <a:solidFill>
                  <a:srgbClr val="98A2B3"/>
                </a:solidFill>
              </a:rPr>
              <a:t>32</a:t>
            </a:r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CRM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034986"/>
              </p:ext>
            </p:extLst>
          </p:nvPr>
        </p:nvGraphicFramePr>
        <p:xfrm>
          <a:off x="804672" y="1554480"/>
          <a:ext cx="10652760" cy="438911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Код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Блок работ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Примеры работ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Инициация и требования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интервью, реестр требований, ТЗ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2.0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Настройка CRM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воронка, роли, карточки, справочники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3.0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Миграция данных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очистка Excel, маппинг, загрузка, сверка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4.0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Интеграции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1С, почта, тестовые обмены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5.0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Тестирование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сценарии, дефекты, приёмка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6.0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Обучение и запуск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44054"/>
                          </a:solidFill>
                        </a:rPr>
                        <a:t>инструкции, пилот, поддержка запуска</a:t>
                      </a:r>
                      <a:endParaRPr lang="en-US" sz="14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CRM: ИСР третьего уровня —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Разделяем настройку, миграцию и интеграцию на проверяемые рабочие пакеты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CRM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6002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Код ИСР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Пакет работ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Проверяемый результат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2.1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Настройка карточки клиента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Поля и карточка доступны менеджеру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2.2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Настройка ролей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Матрица доступа проверена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3.1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Очистка клиентской базы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Отчёт по дублям / пропускам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3.2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Пробная миграция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Протокол сверки записей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Обмен с 1С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Тестовый сценарий импорта контрагентов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4.2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Почтовая интеграция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История писем отображается в карточке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5.1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Проверка Must-сценариев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Протокол тестирования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ML/AI-проект: типовой WBS без углубления в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Техническую часть делает команда, но управленческая структура должна быть понятной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24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ML/AI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1005840" y="1627632"/>
          <a:ext cx="10149840" cy="397763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Блок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Что включает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1. Постановка задачи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бизнес-проблема, пользователь, требования, метрики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2. Данные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источник, доступ, описание, проверка качества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3. Baseline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простое решение и первая точка отсчёта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4. Модель / MVP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эксперименты, интерфейс, демонстрационный сценарий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5. Тестирование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проверка данных, метрик, сценариев, ограничений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6. Передача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</a:rPr>
                        <a:t>README, инструкция запуска, ограничения, ретроспектива</a:t>
                      </a:r>
                      <a:endParaRPr lang="en-US" sz="1100" dirty="0"/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 3. Соберите WBS своего кейса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Вам нужно получить черновик, который потом можно перенести в ProjectLibre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ПРАКТИКА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77240" y="1600200"/>
            <a:ext cx="5120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828800"/>
            <a:ext cx="1005840" cy="292608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1837944"/>
            <a:ext cx="1005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20 минут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7552" y="2267712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сделать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87552" y="2788920"/>
            <a:ext cx="45262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определить 5–7 крупных блоков работ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разложить каждый блок на 2–4 задачи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пометить 3–5 вех проекта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найти 3 зависимости между задачами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26480" y="1600200"/>
            <a:ext cx="516636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1828800"/>
            <a:ext cx="1005840" cy="292608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37944"/>
            <a:ext cx="1005840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ПРОВЕРКА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55080" y="2267712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Вопросы к команде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355080" y="2788920"/>
            <a:ext cx="45262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является результатом каждой работы?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можно ли назначить ответственного?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можно ли оценить срок?</a:t>
            </a:r>
            <a:endParaRPr lang="en-US" sz="1250" dirty="0"/>
          </a:p>
          <a:p>
            <a:r>
              <a:rPr lang="en-US" sz="12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понятно ли, что должно быть готово перед стартом?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ProjectLibre: что переносим из WBS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ProjectLibre не заменяет мышление. Он фиксирует план, который уже продуман.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PROJECTLIBRE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801368"/>
            <a:ext cx="1097280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ЗАДАЧИ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5953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Работы из WBS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Каждая крупная работа превращается в задачу или группу задач.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0740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1801368"/>
            <a:ext cx="1097280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СРОКИ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60857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Длительности и даты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0857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Оцените длительность и определите ключевые вехи.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56448" y="1600200"/>
            <a:ext cx="3401568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57616" y="1801368"/>
            <a:ext cx="1097280" cy="274320"/>
          </a:xfrm>
          <a:prstGeom prst="roundRect">
            <a:avLst/>
          </a:prstGeom>
          <a:solidFill>
            <a:srgbClr val="2E90FA"/>
          </a:solidFill>
          <a:ln w="12700">
            <a:solidFill>
              <a:srgbClr val="2E90F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57616" y="1810512"/>
            <a:ext cx="109728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СВЯЗИ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357616" y="2313432"/>
            <a:ext cx="294436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Зависимости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57616" y="2953512"/>
            <a:ext cx="2944368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Покажите, какие задачи нельзя начать, пока не закончились другие.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914400" y="5559552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Минимум для следующего занятия: 15–25 задач, 4–6 вех, 5–8 зависимостей.</a:t>
            </a:r>
            <a:endParaRPr lang="en-US" sz="13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Трудоёмкость ≠ длительность ≠ стоимость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Чтобы посчитать этап, сначала различаем объём работы, календарное время и бюджет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ОЦЕНКИ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3346704" cy="324612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883664"/>
            <a:ext cx="1975104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15668"/>
            <a:ext cx="193852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ТРУДОЁМКОСТЬ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880360" cy="5943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01828"/>
                </a:solidFill>
                <a:latin typeface="Aptos Display"/>
              </a:rPr>
              <a:t>24 чел.-часа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328416"/>
            <a:ext cx="2880360" cy="8229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Сколько усилий потребуется?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664208"/>
            <a:ext cx="3346704" cy="324612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99432" y="1883664"/>
            <a:ext cx="1975104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915668"/>
            <a:ext cx="193852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ДЛИТЕЛЬНОСТЬ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14600"/>
            <a:ext cx="2880360" cy="5943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01828"/>
                </a:solidFill>
                <a:latin typeface="Aptos Display"/>
              </a:rPr>
              <a:t>6 рабочих дней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328416"/>
            <a:ext cx="2880360" cy="8229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При доступности 4 ч/день одного специалиста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664208"/>
            <a:ext cx="3346704" cy="324612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84464" y="1883664"/>
            <a:ext cx="1975104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915668"/>
            <a:ext cx="193852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СТОИМОСТЬ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14600"/>
            <a:ext cx="2880360" cy="5943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01828"/>
                </a:solidFill>
                <a:latin typeface="Aptos Display"/>
              </a:rPr>
              <a:t>TBD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328416"/>
            <a:ext cx="2880360" cy="8229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24 ч × ставка + лицензии + накладные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277209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5386937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4F12"/>
                </a:solidFill>
                <a:latin typeface="Aptos"/>
              </a:rPr>
              <a:t>Нельзя получить 6 дней просто разделив трудоёмкость на количество участников без учёта доступности и зависимостей.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Четыре способа оценить длительность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Выбираем метод исходя из имеющейся информации, а неопределённость показываем честно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ОЦЕНКИ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6002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Метод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Логика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</a:rPr>
                        <a:t>CRM-пример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Экспертная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Оценка специалиста + аргументы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Новый коннектор к 1С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По аналогам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Сравнить с прошлой похожей работой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Импорт предыдущего проекта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Параметрическая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Объём / производительность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8000 записей / 500 в день = 16 дней*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Трёхточечная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Оценки O, M, P → ожидаемая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20" b="0">
                          <a:solidFill>
                            <a:srgbClr val="344054"/>
                          </a:solidFill>
                          <a:latin typeface="Aptos"/>
                        </a:rPr>
                        <a:t>Работа с неопределёнными препятствиями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PERT: как работать с неопределённостью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Одна «точная» оценка скрывает риск; три сценария помогают его увидеть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ОЦЕНКИ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5074920" cy="3575304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1828800"/>
            <a:ext cx="205740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60804"/>
            <a:ext cx="20208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ТРИ ОЦЕНКИ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04872"/>
            <a:ext cx="4434840" cy="4572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44054"/>
                </a:solidFill>
                <a:latin typeface="Aptos"/>
              </a:rPr>
              <a:t>O = 4 дня — оптимистично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90088"/>
            <a:ext cx="4434840" cy="4572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44054"/>
                </a:solidFill>
                <a:latin typeface="Aptos"/>
              </a:rPr>
              <a:t>M = 6 дней — наиболее вероятно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575304"/>
            <a:ext cx="4434840" cy="4572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44054"/>
                </a:solidFill>
                <a:latin typeface="Aptos"/>
              </a:rPr>
              <a:t>P = 14 дней — пессимистично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1591056"/>
            <a:ext cx="5285232" cy="357530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7064" y="1828800"/>
            <a:ext cx="196596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1" y="1860804"/>
            <a:ext cx="192938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РАСЧЁТ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450592"/>
            <a:ext cx="4507992" cy="8229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01828"/>
                </a:solidFill>
                <a:latin typeface="Aptos Display"/>
              </a:rPr>
              <a:t>E = (O + 4M + P)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355848"/>
            <a:ext cx="4507992" cy="5943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dirty="0">
                <a:solidFill>
                  <a:srgbClr val="7700FF"/>
                </a:solidFill>
                <a:latin typeface="Aptos Display"/>
              </a:rPr>
              <a:t>(4 + 4×6 + 14) / 6 = 7 </a:t>
            </a:r>
            <a:r>
              <a:rPr sz="1900" b="1" dirty="0" err="1">
                <a:solidFill>
                  <a:srgbClr val="7700FF"/>
                </a:solidFill>
                <a:latin typeface="Aptos Display"/>
              </a:rPr>
              <a:t>дней</a:t>
            </a:r>
            <a:endParaRPr sz="1900" b="1" dirty="0">
              <a:solidFill>
                <a:srgbClr val="7700FF"/>
              </a:solidFill>
              <a:latin typeface="Aptos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54496" y="4206240"/>
            <a:ext cx="4471416" cy="53949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344054"/>
                </a:solidFill>
                <a:latin typeface="Aptos"/>
              </a:rPr>
              <a:t>Разброс: σ ≈ (P − O) / 6 = 1,67 дня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22392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532120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PERT — эвристическая оценка ожидания, а не гарантия завершения за 7 дней.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Как получить длительность этапа из задач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Нельзя просто сложить все длительности: часть работ идёт параллельно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ОЦЕНКИ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ОЦЕНКИ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472184"/>
            <a:ext cx="102870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1591056"/>
            <a:ext cx="43891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623060"/>
            <a:ext cx="40233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1581912"/>
            <a:ext cx="38404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Декомпозировать этап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81912"/>
            <a:ext cx="5532120" cy="3657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Работы → измеримые пакеты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276856"/>
            <a:ext cx="102870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9264" y="2395728"/>
            <a:ext cx="43891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2427732"/>
            <a:ext cx="40233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386584"/>
            <a:ext cx="38404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Оценить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386584"/>
            <a:ext cx="5532120" cy="3657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Длительности + предпосылки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081528"/>
            <a:ext cx="102870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9264" y="3200400"/>
            <a:ext cx="43891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232404"/>
            <a:ext cx="40233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3191256"/>
            <a:ext cx="38404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Проставить зависимости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91256"/>
            <a:ext cx="5532120" cy="3657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Какая работа блокирует следующую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886200"/>
            <a:ext cx="102870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9264" y="4005072"/>
            <a:ext cx="43891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037076"/>
            <a:ext cx="40233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3995928"/>
            <a:ext cx="38404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Учесть календари и ресурс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995928"/>
            <a:ext cx="5532120" cy="3657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Доступность людей, выходные, ограничения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690872"/>
            <a:ext cx="10287000" cy="59436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9264" y="4809744"/>
            <a:ext cx="43891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4841748"/>
            <a:ext cx="40233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4800600"/>
            <a:ext cx="384048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1828"/>
                </a:solidFill>
                <a:latin typeface="Aptos"/>
              </a:rPr>
              <a:t>Рассчитать расписание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800600"/>
            <a:ext cx="5532120" cy="36576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Самая длинная цепь управляющих зависимостей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463816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" y="5573544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Пример: настройка CRM и очистка Excel могут идти одновременно — сумма их сроков завысит этап.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5581"/>
            <a:ext cx="9326880" cy="412421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dirty="0" err="1">
                <a:solidFill>
                  <a:srgbClr val="101828"/>
                </a:solidFill>
                <a:latin typeface="Aptos Display"/>
              </a:rPr>
              <a:t>Практика</a:t>
            </a:r>
            <a:r>
              <a:rPr lang="ru-RU" sz="2500" b="1" dirty="0">
                <a:solidFill>
                  <a:srgbClr val="101828"/>
                </a:solidFill>
                <a:latin typeface="Aptos Display"/>
              </a:rPr>
              <a:t> 4</a:t>
            </a:r>
            <a:r>
              <a:rPr sz="2500" b="1" dirty="0">
                <a:solidFill>
                  <a:srgbClr val="101828"/>
                </a:solidFill>
                <a:latin typeface="Aptos Display"/>
              </a:rPr>
              <a:t>: </a:t>
            </a:r>
            <a:r>
              <a:rPr sz="2500" b="1" dirty="0" err="1">
                <a:solidFill>
                  <a:srgbClr val="101828"/>
                </a:solidFill>
                <a:latin typeface="Aptos Display"/>
              </a:rPr>
              <a:t>оцените</a:t>
            </a:r>
            <a:r>
              <a:rPr sz="2500" b="1" dirty="0">
                <a:solidFill>
                  <a:srgbClr val="101828"/>
                </a:solidFill>
                <a:latin typeface="Aptos Display"/>
              </a:rPr>
              <a:t> </a:t>
            </a:r>
            <a:r>
              <a:rPr sz="2500" b="1" dirty="0" err="1">
                <a:solidFill>
                  <a:srgbClr val="101828"/>
                </a:solidFill>
                <a:latin typeface="Aptos Display"/>
              </a:rPr>
              <a:t>пакет</a:t>
            </a:r>
            <a:r>
              <a:rPr sz="2500" b="1" dirty="0">
                <a:solidFill>
                  <a:srgbClr val="101828"/>
                </a:solidFill>
                <a:latin typeface="Aptos Display"/>
              </a:rPr>
              <a:t> «</a:t>
            </a:r>
            <a:r>
              <a:rPr sz="2500" b="1" dirty="0" err="1">
                <a:solidFill>
                  <a:srgbClr val="101828"/>
                </a:solidFill>
                <a:latin typeface="Aptos Display"/>
              </a:rPr>
              <a:t>миграция</a:t>
            </a:r>
            <a:r>
              <a:rPr sz="2500" b="1" dirty="0">
                <a:solidFill>
                  <a:srgbClr val="101828"/>
                </a:solidFill>
                <a:latin typeface="Aptos Display"/>
              </a:rPr>
              <a:t> </a:t>
            </a:r>
            <a:r>
              <a:rPr sz="2500" b="1" dirty="0" err="1">
                <a:solidFill>
                  <a:srgbClr val="101828"/>
                </a:solidFill>
                <a:latin typeface="Aptos Display"/>
              </a:rPr>
              <a:t>данных</a:t>
            </a:r>
            <a:r>
              <a:rPr sz="2500" b="1" dirty="0">
                <a:solidFill>
                  <a:srgbClr val="101828"/>
                </a:solidFill>
                <a:latin typeface="Aptos Display"/>
              </a:rPr>
              <a:t>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10 минут на расчёт + 5 минут на сравнение подходов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ПРАКТИКА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ПРАКТИКА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91056"/>
            <a:ext cx="5074920" cy="343814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9048" y="1591056"/>
            <a:ext cx="5166360" cy="3438144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1874519"/>
            <a:ext cx="107899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1906524"/>
            <a:ext cx="1042415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ДАНО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4389120" cy="50977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8 000 клиентских записей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05506"/>
            <a:ext cx="4389120" cy="50977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Обработка: 500 записей / рабочий день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415284"/>
            <a:ext cx="4389120" cy="50977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Очистка, загрузка, сверка — разные работы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925062"/>
            <a:ext cx="4389120" cy="50977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На проекте доступен один специалист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874519"/>
            <a:ext cx="162763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1906524"/>
            <a:ext cx="15910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ЗАДАНИЕ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395728"/>
            <a:ext cx="4389120" cy="5257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Оценить длительность одной операции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921508"/>
            <a:ext cx="4389120" cy="5257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Выделить недостающие входные 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447288"/>
            <a:ext cx="4389120" cy="5257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Сформулировать 3 допущения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973068"/>
            <a:ext cx="4389120" cy="5257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Определить, какие задачи могут идти параллельно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361182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5470910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 err="1">
                <a:solidFill>
                  <a:srgbClr val="7700FF"/>
                </a:solidFill>
                <a:latin typeface="Aptos"/>
              </a:rPr>
              <a:t>Ответ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«16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дней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»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верен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только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для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одной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заданной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операции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при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принятых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условиях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,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не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для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всего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этапа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миграции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Первый план в ProjectLibre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Никакой магии: сначала структура, потом связи, затем проверка реалистичности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PROJECTLIBRE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13232" y="169164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892808"/>
            <a:ext cx="402336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901952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26464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Создать проект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26464" y="2258568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название, дата старта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4416552" y="169164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81144" y="1892808"/>
            <a:ext cx="402336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1144" y="1901952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29784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Внести WBS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129784" y="2258568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группы и задачи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119872" y="1691640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84464" y="1892808"/>
            <a:ext cx="402336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4464" y="1901952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833104" y="185623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Указать длительность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833104" y="2258568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13232" y="3547872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7824" y="3749040"/>
            <a:ext cx="402336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7824" y="3758184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26464" y="3712464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Проставить зависимости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26464" y="4114800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после чего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4416552" y="3547872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81144" y="3749040"/>
            <a:ext cx="402336" cy="274320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81144" y="3758184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129784" y="3712464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Добавить вехи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129784" y="4114800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Gate и защиты</a:t>
            </a:r>
            <a:endParaRPr lang="en-US" sz="1060" dirty="0"/>
          </a:p>
        </p:txBody>
      </p:sp>
      <p:sp>
        <p:nvSpPr>
          <p:cNvPr id="35" name="Shape 32"/>
          <p:cNvSpPr/>
          <p:nvPr/>
        </p:nvSpPr>
        <p:spPr>
          <a:xfrm>
            <a:off x="8119872" y="3547872"/>
            <a:ext cx="3291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84464" y="3749040"/>
            <a:ext cx="402336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84464" y="3758184"/>
            <a:ext cx="40233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833104" y="3712464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Проверить критический путь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833104" y="4114800"/>
            <a:ext cx="2240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где проект может застрять</a:t>
            </a:r>
            <a:endParaRPr lang="en-US" sz="10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Зависимости и вехи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Частая ошибка новичков — список задач без логики последовательности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0020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1828800"/>
            <a:ext cx="1051560" cy="283464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3794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ЗАВИСИМОСТИ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6968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Что после чего?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6968" y="2907792"/>
            <a:ext cx="47548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интеграционное тестирование после готовности интеграции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обучение после готовности ключевых сценариев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MVP-демо после минимального тестирования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 до детального планирования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600200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828800"/>
            <a:ext cx="1051560" cy="283464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837944"/>
            <a:ext cx="1051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ВЕХИ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Контрольные точки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00800" y="2907792"/>
            <a:ext cx="47548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 согласовано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 утверждён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 готов к демо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тестирование завершено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документация передана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ПСИ пройдено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Что такое критический путь (CPM)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Цепь зависимых задач, определяющая минимально возможную дату завершения проекта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27632"/>
            <a:ext cx="5074920" cy="361188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53328" y="1627632"/>
            <a:ext cx="5266944" cy="3611880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0976" y="1856231"/>
            <a:ext cx="2112264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1888236"/>
            <a:ext cx="207568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КРИТИЧЕСКИЕ 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77440"/>
            <a:ext cx="4407408" cy="56235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Имеют нулевой полный резерв в базовом расчёте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939796"/>
            <a:ext cx="4407408" cy="56235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Задержка обычно сдвигает финиш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502152"/>
            <a:ext cx="4407408" cy="56235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Не обязательно самые длинные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064508"/>
            <a:ext cx="4407408" cy="56235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Цепь определяется зависимостями, а не приоритетами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56231"/>
            <a:ext cx="2093976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888236"/>
            <a:ext cx="2057400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НЕ КРИТИЧЕСКИЕ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377440"/>
            <a:ext cx="4453128" cy="56007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Могут иметь положительный резерв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937510"/>
            <a:ext cx="4453128" cy="56007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Задержка внутри резерва не меняет финиш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497580"/>
            <a:ext cx="4453128" cy="56007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Изменения и ресурсные конфликты могут менять путь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057650"/>
            <a:ext cx="4453128" cy="56007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Смотрим расписание после каждого важного изменения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CRM: исходные данные для критического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Все зависимости типа FS: следующая работа стартует после завершения предыдущей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0876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Код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Работа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Длительность, раб. дн.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Предшественники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Требования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Выбор CRM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Очистка данных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Настройка CRM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Интеграция 1С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Миграция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C, D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G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Интеграционный тест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E, F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Пилот и передача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G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1332" y="5509260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500" y="5618988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Задача: узнать общий срок, найти критический путь и резерв задач C и F.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CRM: схема зависимостей — две ветки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Одна ветка идёт через интеграцию 1С, другая — через подготовку данных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2862072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935224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A · 3 дн.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227832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Требования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2304" y="1920240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78024" y="1993392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B · 4 дн.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28600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Выбор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3767328"/>
            <a:ext cx="1335024" cy="7680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78024" y="384048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4F12"/>
                </a:solidFill>
                <a:latin typeface="Aptos"/>
              </a:rPr>
              <a:t>C · 6 дн.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4133088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Очистка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1376" y="1920240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97096" y="1993392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D · 7 дн.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228600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Настройка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34456" y="1920240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0176" y="1993392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E · 8 дн.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0176" y="228600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Интегр. 1С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34456" y="3767328"/>
            <a:ext cx="1335024" cy="7680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0176" y="384048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4F12"/>
                </a:solidFill>
                <a:latin typeface="Aptos"/>
              </a:rPr>
              <a:t>F · 4 дн.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4133088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Миграция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2852928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292608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G · 3 дн.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218688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Тест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94976" y="2852928"/>
            <a:ext cx="1335024" cy="768096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40696" y="2926080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H · 2 дн.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0696" y="3218688"/>
            <a:ext cx="1234440" cy="26517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40" b="0">
                <a:solidFill>
                  <a:srgbClr val="344054"/>
                </a:solidFill>
                <a:latin typeface="Aptos"/>
              </a:rPr>
              <a:t>Передача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121408" y="2322576"/>
            <a:ext cx="310896" cy="91440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21408" y="3236976"/>
            <a:ext cx="310896" cy="923544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67328" y="2304288"/>
            <a:ext cx="384048" cy="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67328" y="4151376"/>
            <a:ext cx="2167128" cy="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86400" y="2304288"/>
            <a:ext cx="448056" cy="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486400" y="2697480"/>
            <a:ext cx="448056" cy="1069848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269480" y="2304288"/>
            <a:ext cx="1024128" cy="932688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69480" y="3236976"/>
            <a:ext cx="1024128" cy="91440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28632" y="3236976"/>
            <a:ext cx="466344" cy="0"/>
          </a:xfrm>
          <a:prstGeom prst="line">
            <a:avLst/>
          </a:prstGeom>
          <a:ln w="25400">
            <a:solidFill>
              <a:srgbClr val="A08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1332" y="5454396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2500" y="5564124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dirty="0" err="1">
                <a:solidFill>
                  <a:srgbClr val="7700FF"/>
                </a:solidFill>
                <a:latin typeface="Aptos"/>
              </a:rPr>
              <a:t>Чтобы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начать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G,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должны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завершиться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и E, и F;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самое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позднее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окончание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управляет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7700FF"/>
                </a:solidFill>
                <a:latin typeface="Aptos"/>
              </a:rPr>
              <a:t>стартом</a:t>
            </a:r>
            <a:r>
              <a:rPr sz="1200" b="1" dirty="0">
                <a:solidFill>
                  <a:srgbClr val="7700FF"/>
                </a:solidFill>
                <a:latin typeface="Aptos"/>
              </a:rPr>
              <a:t> 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CPM: прямой проход — ранние сроки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ES = ранний старт; EF = ES + длительность; старт задачи = максимум EF всех предшественников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90472"/>
          <a:ext cx="1051559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Задача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ES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EF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Объяснение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проект начинается в точке 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после A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после A; параллельно с B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после B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после D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max(EF(C)=9, EF(D)=14)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G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max(EF(E)=22, EF(F)=18)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после G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1332" y="5472684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500" y="5582412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Вывод: минимальная длительность проекта в данном расчёте — 27 рабочих дней, не сумма всех работ.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CPM: обратный проход — поздние сроки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LS = LF − длительность; LF задачи = минимум LS её непосредственных последователей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0876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Задача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LS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LF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Полный резерв TF = LS − ES</a:t>
                      </a:r>
                    </a:p>
                  </a:txBody>
                  <a:tcPr marR="64008" marT="41148" marB="18288"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G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44054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R="64008" marT="4114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1332" y="5472031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2500" y="5581759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4F12"/>
                </a:solidFill>
                <a:latin typeface="Aptos"/>
              </a:rPr>
              <a:t>Критический путь: A → B → D → E → G → H = 3 + 4 + 7 + 8 + 3 + 2 = 27 дней.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Критический путь: как им управлять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После расчёта спрашиваем не только «что красное?», но и «что делать руководителю?»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CPM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09344"/>
            <a:ext cx="3355848" cy="350215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1810512"/>
            <a:ext cx="182880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42516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СОКРАТИТЬ СРОК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68296"/>
            <a:ext cx="2898648" cy="25877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Ищем возможности на критических задачах. Ускорение C на 2 дня проект не ускорит: у C резерв 9 дней.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09344"/>
            <a:ext cx="3355848" cy="350215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1810512"/>
            <a:ext cx="182880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7" y="1842516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КОНТРОЛИРОВАТЬ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368296"/>
            <a:ext cx="2898648" cy="25877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Проверяем прогресс задач A, B, D, E, G, H и готовность их входов — задержка ведёт к сдвигу финиша.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1609344"/>
            <a:ext cx="3355848" cy="350215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79" y="1810512"/>
            <a:ext cx="182880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7" y="1842516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ПЕРЕСЧИТЫВАТЬ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368296"/>
            <a:ext cx="2898648" cy="25877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344054"/>
                </a:solidFill>
                <a:latin typeface="Aptos"/>
              </a:rPr>
              <a:t>Изменили длительность, связи или ресурсы? Проверяем критический путь заново; он не фиксирован навечно.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94960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5504688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При ресурсных конфликтах срок может стать больше 27 дней — это отдельная задача ресурсного выравнивания.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Типовые ошибки планирования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Их лучше поймать сейчас, чем на финальной защите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77240" y="1645920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184708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85623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90472" y="1819656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 начинается с разработки, а не с требований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6263640" y="1645920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28232" y="1847088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856232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76872" y="1819656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нет задач по данным, тестам и документации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777240" y="2798064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1832" y="2999232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3008376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490472" y="2971800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все задачи назначены одному человеку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6263640" y="2798064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28232" y="2999232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28232" y="3008376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76872" y="2971800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нет вех и контрольных точек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777240" y="3950208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1832" y="4151376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1832" y="4160520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490472" y="4123944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нет зависимостей между задачами</a:t>
            </a:r>
            <a:endParaRPr lang="en-US" sz="1240" dirty="0"/>
          </a:p>
        </p:txBody>
      </p:sp>
      <p:sp>
        <p:nvSpPr>
          <p:cNvPr id="30" name="Shape 27"/>
          <p:cNvSpPr/>
          <p:nvPr/>
        </p:nvSpPr>
        <p:spPr>
          <a:xfrm>
            <a:off x="6263640" y="3950208"/>
            <a:ext cx="5029200" cy="804672"/>
          </a:xfrm>
          <a:prstGeom prst="roundRect">
            <a:avLst/>
          </a:prstGeom>
          <a:solidFill>
            <a:srgbClr val="FFF3EB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28232" y="4151376"/>
            <a:ext cx="384048" cy="274320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28232" y="4160520"/>
            <a:ext cx="384048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76872" y="4123944"/>
            <a:ext cx="4023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 и финальный результат перепутаны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914400" y="5577840"/>
            <a:ext cx="10149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2D20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Проверьте свой план по </a:t>
            </a:r>
            <a:r>
              <a:rPr lang="en-US" sz="1300" b="1" dirty="0" err="1">
                <a:solidFill>
                  <a:srgbClr val="D92D20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этому</a:t>
            </a:r>
            <a:r>
              <a:rPr lang="en-US" sz="1300" b="1" dirty="0">
                <a:solidFill>
                  <a:srgbClr val="D92D20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1300" b="1" dirty="0" err="1">
                <a:solidFill>
                  <a:srgbClr val="D92D20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слайду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RACI: четыре роли в одной строке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Назначаем ответственность за конкретную работу или результат, а не «за весь проект»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RACI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581912"/>
            <a:ext cx="5120640" cy="146304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1810512"/>
            <a:ext cx="53035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842516"/>
            <a:ext cx="493775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783080"/>
            <a:ext cx="3968496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1828"/>
                </a:solidFill>
                <a:latin typeface="Aptos"/>
              </a:rPr>
              <a:t>Responsible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1" y="2240280"/>
            <a:ext cx="3858768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Исполняет работу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581912"/>
            <a:ext cx="5120640" cy="146304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1810512"/>
            <a:ext cx="53035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842516"/>
            <a:ext cx="493775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783080"/>
            <a:ext cx="3968496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1828"/>
                </a:solidFill>
                <a:latin typeface="Aptos"/>
              </a:rPr>
              <a:t>Accountable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240280"/>
            <a:ext cx="3858768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Несёт итоговую ответственность и утверждает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374136"/>
            <a:ext cx="5120640" cy="146304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41832" y="3602736"/>
            <a:ext cx="53035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634740"/>
            <a:ext cx="493775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575304"/>
            <a:ext cx="3968496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1828"/>
                </a:solidFill>
                <a:latin typeface="Aptos"/>
              </a:rPr>
              <a:t>Consulted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1" y="4032504"/>
            <a:ext cx="3858768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Даёт мнение ДО решения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374136"/>
            <a:ext cx="5120640" cy="1463040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28232" y="3602736"/>
            <a:ext cx="53035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634740"/>
            <a:ext cx="493775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575304"/>
            <a:ext cx="3968496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1828"/>
                </a:solidFill>
                <a:latin typeface="Aptos"/>
              </a:rPr>
              <a:t>Informed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032504"/>
            <a:ext cx="3858768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Получает информацию ПОСЛЕ решения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482479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" y="5592207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A должен быть единственным на каждую строку. R может быть больше одного, но работа должна быть управляемой.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dirty="0">
                <a:solidFill>
                  <a:srgbClr val="667085"/>
                </a:solidFill>
                <a:latin typeface="Aptos"/>
              </a:rPr>
              <a:t>RACI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026741C-2556-E31C-C72B-DA15F09D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1972E-E66D-4A01-A89C-7181F91E76B8}" type="slidenum">
              <a:rPr lang="ru-RU" smtClean="0"/>
              <a:t>50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970C7F-1AC7-778F-0589-D95544B7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04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Как правильно составлять 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Последовательность: ИСР → список участников → R → один A → консультации и информирование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RACI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499616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0120" y="1581912"/>
            <a:ext cx="144475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613916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1. Строки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81912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Конкретные пакеты, решения или результаты ИСР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" y="2157984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2240279"/>
            <a:ext cx="144475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2272284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 Столбцы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240279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Роли, а не персональные ФИО на весь семестр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" y="2816352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2898648"/>
            <a:ext cx="144475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930652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3.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898648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Кто реально делает и обеспечивает результат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" y="3474720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3557015"/>
            <a:ext cx="144475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589020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4.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557015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Кто единственный отвечает за итог/утверждение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" y="4133087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0120" y="4215383"/>
            <a:ext cx="1444752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" y="4247388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5. C / 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215383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Кого спрашиваем заранее и кого уведомляем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" y="4791455"/>
            <a:ext cx="10442448" cy="51206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0120" y="4873751"/>
            <a:ext cx="1444752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4905755"/>
            <a:ext cx="140817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6. Ревизия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873751"/>
            <a:ext cx="8183879" cy="33832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Нет пустых R/A, избыточных C и «всем всё согласовать»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895" y="5449823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063" y="5559551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Допускается A/R в одной ячейке: один участник и отвечает за итог, и сам делает работу.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RACI: типичные ошибки, которые видно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Используем RACI как диагностику управления, а не как декоративную таблицу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RACI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RACI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499616"/>
            <a:ext cx="10506456" cy="57607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" y="1636775"/>
            <a:ext cx="141732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668779"/>
            <a:ext cx="138074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ДВА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618488"/>
            <a:ext cx="8339327" cy="38404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Кто действительно принимает решение? Нет единого ответственного.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2267712"/>
            <a:ext cx="10506456" cy="57607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0976" y="2404872"/>
            <a:ext cx="141732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2436876"/>
            <a:ext cx="138074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НЕТ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386584"/>
            <a:ext cx="8339327" cy="38404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Работа есть в плане, но никто не обязан её делать.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3035808"/>
            <a:ext cx="10506456" cy="57607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976" y="3172968"/>
            <a:ext cx="141732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204972"/>
            <a:ext cx="138074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ВСЕ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1176" y="3154679"/>
            <a:ext cx="8339327" cy="38404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Каждый шаг требует бесконечного круга согласований.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3803904"/>
            <a:ext cx="10506456" cy="57607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0976" y="3941064"/>
            <a:ext cx="1417320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3973068"/>
            <a:ext cx="138074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ЗАКАЗЧИК ВСЁ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3922776"/>
            <a:ext cx="8339327" cy="38404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Команда переложила исполнение на того, кто должен принимать результат.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4572000"/>
            <a:ext cx="10506456" cy="57607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0976" y="4709160"/>
            <a:ext cx="1417320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" y="4741164"/>
            <a:ext cx="1380744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QA = A НА ВСЁ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1176" y="4690872"/>
            <a:ext cx="8339327" cy="38404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Качество проверяют, но бизнес-ответственность не превращается в QA.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332" y="5431535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2500" y="5541263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На каждой строке матрицы спросите: кто делает? кто отвечает за результат? кого спрашиваем? кто узнает?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6616"/>
            <a:ext cx="9326880" cy="53035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01828"/>
                </a:solidFill>
                <a:latin typeface="Aptos Display"/>
              </a:rPr>
              <a:t>Практика RACI: найдите конфликт ответственности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05256"/>
            <a:ext cx="9966960" cy="356616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67085"/>
                </a:solidFill>
                <a:latin typeface="Aptos"/>
              </a:rPr>
              <a:t>10 минут на исправление матрицы + 5 минут на защиту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01168"/>
            <a:ext cx="1627632" cy="425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28232"/>
            <a:ext cx="3017520" cy="18288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98A2B3"/>
                </a:solidFill>
                <a:latin typeface="Aptos"/>
              </a:rPr>
              <a:t>Управление ИТ-проектами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71048" y="6117336"/>
            <a:ext cx="941832" cy="310896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89336" y="6149340"/>
            <a:ext cx="905256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ПРАКТИКА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135624"/>
            <a:ext cx="841248" cy="246888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667085"/>
                </a:solidFill>
                <a:latin typeface="Aptos"/>
              </a:rPr>
              <a:t>ПРАКТИКА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91056"/>
            <a:ext cx="5212080" cy="3639312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912" y="1591056"/>
            <a:ext cx="5193792" cy="3639312"/>
          </a:xfrm>
          <a:prstGeom prst="roundRect">
            <a:avLst/>
          </a:prstGeom>
          <a:solidFill>
            <a:srgbClr val="F8F3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2688" y="1810512"/>
            <a:ext cx="2157984" cy="310896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1842516"/>
            <a:ext cx="212140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ПРОБЛЕМА В 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404872"/>
            <a:ext cx="4572000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«Интеграция с 1С»: A стоят у РП и техлида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912364"/>
            <a:ext cx="4572000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«Обучение»: нет ни одного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419856"/>
            <a:ext cx="4572000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«Приёмка»: всем участникам проставили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927348"/>
            <a:ext cx="4572000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44054"/>
                </a:solidFill>
                <a:latin typeface="Aptos"/>
              </a:rPr>
              <a:t>• «Миграция»: только заказчик имеет 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10512"/>
            <a:ext cx="1609344" cy="310896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842516"/>
            <a:ext cx="1572768" cy="228600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ЗАДАНИЕ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404872"/>
            <a:ext cx="4462272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Исправить 4 строки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912364"/>
            <a:ext cx="4462272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Обосновать единственный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419856"/>
            <a:ext cx="4462272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Показать связь строк с ИСР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927348"/>
            <a:ext cx="4462272" cy="507492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344054"/>
                </a:solidFill>
                <a:latin typeface="Aptos"/>
              </a:rPr>
              <a:t>• Назвать один риск из исходной RACI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332" y="5513365"/>
            <a:ext cx="10689336" cy="557784"/>
          </a:xfrm>
          <a:prstGeom prst="roundRect">
            <a:avLst/>
          </a:prstGeom>
          <a:solidFill>
            <a:srgbClr val="F6F7FA"/>
          </a:solidFill>
          <a:ln w="12700">
            <a:solidFill>
              <a:srgbClr val="F6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2500" y="5623093"/>
            <a:ext cx="10241280" cy="329184"/>
          </a:xfrm>
          <a:prstGeom prst="rect">
            <a:avLst/>
          </a:prstGeom>
          <a:noFill/>
        </p:spPr>
        <p:txBody>
          <a:bodyPr wrap="square" lIns="36576" tIns="18288" rIns="36576" bIns="9144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700FF"/>
                </a:solidFill>
                <a:latin typeface="Aptos"/>
              </a:rPr>
              <a:t>Пусть команды объясняют полномочия и результат, а не пытаются угадать «правильную букву».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Домашнее </a:t>
            </a:r>
            <a:r>
              <a:rPr lang="en-US" sz="2500" b="1" dirty="0" err="1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задание</a:t>
            </a: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готовит пакет для перехода к этапу MVP</a:t>
            </a: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32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346809" y="6313932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46809" y="6331849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ДЗ</a:t>
            </a:r>
            <a:endParaRPr lang="en-US" sz="7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776316"/>
              </p:ext>
            </p:extLst>
          </p:nvPr>
        </p:nvGraphicFramePr>
        <p:xfrm>
          <a:off x="594360" y="1243584"/>
          <a:ext cx="10881360" cy="49638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ostelecom Basis"/>
                        </a:rPr>
                        <a:t>Что сдать</a:t>
                      </a:r>
                      <a:endParaRPr lang="en-US" sz="1400" dirty="0">
                        <a:solidFill>
                          <a:schemeClr val="bg1"/>
                        </a:solidFill>
                        <a:latin typeface="Rostelecom Basi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Rostelecom Basis"/>
                        </a:rPr>
                        <a:t>Минимальное содержание</a:t>
                      </a:r>
                      <a:endParaRPr lang="en-US" sz="1400" dirty="0">
                        <a:solidFill>
                          <a:schemeClr val="bg1"/>
                        </a:solidFill>
                        <a:latin typeface="Rostelecom Basi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Черновик ТЗ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5–7 страниц: цель, scope, требования, данные, метрики, критерии приёмки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Scope / Out of Scope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по 5–7 пунктов, спорные пункты отдельно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WBS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5–7 блоков работ + задачи второго уровня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ProjectLibre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15–25 задач, 4–6 вех,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связи, рабочие дни, критический путь, резервы</a:t>
                      </a:r>
                    </a:p>
                    <a:p>
                      <a:pPr marL="0" indent="0">
                        <a:buNone/>
                      </a:pPr>
                      <a:endParaRPr lang="en-US" sz="1400" dirty="0">
                        <a:solidFill>
                          <a:schemeClr val="tx1"/>
                        </a:solidFill>
                        <a:latin typeface="Rostelecom Basi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RACI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ключевые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 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пакеты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, 1 A 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на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 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строку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, 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минимум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 </a:t>
                      </a:r>
                      <a:r>
                        <a:rPr sz="1400" dirty="0" err="1">
                          <a:solidFill>
                            <a:schemeClr val="tx1"/>
                          </a:solidFill>
                          <a:latin typeface="Rostelecom Basis"/>
                        </a:rPr>
                        <a:t>один</a:t>
                      </a:r>
                      <a:r>
                        <a:rPr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 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655988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Decision Log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stelecom Basis"/>
                        </a:rPr>
                        <a:t>минимум 3 решения: что решили, почему, влияние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Промежуточный контроль</a:t>
                      </a:r>
                      <a:endParaRPr lang="en-US" sz="1400" dirty="0">
                        <a:solidFill>
                          <a:schemeClr val="tx1"/>
                        </a:solidFill>
                        <a:latin typeface="Rostelecom Basi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Защита ТЗ, календарного плана</a:t>
                      </a:r>
                      <a:endParaRPr lang="en-US" sz="1400" dirty="0">
                        <a:solidFill>
                          <a:schemeClr val="tx1"/>
                        </a:solidFill>
                        <a:latin typeface="Rostelecom Basis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90956" y="6217920"/>
            <a:ext cx="10241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 err="1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</a:t>
            </a:r>
            <a:r>
              <a:rPr lang="en-US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следующем</a:t>
            </a:r>
            <a:r>
              <a:rPr lang="en-US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занятии</a:t>
            </a:r>
            <a:r>
              <a:rPr lang="en-US" sz="127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: из ТЗ и WBS переходим к управлению реализацией MVP.</a:t>
            </a:r>
            <a:endParaRPr lang="en-US" sz="127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02336"/>
            <a:ext cx="94640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почитать к теме ТЗ и планирования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9829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250" dirty="0"/>
          </a:p>
        </p:txBody>
      </p:sp>
      <p:pic>
        <p:nvPicPr>
          <p:cNvPr id="4" name="Image 0" descr="/mnt/data/rt_scho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201168"/>
            <a:ext cx="1627632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43584"/>
            <a:ext cx="10972800" cy="10973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428232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419088"/>
            <a:ext cx="457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33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808208" y="6117336"/>
            <a:ext cx="749808" cy="246888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08208" y="6126480"/>
            <a:ext cx="7498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67085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ЧТЕНИЕ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" y="1600200"/>
            <a:ext cx="5257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1828800"/>
            <a:ext cx="502920" cy="283464"/>
          </a:xfrm>
          <a:prstGeom prst="round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37944"/>
            <a:ext cx="502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6968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Шикина + ГОСТ 34.602-2020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6968" y="2907792"/>
            <a:ext cx="47548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В. Е. Шикина — «Техническая документация информационных систем»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разделы о требованиях и роли ТЗ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ГОСТ 34.602-2020: структура ТЗ и требования к системе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1600200"/>
            <a:ext cx="5257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828800"/>
            <a:ext cx="685800" cy="283464"/>
          </a:xfrm>
          <a:prstGeom prst="round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1837944"/>
            <a:ext cx="685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0080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ГОСТ Р ИСО 21502-2024 + практика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00800" y="2907792"/>
            <a:ext cx="475488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разделы о планировании, содержании, расписании и ресурсах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сравнить с собственным WBS и ProjectLibre</a:t>
            </a:r>
            <a:endParaRPr lang="en-US" sz="1150" dirty="0"/>
          </a:p>
          <a:p>
            <a:r>
              <a:rPr lang="en-US" sz="1150" dirty="0">
                <a:solidFill>
                  <a:srgbClr val="34405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использовать как чек-лист, а не как текст для заучивания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77240"/>
            <a:ext cx="2468880" cy="3127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1800" y="4315968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Спасибо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4290</Words>
  <Application>Microsoft Office PowerPoint</Application>
  <PresentationFormat>Широкоэкранный</PresentationFormat>
  <Paragraphs>1047</Paragraphs>
  <Slides>56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Calibri Light</vt:lpstr>
      <vt:lpstr>Rostelecom Basis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Veriasov</dc:creator>
  <cp:lastModifiedBy>Nikita Veriasov</cp:lastModifiedBy>
  <cp:revision>41</cp:revision>
  <dcterms:created xsi:type="dcterms:W3CDTF">2026-10-03T11:00:59Z</dcterms:created>
  <dcterms:modified xsi:type="dcterms:W3CDTF">2026-10-10T12:59:06Z</dcterms:modified>
</cp:coreProperties>
</file>