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3" r:id="rId1"/>
  </p:sldMasterIdLst>
  <p:notesMasterIdLst>
    <p:notesMasterId r:id="rId55"/>
  </p:notesMasterIdLst>
  <p:sldIdLst>
    <p:sldId id="256" r:id="rId2"/>
    <p:sldId id="329" r:id="rId3"/>
    <p:sldId id="257" r:id="rId4"/>
    <p:sldId id="368" r:id="rId5"/>
    <p:sldId id="370" r:id="rId6"/>
    <p:sldId id="331" r:id="rId7"/>
    <p:sldId id="332" r:id="rId8"/>
    <p:sldId id="333" r:id="rId9"/>
    <p:sldId id="334" r:id="rId10"/>
    <p:sldId id="335" r:id="rId11"/>
    <p:sldId id="376" r:id="rId12"/>
    <p:sldId id="377" r:id="rId13"/>
    <p:sldId id="336" r:id="rId14"/>
    <p:sldId id="337" r:id="rId15"/>
    <p:sldId id="338" r:id="rId16"/>
    <p:sldId id="339" r:id="rId17"/>
    <p:sldId id="340" r:id="rId18"/>
    <p:sldId id="341" r:id="rId19"/>
    <p:sldId id="342" r:id="rId20"/>
    <p:sldId id="379" r:id="rId21"/>
    <p:sldId id="380" r:id="rId22"/>
    <p:sldId id="260" r:id="rId23"/>
    <p:sldId id="345" r:id="rId24"/>
    <p:sldId id="346" r:id="rId25"/>
    <p:sldId id="347" r:id="rId26"/>
    <p:sldId id="348" r:id="rId27"/>
    <p:sldId id="349" r:id="rId28"/>
    <p:sldId id="350" r:id="rId29"/>
    <p:sldId id="351" r:id="rId30"/>
    <p:sldId id="352" r:id="rId31"/>
    <p:sldId id="353" r:id="rId32"/>
    <p:sldId id="354" r:id="rId33"/>
    <p:sldId id="355" r:id="rId34"/>
    <p:sldId id="356" r:id="rId35"/>
    <p:sldId id="343" r:id="rId36"/>
    <p:sldId id="382" r:id="rId37"/>
    <p:sldId id="383" r:id="rId38"/>
    <p:sldId id="357" r:id="rId39"/>
    <p:sldId id="358" r:id="rId40"/>
    <p:sldId id="258" r:id="rId41"/>
    <p:sldId id="359" r:id="rId42"/>
    <p:sldId id="360" r:id="rId43"/>
    <p:sldId id="361" r:id="rId44"/>
    <p:sldId id="362" r:id="rId45"/>
    <p:sldId id="373" r:id="rId46"/>
    <p:sldId id="374" r:id="rId47"/>
    <p:sldId id="375" r:id="rId48"/>
    <p:sldId id="259" r:id="rId49"/>
    <p:sldId id="384" r:id="rId50"/>
    <p:sldId id="364" r:id="rId51"/>
    <p:sldId id="365" r:id="rId52"/>
    <p:sldId id="363" r:id="rId53"/>
    <p:sldId id="322" r:id="rId54"/>
  </p:sldIdLst>
  <p:sldSz cx="12192000" cy="6858000"/>
  <p:notesSz cx="6858000" cy="12192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Введение" id="{AEC56332-B481-AFF4-17FC-05261D90474A}">
          <p14:sldIdLst/>
        </p14:section>
        <p14:section name="Default-1" id="{D4D14E4E-5158-6640-FFF9-463973F8D7AC}">
          <p14:sldIdLst>
            <p14:sldId id="256"/>
            <p14:sldId id="329"/>
            <p14:sldId id="257"/>
            <p14:sldId id="368"/>
            <p14:sldId id="370"/>
            <p14:sldId id="331"/>
            <p14:sldId id="332"/>
            <p14:sldId id="333"/>
            <p14:sldId id="334"/>
            <p14:sldId id="335"/>
            <p14:sldId id="376"/>
            <p14:sldId id="377"/>
            <p14:sldId id="336"/>
            <p14:sldId id="337"/>
            <p14:sldId id="338"/>
            <p14:sldId id="339"/>
            <p14:sldId id="340"/>
            <p14:sldId id="341"/>
            <p14:sldId id="342"/>
            <p14:sldId id="379"/>
            <p14:sldId id="380"/>
            <p14:sldId id="260"/>
            <p14:sldId id="345"/>
            <p14:sldId id="346"/>
            <p14:sldId id="347"/>
            <p14:sldId id="348"/>
            <p14:sldId id="349"/>
            <p14:sldId id="350"/>
            <p14:sldId id="351"/>
            <p14:sldId id="352"/>
            <p14:sldId id="353"/>
            <p14:sldId id="354"/>
            <p14:sldId id="355"/>
            <p14:sldId id="356"/>
            <p14:sldId id="343"/>
            <p14:sldId id="382"/>
            <p14:sldId id="383"/>
            <p14:sldId id="357"/>
            <p14:sldId id="358"/>
            <p14:sldId id="258"/>
            <p14:sldId id="359"/>
            <p14:sldId id="360"/>
            <p14:sldId id="361"/>
            <p14:sldId id="362"/>
            <p14:sldId id="373"/>
            <p14:sldId id="374"/>
            <p14:sldId id="375"/>
            <p14:sldId id="259"/>
            <p14:sldId id="384"/>
            <p14:sldId id="364"/>
            <p14:sldId id="365"/>
            <p14:sldId id="363"/>
            <p14:sldId id="32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Nikita Veriasov" initials="NV" lastIdx="1" clrIdx="0">
    <p:extLst>
      <p:ext uri="{19B8F6BF-5375-455C-9EA6-DF929625EA0E}">
        <p15:presenceInfo xmlns:p15="http://schemas.microsoft.com/office/powerpoint/2012/main" userId="acaf56e19c4812c2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44" autoAdjust="0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137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commentAuthors" Target="commentAuthor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51151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Открытие курса. 2–3 минуты. Сразу обозначить: курс не про соревнование моделей, а про управление созданием ML/AI-решения как продукта. Основа — РПД дисциплины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AE774D-0DD9-2B02-06A2-DD73C899B1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F98E34-FBAF-66AC-5346-1D65828325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84D9D6-86D8-CAE1-0F43-9695B1A441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Показать студентам маршрут и объяснить, что каждый следующий артефакт использует предыдущий.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D7A09C-C114-B420-1A33-7446F5FDA54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1060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Показать студентам маршрут и объяснить, что каждый следующий артефакт использует предыдущий.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7E6CAC-FC95-802C-3132-AD784B5072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54F6831-DD39-ACF6-81D4-1916AB0B56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B85CA0-787B-18B1-1A95-BBF79EB009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F38C4D-DC9B-1033-66A1-59681522D74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78370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Ориентир для разбора: цель — единый процесс обработки заявок; результат — внедренная и принятая система + миграция/настройки/обучение; границы — какие подразделения, процессы, интеграции входят/не входят; срок — 6 месяцев и ключевые вехи анализа, настройки, пилота, запуска; роли — заказчик, РП, владельцы процессов, ИТ, пользователи, подрядчик; риски — расхождение требований, миграция данных, сопротивление пользователей, интеграции, бюджет; критерии успеха — приемка, доля переведённых пользователей/заявок, соблюдение SLA, снижение времени обработки и т.д.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Разбор: A — потенциальный/инициация; следующий шаг — формализовать инициативу, назначить ответственного/РП и принять решение о запуске. B — планирование; следующий шаг — согласовать базовый план и разрешить переход к реализации/ожиданию старта. C — стадия завершения, но проект не закрыт; следующий шаг — получить формальную приемку/акт, закрыть обязательства и передать результат. D — закрыт/завершён. Важно: фактическое окончание работ и управленческое закрытие — не одно и то же.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Разбор: проектный контур — A, C, E: есть конкретный результат, фиксированная цель/срок, приемка и передача. Продуктовый контур — B, D, F: постоянное улучшение метрик и пользовательской ценности. В реальности эти контуры пересекаются: проект может быть способом реализовать крупное изменение внутри продукта.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Ожидаемый разбор: проектный критерий успеха — например, миграция завершена к сроку, сервисы переведены, требования по производительности/надежности выполнены, приемка пройдена. Продуктовый критерий — например, рост удержания/конверсии, снижение времени выполнения клиентской задачи, рост использования ключевого сценария, снижение churn. Важно: успешное завершение миграции само по себе не гарантирует роста ценности продукта.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Разбор: роли не должны “побеждать” друг друга. Product Manager/PO отвечает за ценность, проблему и приоритеты; РП — за достижение согласованной проектной цели в ограничениях; команда — за качественную реализацию и технические решения в своей зоне. Решение о существенном изменении обязательства обычно принимается на уровне владельца бизнес-цели/заказчика/управляющего органа с данными: ценность и риск релиза, стоимость задержки, регуляторные/договорные обязательства, технические риски, альтернативы по объёму. Названия ролей могут различаться по организации.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Ответы: во всех четырёх ситуациях приоритет соответствует левой части Agile Manifesto: люди и взаимодействие; работающий продукт; сотрудничество с заказчиком; готовность к изменениям. Ключевой вывод: Agile не запрещает процессы, документацию, договорённости и планы. Они нужны, но не должны становиться самоцелью или блокировать получение ценности.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Разбор:
Главная проблема — обратная связь пришла слишком поздно, когда стоимость изменения уже высокая. Это не означает, что заказчик всегда прав или scope не нужно контролировать.
Связанные ценности: работающий продукт важнее исчерпывающей документации; сотрудничество с заказчиком важнее согласования условий; готовность к изменениям важнее следования первоначальному плану.
Принципы: ранняя и регулярная поставка ценности, принятие изменений, частая поставка работающего ПО, постоянное взаимодействие бизнеса и разработчиков.
Что изменить: ранние прототипы/демо; короткие итерации; приоритизированный backlog; регулярное участие заказчика; техническая архитектура, снижающая стоимость изменений; прозрачное управление scope и ограничениями.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880" y="5176159"/>
            <a:ext cx="11640312" cy="845493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4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0313" y="5980176"/>
            <a:ext cx="11612880" cy="530352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150AF6FA-7D1D-1351-A76E-43C54D28FD6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4220" y="266700"/>
            <a:ext cx="11649456" cy="4853814"/>
          </a:xfrm>
          <a:custGeom>
            <a:avLst/>
            <a:gdLst>
              <a:gd name="connsiteX0" fmla="*/ 291520 w 11651080"/>
              <a:gd name="connsiteY0" fmla="*/ 0 h 4853814"/>
              <a:gd name="connsiteX1" fmla="*/ 11359560 w 11651080"/>
              <a:gd name="connsiteY1" fmla="*/ 0 h 4853814"/>
              <a:gd name="connsiteX2" fmla="*/ 11651080 w 11651080"/>
              <a:gd name="connsiteY2" fmla="*/ 291520 h 4853814"/>
              <a:gd name="connsiteX3" fmla="*/ 11651080 w 11651080"/>
              <a:gd name="connsiteY3" fmla="*/ 4562294 h 4853814"/>
              <a:gd name="connsiteX4" fmla="*/ 11359560 w 11651080"/>
              <a:gd name="connsiteY4" fmla="*/ 4853814 h 4853814"/>
              <a:gd name="connsiteX5" fmla="*/ 291520 w 11651080"/>
              <a:gd name="connsiteY5" fmla="*/ 4853814 h 4853814"/>
              <a:gd name="connsiteX6" fmla="*/ 0 w 11651080"/>
              <a:gd name="connsiteY6" fmla="*/ 4562294 h 4853814"/>
              <a:gd name="connsiteX7" fmla="*/ 0 w 11651080"/>
              <a:gd name="connsiteY7" fmla="*/ 291520 h 4853814"/>
              <a:gd name="connsiteX8" fmla="*/ 291520 w 11651080"/>
              <a:gd name="connsiteY8" fmla="*/ 0 h 48538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651080" h="4853814">
                <a:moveTo>
                  <a:pt x="291520" y="0"/>
                </a:moveTo>
                <a:lnTo>
                  <a:pt x="11359560" y="0"/>
                </a:lnTo>
                <a:cubicBezTo>
                  <a:pt x="11520562" y="0"/>
                  <a:pt x="11651080" y="130518"/>
                  <a:pt x="11651080" y="291520"/>
                </a:cubicBezTo>
                <a:lnTo>
                  <a:pt x="11651080" y="4562294"/>
                </a:lnTo>
                <a:cubicBezTo>
                  <a:pt x="11651080" y="4723296"/>
                  <a:pt x="11520562" y="4853814"/>
                  <a:pt x="11359560" y="4853814"/>
                </a:cubicBezTo>
                <a:lnTo>
                  <a:pt x="291520" y="4853814"/>
                </a:lnTo>
                <a:cubicBezTo>
                  <a:pt x="130518" y="4853814"/>
                  <a:pt x="0" y="4723296"/>
                  <a:pt x="0" y="4562294"/>
                </a:cubicBezTo>
                <a:lnTo>
                  <a:pt x="0" y="291520"/>
                </a:lnTo>
                <a:cubicBezTo>
                  <a:pt x="0" y="130518"/>
                  <a:pt x="130518" y="0"/>
                  <a:pt x="291520" y="0"/>
                </a:cubicBez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80" y="6391657"/>
            <a:ext cx="2805405" cy="330466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137848" y="6391657"/>
            <a:ext cx="3494314" cy="330466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  <a:effectLst/>
              </a:defRPr>
            </a:lvl1pPr>
          </a:lstStyle>
          <a:p>
            <a:fld id="{9961397C-706D-4EB8-B1E1-D1B680D284C3}" type="datetime1">
              <a:rPr lang="en-US" smtClean="0"/>
              <a:t>9/26/2026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2162" y="6391657"/>
            <a:ext cx="429207" cy="330466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pPr algn="r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756281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1B6F81-747A-40C6-B81B-62F051B20082}" type="datetime1">
              <a:rPr lang="en-US" smtClean="0"/>
              <a:t>9/26/2026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8061976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60262" y="208754"/>
            <a:ext cx="4066072" cy="3725937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50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68729" y="4846320"/>
            <a:ext cx="4066072" cy="1380744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7A934108-77F2-43A6-38EF-C1CDEDD103C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4320" y="266699"/>
            <a:ext cx="7238998" cy="6322891"/>
          </a:xfrm>
          <a:custGeom>
            <a:avLst/>
            <a:gdLst>
              <a:gd name="connsiteX0" fmla="*/ 291359 w 7238998"/>
              <a:gd name="connsiteY0" fmla="*/ 0 h 6322891"/>
              <a:gd name="connsiteX1" fmla="*/ 6947639 w 7238998"/>
              <a:gd name="connsiteY1" fmla="*/ 0 h 6322891"/>
              <a:gd name="connsiteX2" fmla="*/ 7238998 w 7238998"/>
              <a:gd name="connsiteY2" fmla="*/ 291359 h 6322891"/>
              <a:gd name="connsiteX3" fmla="*/ 7238998 w 7238998"/>
              <a:gd name="connsiteY3" fmla="*/ 6031532 h 6322891"/>
              <a:gd name="connsiteX4" fmla="*/ 6947639 w 7238998"/>
              <a:gd name="connsiteY4" fmla="*/ 6322891 h 6322891"/>
              <a:gd name="connsiteX5" fmla="*/ 291359 w 7238998"/>
              <a:gd name="connsiteY5" fmla="*/ 6322891 h 6322891"/>
              <a:gd name="connsiteX6" fmla="*/ 0 w 7238998"/>
              <a:gd name="connsiteY6" fmla="*/ 6031532 h 6322891"/>
              <a:gd name="connsiteX7" fmla="*/ 0 w 7238998"/>
              <a:gd name="connsiteY7" fmla="*/ 291359 h 6322891"/>
              <a:gd name="connsiteX8" fmla="*/ 291359 w 7238998"/>
              <a:gd name="connsiteY8" fmla="*/ 0 h 63228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238998" h="6322891">
                <a:moveTo>
                  <a:pt x="291359" y="0"/>
                </a:moveTo>
                <a:lnTo>
                  <a:pt x="6947639" y="0"/>
                </a:lnTo>
                <a:cubicBezTo>
                  <a:pt x="7108552" y="0"/>
                  <a:pt x="7238998" y="130446"/>
                  <a:pt x="7238998" y="291359"/>
                </a:cubicBezTo>
                <a:lnTo>
                  <a:pt x="7238998" y="6031532"/>
                </a:lnTo>
                <a:cubicBezTo>
                  <a:pt x="7238998" y="6192445"/>
                  <a:pt x="7108552" y="6322891"/>
                  <a:pt x="6947639" y="6322891"/>
                </a:cubicBezTo>
                <a:lnTo>
                  <a:pt x="291359" y="6322891"/>
                </a:lnTo>
                <a:cubicBezTo>
                  <a:pt x="130446" y="6322891"/>
                  <a:pt x="0" y="6192445"/>
                  <a:pt x="0" y="6031532"/>
                </a:cubicBezTo>
                <a:lnTo>
                  <a:pt x="0" y="291359"/>
                </a:lnTo>
                <a:cubicBezTo>
                  <a:pt x="0" y="130446"/>
                  <a:pt x="130446" y="0"/>
                  <a:pt x="291359" y="0"/>
                </a:cubicBez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666481" y="6391656"/>
            <a:ext cx="2703777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77500" y="6391656"/>
            <a:ext cx="1032084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DB19E114-DE0F-4D79-972B-16F4D1534B50}" type="datetime1">
              <a:rPr lang="en-US" smtClean="0"/>
              <a:t>9/26/2026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9584" y="6388837"/>
            <a:ext cx="457200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224201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18598" y="1529542"/>
            <a:ext cx="8154804" cy="2323883"/>
          </a:xfrm>
        </p:spPr>
        <p:txBody>
          <a:bodyPr anchor="b">
            <a:normAutofit/>
          </a:bodyPr>
          <a:lstStyle>
            <a:lvl1pPr algn="ctr">
              <a:defRPr sz="5400"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10715" y="4053504"/>
            <a:ext cx="5970570" cy="107267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54ACAC3-7932-4379-B917-F7F78C6F24BE}" type="datetime1">
              <a:rPr lang="en-US" smtClean="0"/>
              <a:t>9/26/2026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502772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раздела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729" y="3200400"/>
            <a:ext cx="9002895" cy="3582184"/>
          </a:xfrm>
        </p:spPr>
        <p:txBody>
          <a:bodyPr anchor="b">
            <a:normAutofit/>
          </a:bodyPr>
          <a:lstStyle>
            <a:lvl1pPr>
              <a:defRPr sz="6900"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849E7-8E94-3B02-239C-AAB481596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8704" y="141216"/>
            <a:ext cx="2703777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45713-EE4C-7615-B812-531C14CF0CA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77500" y="141216"/>
            <a:ext cx="1032084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BB9144B-27A2-4831-A05B-9434A462331E}" type="datetime1">
              <a:rPr lang="en-US" smtClean="0"/>
              <a:t>9/26/2026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644BD7-C050-D052-8408-65ADAAF67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9584" y="141216"/>
            <a:ext cx="457200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615047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815" y="189689"/>
            <a:ext cx="11341905" cy="1629485"/>
          </a:xfrm>
        </p:spPr>
        <p:txBody>
          <a:bodyPr anchor="t">
            <a:normAutofit/>
          </a:bodyPr>
          <a:lstStyle>
            <a:lvl1pPr>
              <a:defRPr sz="7600" baseline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96000" y="2362200"/>
            <a:ext cx="5829300" cy="3810000"/>
          </a:xfrm>
        </p:spPr>
        <p:txBody>
          <a:bodyPr vert="horz" lIns="91440" tIns="45720" rIns="91440" bIns="45720" rtlCol="0" anchor="b">
            <a:normAutofit/>
          </a:bodyPr>
          <a:lstStyle>
            <a:lvl1pPr marL="457200" indent="-457200">
              <a:buFont typeface="+mj-lt"/>
              <a:buAutoNum type="arabicPeriod"/>
              <a:defRPr lang="en-US" sz="1600" dirty="0"/>
            </a:lvl1pPr>
            <a:lvl2pPr marL="571500" indent="-342900">
              <a:buFont typeface="+mj-lt"/>
              <a:buAutoNum type="arabicPeriod"/>
              <a:defRPr lang="en-US" sz="1600" dirty="0"/>
            </a:lvl2pPr>
            <a:lvl3pPr marL="800100" indent="-342900">
              <a:buFont typeface="+mj-lt"/>
              <a:buAutoNum type="arabicPeriod"/>
              <a:defRPr lang="en-US" sz="1600" dirty="0"/>
            </a:lvl3pPr>
            <a:lvl4pPr>
              <a:buFont typeface="+mj-lt"/>
              <a:buAutoNum type="arabicPeriod"/>
              <a:defRPr lang="en-US" sz="1600" dirty="0"/>
            </a:lvl4pPr>
            <a:lvl5pPr>
              <a:buFont typeface="+mj-lt"/>
              <a:buAutoNum type="arabicPeriod"/>
              <a:defRPr lang="en-US" sz="1600" dirty="0"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95950-DBB3-436C-A1DD-7D3C30A336E3}" type="datetime1">
              <a:rPr lang="en-US" smtClean="0"/>
              <a:t>9/26/2026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587997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4061862"/>
            <a:ext cx="5913120" cy="2268359"/>
          </a:xfrm>
        </p:spPr>
        <p:txBody>
          <a:bodyPr anchor="t">
            <a:normAutofit/>
          </a:bodyPr>
          <a:lstStyle>
            <a:lvl1pPr>
              <a:defRPr sz="58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F88BC23C-4171-DFCF-3175-10D2602FF561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274320" y="268508"/>
            <a:ext cx="11649456" cy="3609085"/>
          </a:xfrm>
          <a:custGeom>
            <a:avLst/>
            <a:gdLst>
              <a:gd name="connsiteX0" fmla="*/ 283385 w 11658600"/>
              <a:gd name="connsiteY0" fmla="*/ 0 h 3609085"/>
              <a:gd name="connsiteX1" fmla="*/ 11375215 w 11658600"/>
              <a:gd name="connsiteY1" fmla="*/ 0 h 3609085"/>
              <a:gd name="connsiteX2" fmla="*/ 11658600 w 11658600"/>
              <a:gd name="connsiteY2" fmla="*/ 283385 h 3609085"/>
              <a:gd name="connsiteX3" fmla="*/ 11658600 w 11658600"/>
              <a:gd name="connsiteY3" fmla="*/ 3325700 h 3609085"/>
              <a:gd name="connsiteX4" fmla="*/ 11375215 w 11658600"/>
              <a:gd name="connsiteY4" fmla="*/ 3609085 h 3609085"/>
              <a:gd name="connsiteX5" fmla="*/ 283385 w 11658600"/>
              <a:gd name="connsiteY5" fmla="*/ 3609085 h 3609085"/>
              <a:gd name="connsiteX6" fmla="*/ 0 w 11658600"/>
              <a:gd name="connsiteY6" fmla="*/ 3325700 h 3609085"/>
              <a:gd name="connsiteX7" fmla="*/ 0 w 11658600"/>
              <a:gd name="connsiteY7" fmla="*/ 283385 h 3609085"/>
              <a:gd name="connsiteX8" fmla="*/ 283385 w 11658600"/>
              <a:gd name="connsiteY8" fmla="*/ 0 h 36090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658600" h="3609085">
                <a:moveTo>
                  <a:pt x="283385" y="0"/>
                </a:moveTo>
                <a:lnTo>
                  <a:pt x="11375215" y="0"/>
                </a:lnTo>
                <a:cubicBezTo>
                  <a:pt x="11531724" y="0"/>
                  <a:pt x="11658600" y="126876"/>
                  <a:pt x="11658600" y="283385"/>
                </a:cubicBezTo>
                <a:lnTo>
                  <a:pt x="11658600" y="3325700"/>
                </a:lnTo>
                <a:cubicBezTo>
                  <a:pt x="11658600" y="3482209"/>
                  <a:pt x="11531724" y="3609085"/>
                  <a:pt x="11375215" y="3609085"/>
                </a:cubicBezTo>
                <a:lnTo>
                  <a:pt x="283385" y="3609085"/>
                </a:lnTo>
                <a:cubicBezTo>
                  <a:pt x="126876" y="3609085"/>
                  <a:pt x="0" y="3482209"/>
                  <a:pt x="0" y="3325700"/>
                </a:cubicBezTo>
                <a:lnTo>
                  <a:pt x="0" y="283385"/>
                </a:lnTo>
                <a:cubicBezTo>
                  <a:pt x="0" y="126876"/>
                  <a:pt x="126876" y="0"/>
                  <a:pt x="283385" y="0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515973" y="4039118"/>
            <a:ext cx="4419601" cy="2268360"/>
          </a:xfrm>
        </p:spPr>
        <p:txBody>
          <a:bodyPr vert="horz" lIns="91440" tIns="45720" rIns="91440" bIns="45720" rtlCol="0">
            <a:normAutofit/>
          </a:bodyPr>
          <a:lstStyle>
            <a:lvl1pPr marL="342900" indent="-342900">
              <a:buFont typeface="+mj-lt"/>
              <a:buAutoNum type="arabicPeriod"/>
              <a:defRPr lang="en-US" sz="1400" dirty="0"/>
            </a:lvl1pPr>
            <a:lvl2pPr marL="571500" indent="-342900">
              <a:buFont typeface="+mj-lt"/>
              <a:buAutoNum type="arabicPeriod"/>
              <a:defRPr lang="en-US" sz="1400" dirty="0"/>
            </a:lvl2pPr>
            <a:lvl3pPr marL="800100" indent="-342900">
              <a:buFont typeface="+mj-lt"/>
              <a:buAutoNum type="arabicPeriod"/>
              <a:defRPr lang="en-US" sz="1400" dirty="0"/>
            </a:lvl3pPr>
            <a:lvl4pPr>
              <a:buFont typeface="+mj-lt"/>
              <a:buAutoNum type="arabicPeriod"/>
              <a:defRPr lang="en-US" sz="1400" dirty="0"/>
            </a:lvl4pPr>
            <a:lvl5pPr>
              <a:buFont typeface="+mj-lt"/>
              <a:buAutoNum type="arabicPeriod"/>
              <a:defRPr lang="en-US" sz="1400" dirty="0"/>
            </a:lvl5pPr>
          </a:lstStyle>
          <a:p>
            <a:pPr marL="228600" lvl="0" indent="-228600"/>
            <a:r>
              <a:rPr lang="ru-RU"/>
              <a:t>Образец текста</a:t>
            </a:r>
          </a:p>
          <a:p>
            <a:pPr marL="228600" lvl="1" indent="-228600"/>
            <a:r>
              <a:rPr lang="ru-RU"/>
              <a:t>Второй уровень</a:t>
            </a:r>
          </a:p>
          <a:p>
            <a:pPr marL="228600" lvl="2" indent="-228600"/>
            <a:r>
              <a:rPr lang="ru-RU"/>
              <a:t>Третий уровень</a:t>
            </a:r>
          </a:p>
          <a:p>
            <a:pPr marL="228600" lvl="3" indent="-228600"/>
            <a:r>
              <a:rPr lang="ru-RU"/>
              <a:t>Четвертый уровень</a:t>
            </a:r>
          </a:p>
          <a:p>
            <a:pPr marL="228600" lvl="4" indent="-228600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80" y="6387737"/>
            <a:ext cx="2703777" cy="338328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ECDF8E-0DD2-43D3-8D07-9F3C411EACC9}" type="datetime1">
              <a:rPr lang="en-US" smtClean="0"/>
              <a:t>9/26/2026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178060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5131" y="1638299"/>
            <a:ext cx="3314700" cy="3873268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901019" y="1638299"/>
            <a:ext cx="6080760" cy="3873267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B97BB-FABD-465F-A92A-114DD4401A7A}" type="datetime1">
              <a:rPr lang="en-US" smtClean="0"/>
              <a:t>9/26/2026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5712689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219456"/>
            <a:ext cx="3310394" cy="4058127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972674" y="266700"/>
            <a:ext cx="7688495" cy="6047836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2A6678-B47B-4355-B5D6-D7B9669114D3}" type="datetime1">
              <a:rPr lang="en-US" smtClean="0"/>
              <a:t>9/26/2026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5295979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9525" y="219456"/>
            <a:ext cx="6376547" cy="1066006"/>
          </a:xfrm>
        </p:spPr>
        <p:txBody>
          <a:bodyPr anchor="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AC455FC9-9346-2F53-C58C-5C64036CD92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4320" y="268573"/>
            <a:ext cx="4419600" cy="6325969"/>
          </a:xfrm>
          <a:custGeom>
            <a:avLst/>
            <a:gdLst>
              <a:gd name="connsiteX0" fmla="*/ 300746 w 4381500"/>
              <a:gd name="connsiteY0" fmla="*/ 0 h 6290961"/>
              <a:gd name="connsiteX1" fmla="*/ 4080754 w 4381500"/>
              <a:gd name="connsiteY1" fmla="*/ 0 h 6290961"/>
              <a:gd name="connsiteX2" fmla="*/ 4381500 w 4381500"/>
              <a:gd name="connsiteY2" fmla="*/ 300746 h 6290961"/>
              <a:gd name="connsiteX3" fmla="*/ 4381500 w 4381500"/>
              <a:gd name="connsiteY3" fmla="*/ 5990215 h 6290961"/>
              <a:gd name="connsiteX4" fmla="*/ 4080754 w 4381500"/>
              <a:gd name="connsiteY4" fmla="*/ 6290961 h 6290961"/>
              <a:gd name="connsiteX5" fmla="*/ 300746 w 4381500"/>
              <a:gd name="connsiteY5" fmla="*/ 6290961 h 6290961"/>
              <a:gd name="connsiteX6" fmla="*/ 0 w 4381500"/>
              <a:gd name="connsiteY6" fmla="*/ 5990215 h 6290961"/>
              <a:gd name="connsiteX7" fmla="*/ 0 w 4381500"/>
              <a:gd name="connsiteY7" fmla="*/ 300746 h 6290961"/>
              <a:gd name="connsiteX8" fmla="*/ 300746 w 4381500"/>
              <a:gd name="connsiteY8" fmla="*/ 0 h 62909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381500" h="6290961">
                <a:moveTo>
                  <a:pt x="300746" y="0"/>
                </a:moveTo>
                <a:lnTo>
                  <a:pt x="4080754" y="0"/>
                </a:lnTo>
                <a:cubicBezTo>
                  <a:pt x="4246851" y="0"/>
                  <a:pt x="4381500" y="134649"/>
                  <a:pt x="4381500" y="300746"/>
                </a:cubicBezTo>
                <a:lnTo>
                  <a:pt x="4381500" y="5990215"/>
                </a:lnTo>
                <a:cubicBezTo>
                  <a:pt x="4381500" y="6156312"/>
                  <a:pt x="4246851" y="6290961"/>
                  <a:pt x="4080754" y="6290961"/>
                </a:cubicBezTo>
                <a:lnTo>
                  <a:pt x="300746" y="6290961"/>
                </a:lnTo>
                <a:cubicBezTo>
                  <a:pt x="134649" y="6290961"/>
                  <a:pt x="0" y="6156312"/>
                  <a:pt x="0" y="5990215"/>
                </a:cubicBezTo>
                <a:lnTo>
                  <a:pt x="0" y="300746"/>
                </a:lnTo>
                <a:cubicBezTo>
                  <a:pt x="0" y="134649"/>
                  <a:pt x="134649" y="0"/>
                  <a:pt x="30074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919526" y="1285462"/>
            <a:ext cx="6376546" cy="4986355"/>
          </a:xfrm>
        </p:spPr>
        <p:txBody>
          <a:bodyPr anchor="b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919526" y="6387737"/>
            <a:ext cx="2703777" cy="338328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4C4801C4-BD33-47CA-B204-FEE9BA7A0B92}" type="datetime1">
              <a:rPr lang="en-US" smtClean="0"/>
              <a:t>9/26/2026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1693547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8702" y="219456"/>
            <a:ext cx="7241297" cy="923544"/>
          </a:xfrm>
        </p:spPr>
        <p:txBody>
          <a:bodyPr anchor="t"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0" name="Picture Placeholder 9">
            <a:extLst>
              <a:ext uri="{FF2B5EF4-FFF2-40B4-BE49-F238E27FC236}">
                <a16:creationId xmlns:a16="http://schemas.microsoft.com/office/drawing/2014/main" id="{FC55F3DB-E75F-ADDF-8222-D3F62F2CCE8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4320" y="268573"/>
            <a:ext cx="3675888" cy="6327648"/>
          </a:xfrm>
          <a:custGeom>
            <a:avLst/>
            <a:gdLst>
              <a:gd name="connsiteX0" fmla="*/ 301545 w 3675888"/>
              <a:gd name="connsiteY0" fmla="*/ 0 h 6320854"/>
              <a:gd name="connsiteX1" fmla="*/ 3375347 w 3675888"/>
              <a:gd name="connsiteY1" fmla="*/ 0 h 6320854"/>
              <a:gd name="connsiteX2" fmla="*/ 3675888 w 3675888"/>
              <a:gd name="connsiteY2" fmla="*/ 300541 h 6320854"/>
              <a:gd name="connsiteX3" fmla="*/ 3675888 w 3675888"/>
              <a:gd name="connsiteY3" fmla="*/ 6025428 h 6320854"/>
              <a:gd name="connsiteX4" fmla="*/ 3492331 w 3675888"/>
              <a:gd name="connsiteY4" fmla="*/ 6302351 h 6320854"/>
              <a:gd name="connsiteX5" fmla="*/ 3400682 w 3675888"/>
              <a:gd name="connsiteY5" fmla="*/ 6320854 h 6320854"/>
              <a:gd name="connsiteX6" fmla="*/ 275206 w 3675888"/>
              <a:gd name="connsiteY6" fmla="*/ 6320854 h 6320854"/>
              <a:gd name="connsiteX7" fmla="*/ 186647 w 3675888"/>
              <a:gd name="connsiteY7" fmla="*/ 6302975 h 6320854"/>
              <a:gd name="connsiteX8" fmla="*/ 184171 w 3675888"/>
              <a:gd name="connsiteY8" fmla="*/ 6302204 h 6320854"/>
              <a:gd name="connsiteX9" fmla="*/ 114619 w 3675888"/>
              <a:gd name="connsiteY9" fmla="*/ 6259884 h 6320854"/>
              <a:gd name="connsiteX10" fmla="*/ 105939 w 3675888"/>
              <a:gd name="connsiteY10" fmla="*/ 6252721 h 6320854"/>
              <a:gd name="connsiteX11" fmla="*/ 51500 w 3675888"/>
              <a:gd name="connsiteY11" fmla="*/ 6192635 h 6320854"/>
              <a:gd name="connsiteX12" fmla="*/ 16622 w 3675888"/>
              <a:gd name="connsiteY12" fmla="*/ 6119873 h 6320854"/>
              <a:gd name="connsiteX13" fmla="*/ 12537 w 3675888"/>
              <a:gd name="connsiteY13" fmla="*/ 6106716 h 6320854"/>
              <a:gd name="connsiteX14" fmla="*/ 0 w 3675888"/>
              <a:gd name="connsiteY14" fmla="*/ 6023550 h 6320854"/>
              <a:gd name="connsiteX15" fmla="*/ 0 w 3675888"/>
              <a:gd name="connsiteY15" fmla="*/ 302420 h 6320854"/>
              <a:gd name="connsiteX16" fmla="*/ 301545 w 3675888"/>
              <a:gd name="connsiteY16" fmla="*/ 0 h 63208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675888" h="6320854">
                <a:moveTo>
                  <a:pt x="301545" y="0"/>
                </a:moveTo>
                <a:lnTo>
                  <a:pt x="3375347" y="0"/>
                </a:lnTo>
                <a:cubicBezTo>
                  <a:pt x="3541331" y="0"/>
                  <a:pt x="3675888" y="134557"/>
                  <a:pt x="3675888" y="300541"/>
                </a:cubicBezTo>
                <a:lnTo>
                  <a:pt x="3675888" y="6025428"/>
                </a:lnTo>
                <a:cubicBezTo>
                  <a:pt x="3675888" y="6149916"/>
                  <a:pt x="3600200" y="6256727"/>
                  <a:pt x="3492331" y="6302351"/>
                </a:cubicBezTo>
                <a:lnTo>
                  <a:pt x="3400682" y="6320854"/>
                </a:lnTo>
                <a:lnTo>
                  <a:pt x="275206" y="6320854"/>
                </a:lnTo>
                <a:lnTo>
                  <a:pt x="186647" y="6302975"/>
                </a:lnTo>
                <a:lnTo>
                  <a:pt x="184171" y="6302204"/>
                </a:lnTo>
                <a:lnTo>
                  <a:pt x="114619" y="6259884"/>
                </a:lnTo>
                <a:lnTo>
                  <a:pt x="105939" y="6252721"/>
                </a:lnTo>
                <a:lnTo>
                  <a:pt x="51500" y="6192635"/>
                </a:lnTo>
                <a:lnTo>
                  <a:pt x="16622" y="6119873"/>
                </a:lnTo>
                <a:lnTo>
                  <a:pt x="12537" y="6106716"/>
                </a:lnTo>
                <a:lnTo>
                  <a:pt x="0" y="6023550"/>
                </a:lnTo>
                <a:lnTo>
                  <a:pt x="0" y="302420"/>
                </a:lnTo>
                <a:cubicBezTo>
                  <a:pt x="0" y="135398"/>
                  <a:pt x="135007" y="0"/>
                  <a:pt x="30154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188702" y="1143000"/>
            <a:ext cx="7241298" cy="5239512"/>
          </a:xfrm>
        </p:spPr>
        <p:txBody>
          <a:bodyPr anchor="b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88702" y="6382981"/>
            <a:ext cx="2703777" cy="338328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07BBC631-32E9-41B5-A4D6-F9BADFAA6AF1}" type="datetime1">
              <a:rPr lang="en-US" smtClean="0"/>
              <a:t>9/26/2026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1115462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219456"/>
            <a:ext cx="7241297" cy="923544"/>
          </a:xfrm>
        </p:spPr>
        <p:txBody>
          <a:bodyPr anchor="t"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82880" y="1143000"/>
            <a:ext cx="7241298" cy="5239512"/>
          </a:xfrm>
        </p:spPr>
        <p:txBody>
          <a:bodyPr anchor="b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80" y="6382981"/>
            <a:ext cx="2703777" cy="338328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392093" y="6387128"/>
            <a:ext cx="1032084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A84DF367-E34D-4C28-A660-DCABBED01BCF}" type="datetime1">
              <a:rPr lang="en-US" smtClean="0"/>
              <a:t>9/26/2026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424177" y="6387128"/>
            <a:ext cx="457200" cy="338328"/>
          </a:xfrm>
        </p:spPr>
        <p:txBody>
          <a:bodyPr/>
          <a:lstStyle/>
          <a:p>
            <a:pPr algn="r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  <p:sp>
        <p:nvSpPr>
          <p:cNvPr id="4" name="Picture Placeholder 9">
            <a:extLst>
              <a:ext uri="{FF2B5EF4-FFF2-40B4-BE49-F238E27FC236}">
                <a16:creationId xmlns:a16="http://schemas.microsoft.com/office/drawing/2014/main" id="{F47C8A4F-E753-8148-3650-49C421EB547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249412" y="268573"/>
            <a:ext cx="3675888" cy="6327648"/>
          </a:xfrm>
          <a:custGeom>
            <a:avLst/>
            <a:gdLst>
              <a:gd name="connsiteX0" fmla="*/ 301545 w 3675888"/>
              <a:gd name="connsiteY0" fmla="*/ 0 h 6320854"/>
              <a:gd name="connsiteX1" fmla="*/ 3375347 w 3675888"/>
              <a:gd name="connsiteY1" fmla="*/ 0 h 6320854"/>
              <a:gd name="connsiteX2" fmla="*/ 3675888 w 3675888"/>
              <a:gd name="connsiteY2" fmla="*/ 300541 h 6320854"/>
              <a:gd name="connsiteX3" fmla="*/ 3675888 w 3675888"/>
              <a:gd name="connsiteY3" fmla="*/ 6025428 h 6320854"/>
              <a:gd name="connsiteX4" fmla="*/ 3492331 w 3675888"/>
              <a:gd name="connsiteY4" fmla="*/ 6302351 h 6320854"/>
              <a:gd name="connsiteX5" fmla="*/ 3400682 w 3675888"/>
              <a:gd name="connsiteY5" fmla="*/ 6320854 h 6320854"/>
              <a:gd name="connsiteX6" fmla="*/ 275206 w 3675888"/>
              <a:gd name="connsiteY6" fmla="*/ 6320854 h 6320854"/>
              <a:gd name="connsiteX7" fmla="*/ 186647 w 3675888"/>
              <a:gd name="connsiteY7" fmla="*/ 6302975 h 6320854"/>
              <a:gd name="connsiteX8" fmla="*/ 184171 w 3675888"/>
              <a:gd name="connsiteY8" fmla="*/ 6302204 h 6320854"/>
              <a:gd name="connsiteX9" fmla="*/ 114619 w 3675888"/>
              <a:gd name="connsiteY9" fmla="*/ 6259883 h 6320854"/>
              <a:gd name="connsiteX10" fmla="*/ 105939 w 3675888"/>
              <a:gd name="connsiteY10" fmla="*/ 6252722 h 6320854"/>
              <a:gd name="connsiteX11" fmla="*/ 51500 w 3675888"/>
              <a:gd name="connsiteY11" fmla="*/ 6192635 h 6320854"/>
              <a:gd name="connsiteX12" fmla="*/ 16622 w 3675888"/>
              <a:gd name="connsiteY12" fmla="*/ 6119873 h 6320854"/>
              <a:gd name="connsiteX13" fmla="*/ 12538 w 3675888"/>
              <a:gd name="connsiteY13" fmla="*/ 6106716 h 6320854"/>
              <a:gd name="connsiteX14" fmla="*/ 0 w 3675888"/>
              <a:gd name="connsiteY14" fmla="*/ 6023550 h 6320854"/>
              <a:gd name="connsiteX15" fmla="*/ 0 w 3675888"/>
              <a:gd name="connsiteY15" fmla="*/ 302420 h 6320854"/>
              <a:gd name="connsiteX16" fmla="*/ 301545 w 3675888"/>
              <a:gd name="connsiteY16" fmla="*/ 0 h 63208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675888" h="6320854">
                <a:moveTo>
                  <a:pt x="301545" y="0"/>
                </a:moveTo>
                <a:lnTo>
                  <a:pt x="3375347" y="0"/>
                </a:lnTo>
                <a:cubicBezTo>
                  <a:pt x="3541331" y="0"/>
                  <a:pt x="3675888" y="134557"/>
                  <a:pt x="3675888" y="300541"/>
                </a:cubicBezTo>
                <a:lnTo>
                  <a:pt x="3675888" y="6025428"/>
                </a:lnTo>
                <a:cubicBezTo>
                  <a:pt x="3675888" y="6149916"/>
                  <a:pt x="3600200" y="6256727"/>
                  <a:pt x="3492331" y="6302351"/>
                </a:cubicBezTo>
                <a:lnTo>
                  <a:pt x="3400682" y="6320854"/>
                </a:lnTo>
                <a:lnTo>
                  <a:pt x="275206" y="6320854"/>
                </a:lnTo>
                <a:lnTo>
                  <a:pt x="186647" y="6302975"/>
                </a:lnTo>
                <a:lnTo>
                  <a:pt x="184171" y="6302204"/>
                </a:lnTo>
                <a:lnTo>
                  <a:pt x="114619" y="6259883"/>
                </a:lnTo>
                <a:lnTo>
                  <a:pt x="105939" y="6252722"/>
                </a:lnTo>
                <a:lnTo>
                  <a:pt x="51500" y="6192635"/>
                </a:lnTo>
                <a:lnTo>
                  <a:pt x="16622" y="6119873"/>
                </a:lnTo>
                <a:lnTo>
                  <a:pt x="12538" y="6106716"/>
                </a:lnTo>
                <a:lnTo>
                  <a:pt x="0" y="6023550"/>
                </a:lnTo>
                <a:lnTo>
                  <a:pt x="0" y="302420"/>
                </a:lnTo>
                <a:cubicBezTo>
                  <a:pt x="0" y="135398"/>
                  <a:pt x="135007" y="0"/>
                  <a:pt x="30154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518666904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855" y="219456"/>
            <a:ext cx="4717429" cy="1180888"/>
          </a:xfrm>
        </p:spPr>
        <p:txBody>
          <a:bodyPr anchor="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85855" y="1400344"/>
            <a:ext cx="4729045" cy="4871473"/>
          </a:xfrm>
        </p:spPr>
        <p:txBody>
          <a:bodyPr anchor="b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588172" y="6390795"/>
            <a:ext cx="1298784" cy="338328"/>
          </a:xfrm>
        </p:spPr>
        <p:txBody>
          <a:bodyPr/>
          <a:lstStyle/>
          <a:p>
            <a:fld id="{5489A3B8-AADB-439D-85B5-E9ACAFD37972}" type="datetime1">
              <a:rPr lang="en-US" smtClean="0"/>
              <a:t>9/26/2026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86956" y="6390795"/>
            <a:ext cx="4572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pPr algn="r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0846273-A5CB-BDCB-C625-903F863EC30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600703" y="266700"/>
            <a:ext cx="6324469" cy="6324600"/>
          </a:xfrm>
          <a:custGeom>
            <a:avLst/>
            <a:gdLst>
              <a:gd name="connsiteX0" fmla="*/ 269395 w 6111507"/>
              <a:gd name="connsiteY0" fmla="*/ 0 h 6172338"/>
              <a:gd name="connsiteX1" fmla="*/ 5842112 w 6111507"/>
              <a:gd name="connsiteY1" fmla="*/ 0 h 6172338"/>
              <a:gd name="connsiteX2" fmla="*/ 6111507 w 6111507"/>
              <a:gd name="connsiteY2" fmla="*/ 268145 h 6172338"/>
              <a:gd name="connsiteX3" fmla="*/ 6111507 w 6111507"/>
              <a:gd name="connsiteY3" fmla="*/ 5904194 h 6172338"/>
              <a:gd name="connsiteX4" fmla="*/ 5842112 w 6111507"/>
              <a:gd name="connsiteY4" fmla="*/ 6172338 h 6172338"/>
              <a:gd name="connsiteX5" fmla="*/ 269395 w 6111507"/>
              <a:gd name="connsiteY5" fmla="*/ 6172338 h 6172338"/>
              <a:gd name="connsiteX6" fmla="*/ 0 w 6111507"/>
              <a:gd name="connsiteY6" fmla="*/ 5904194 h 6172338"/>
              <a:gd name="connsiteX7" fmla="*/ 0 w 6111507"/>
              <a:gd name="connsiteY7" fmla="*/ 268145 h 6172338"/>
              <a:gd name="connsiteX8" fmla="*/ 269395 w 6111507"/>
              <a:gd name="connsiteY8" fmla="*/ 0 h 6172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111507" h="6172338">
                <a:moveTo>
                  <a:pt x="269395" y="0"/>
                </a:moveTo>
                <a:lnTo>
                  <a:pt x="5842112" y="0"/>
                </a:lnTo>
                <a:cubicBezTo>
                  <a:pt x="5990895" y="0"/>
                  <a:pt x="6111507" y="120052"/>
                  <a:pt x="6111507" y="268145"/>
                </a:cubicBezTo>
                <a:lnTo>
                  <a:pt x="6111507" y="5904194"/>
                </a:lnTo>
                <a:cubicBezTo>
                  <a:pt x="6111507" y="6052286"/>
                  <a:pt x="5990895" y="6172338"/>
                  <a:pt x="5842112" y="6172338"/>
                </a:cubicBezTo>
                <a:lnTo>
                  <a:pt x="269395" y="6172338"/>
                </a:lnTo>
                <a:cubicBezTo>
                  <a:pt x="120612" y="6172338"/>
                  <a:pt x="0" y="6052286"/>
                  <a:pt x="0" y="5904194"/>
                </a:cubicBezTo>
                <a:lnTo>
                  <a:pt x="0" y="268145"/>
                </a:lnTo>
                <a:cubicBezTo>
                  <a:pt x="0" y="120052"/>
                  <a:pt x="120612" y="0"/>
                  <a:pt x="26939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34984110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1" y="220869"/>
            <a:ext cx="3208020" cy="3088635"/>
          </a:xfrm>
        </p:spPr>
        <p:txBody>
          <a:bodyPr anchor="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6FEEE5C-15B3-8386-23D3-B6B236C668F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686300" y="266700"/>
            <a:ext cx="3500538" cy="6324600"/>
          </a:xfrm>
          <a:custGeom>
            <a:avLst/>
            <a:gdLst>
              <a:gd name="connsiteX0" fmla="*/ 292116 w 3808553"/>
              <a:gd name="connsiteY0" fmla="*/ 0 h 6172200"/>
              <a:gd name="connsiteX1" fmla="*/ 3516437 w 3808553"/>
              <a:gd name="connsiteY1" fmla="*/ 0 h 6172200"/>
              <a:gd name="connsiteX2" fmla="*/ 3808553 w 3808553"/>
              <a:gd name="connsiteY2" fmla="*/ 292116 h 6172200"/>
              <a:gd name="connsiteX3" fmla="*/ 3808553 w 3808553"/>
              <a:gd name="connsiteY3" fmla="*/ 5880084 h 6172200"/>
              <a:gd name="connsiteX4" fmla="*/ 3516437 w 3808553"/>
              <a:gd name="connsiteY4" fmla="*/ 6172200 h 6172200"/>
              <a:gd name="connsiteX5" fmla="*/ 292116 w 3808553"/>
              <a:gd name="connsiteY5" fmla="*/ 6172200 h 6172200"/>
              <a:gd name="connsiteX6" fmla="*/ 0 w 3808553"/>
              <a:gd name="connsiteY6" fmla="*/ 5880084 h 6172200"/>
              <a:gd name="connsiteX7" fmla="*/ 0 w 3808553"/>
              <a:gd name="connsiteY7" fmla="*/ 292116 h 6172200"/>
              <a:gd name="connsiteX8" fmla="*/ 292116 w 3808553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808553" h="6172200">
                <a:moveTo>
                  <a:pt x="292116" y="0"/>
                </a:moveTo>
                <a:lnTo>
                  <a:pt x="3516437" y="0"/>
                </a:lnTo>
                <a:cubicBezTo>
                  <a:pt x="3677768" y="0"/>
                  <a:pt x="3808553" y="130785"/>
                  <a:pt x="3808553" y="292116"/>
                </a:cubicBezTo>
                <a:lnTo>
                  <a:pt x="3808553" y="5880084"/>
                </a:lnTo>
                <a:cubicBezTo>
                  <a:pt x="3808553" y="6041415"/>
                  <a:pt x="3677768" y="6172200"/>
                  <a:pt x="3516437" y="6172200"/>
                </a:cubicBezTo>
                <a:lnTo>
                  <a:pt x="292116" y="6172200"/>
                </a:lnTo>
                <a:cubicBezTo>
                  <a:pt x="130785" y="6172200"/>
                  <a:pt x="0" y="6041415"/>
                  <a:pt x="0" y="5880084"/>
                </a:cubicBezTo>
                <a:lnTo>
                  <a:pt x="0" y="292116"/>
                </a:lnTo>
                <a:cubicBezTo>
                  <a:pt x="0" y="130785"/>
                  <a:pt x="130785" y="0"/>
                  <a:pt x="29211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461087" y="220870"/>
            <a:ext cx="3200400" cy="6055554"/>
          </a:xfrm>
        </p:spPr>
        <p:txBody>
          <a:bodyPr anchor="b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28399-DE27-4A8B-8419-0512D16F4926}" type="datetime1">
              <a:rPr lang="en-US" smtClean="0"/>
              <a:t>9/26/2026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pPr algn="r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1064877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13755" y="219456"/>
            <a:ext cx="3891435" cy="1225339"/>
          </a:xfrm>
        </p:spPr>
        <p:txBody>
          <a:bodyPr anchor="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B3BE62AC-2855-BB28-0282-25CA658273E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0473" y="265176"/>
            <a:ext cx="6984636" cy="6327648"/>
          </a:xfrm>
          <a:custGeom>
            <a:avLst/>
            <a:gdLst>
              <a:gd name="connsiteX0" fmla="*/ 302565 w 7228936"/>
              <a:gd name="connsiteY0" fmla="*/ 0 h 6316602"/>
              <a:gd name="connsiteX1" fmla="*/ 6926371 w 7228936"/>
              <a:gd name="connsiteY1" fmla="*/ 0 h 6316602"/>
              <a:gd name="connsiteX2" fmla="*/ 7228936 w 7228936"/>
              <a:gd name="connsiteY2" fmla="*/ 302565 h 6316602"/>
              <a:gd name="connsiteX3" fmla="*/ 7228936 w 7228936"/>
              <a:gd name="connsiteY3" fmla="*/ 6014037 h 6316602"/>
              <a:gd name="connsiteX4" fmla="*/ 6926371 w 7228936"/>
              <a:gd name="connsiteY4" fmla="*/ 6316602 h 6316602"/>
              <a:gd name="connsiteX5" fmla="*/ 302565 w 7228936"/>
              <a:gd name="connsiteY5" fmla="*/ 6316602 h 6316602"/>
              <a:gd name="connsiteX6" fmla="*/ 0 w 7228936"/>
              <a:gd name="connsiteY6" fmla="*/ 6014037 h 6316602"/>
              <a:gd name="connsiteX7" fmla="*/ 0 w 7228936"/>
              <a:gd name="connsiteY7" fmla="*/ 302565 h 6316602"/>
              <a:gd name="connsiteX8" fmla="*/ 302565 w 7228936"/>
              <a:gd name="connsiteY8" fmla="*/ 0 h 63166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228936" h="6316602">
                <a:moveTo>
                  <a:pt x="302565" y="0"/>
                </a:moveTo>
                <a:lnTo>
                  <a:pt x="6926371" y="0"/>
                </a:lnTo>
                <a:cubicBezTo>
                  <a:pt x="7093473" y="0"/>
                  <a:pt x="7228936" y="135463"/>
                  <a:pt x="7228936" y="302565"/>
                </a:cubicBezTo>
                <a:lnTo>
                  <a:pt x="7228936" y="6014037"/>
                </a:lnTo>
                <a:cubicBezTo>
                  <a:pt x="7228936" y="6181139"/>
                  <a:pt x="7093473" y="6316602"/>
                  <a:pt x="6926371" y="6316602"/>
                </a:cubicBezTo>
                <a:lnTo>
                  <a:pt x="302565" y="6316602"/>
                </a:lnTo>
                <a:cubicBezTo>
                  <a:pt x="135463" y="6316602"/>
                  <a:pt x="0" y="6181139"/>
                  <a:pt x="0" y="6014037"/>
                </a:cubicBezTo>
                <a:lnTo>
                  <a:pt x="0" y="302565"/>
                </a:lnTo>
                <a:cubicBezTo>
                  <a:pt x="0" y="135463"/>
                  <a:pt x="135463" y="0"/>
                  <a:pt x="30256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513753" y="1435652"/>
            <a:ext cx="3891435" cy="4833862"/>
          </a:xfrm>
        </p:spPr>
        <p:txBody>
          <a:bodyPr anchor="b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15079" y="6387128"/>
            <a:ext cx="2703777" cy="338328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19F43114-67DF-4FA3-9285-385EAC7FCBCA}" type="datetime1">
              <a:rPr lang="en-US" smtClean="0"/>
              <a:t>9/26/2026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1314546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854" y="219456"/>
            <a:ext cx="3234982" cy="1577218"/>
          </a:xfrm>
        </p:spPr>
        <p:txBody>
          <a:bodyPr anchor="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85854" y="1796675"/>
            <a:ext cx="3234982" cy="447147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8705" y="6387128"/>
            <a:ext cx="2095770" cy="338328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206416" y="6390795"/>
            <a:ext cx="1032084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BB0B5C10-8896-4A25-9ADC-0DE16BEA40F9}" type="datetime1">
              <a:rPr lang="en-US" smtClean="0"/>
              <a:t>9/26/2026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238500" y="6390795"/>
            <a:ext cx="457200" cy="338328"/>
          </a:xfrm>
        </p:spPr>
        <p:txBody>
          <a:bodyPr/>
          <a:lstStyle/>
          <a:p>
            <a:pPr algn="r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65B0EC94-28E6-D665-7491-10A308B0B42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965783" y="265176"/>
            <a:ext cx="7959517" cy="6327648"/>
          </a:xfrm>
          <a:custGeom>
            <a:avLst/>
            <a:gdLst>
              <a:gd name="connsiteX0" fmla="*/ 267246 w 7391400"/>
              <a:gd name="connsiteY0" fmla="*/ 0 h 6172200"/>
              <a:gd name="connsiteX1" fmla="*/ 7124155 w 7391400"/>
              <a:gd name="connsiteY1" fmla="*/ 0 h 6172200"/>
              <a:gd name="connsiteX2" fmla="*/ 7391400 w 7391400"/>
              <a:gd name="connsiteY2" fmla="*/ 266886 h 6172200"/>
              <a:gd name="connsiteX3" fmla="*/ 7391400 w 7391400"/>
              <a:gd name="connsiteY3" fmla="*/ 5905314 h 6172200"/>
              <a:gd name="connsiteX4" fmla="*/ 7124155 w 7391400"/>
              <a:gd name="connsiteY4" fmla="*/ 6172200 h 6172200"/>
              <a:gd name="connsiteX5" fmla="*/ 267246 w 7391400"/>
              <a:gd name="connsiteY5" fmla="*/ 6172200 h 6172200"/>
              <a:gd name="connsiteX6" fmla="*/ 0 w 7391400"/>
              <a:gd name="connsiteY6" fmla="*/ 5905314 h 6172200"/>
              <a:gd name="connsiteX7" fmla="*/ 0 w 7391400"/>
              <a:gd name="connsiteY7" fmla="*/ 266886 h 6172200"/>
              <a:gd name="connsiteX8" fmla="*/ 267246 w 7391400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391400" h="6172200">
                <a:moveTo>
                  <a:pt x="267246" y="0"/>
                </a:moveTo>
                <a:lnTo>
                  <a:pt x="7124155" y="0"/>
                </a:lnTo>
                <a:cubicBezTo>
                  <a:pt x="7271750" y="0"/>
                  <a:pt x="7391400" y="119489"/>
                  <a:pt x="7391400" y="266886"/>
                </a:cubicBezTo>
                <a:lnTo>
                  <a:pt x="7391400" y="5905314"/>
                </a:lnTo>
                <a:cubicBezTo>
                  <a:pt x="7391400" y="6052711"/>
                  <a:pt x="7271750" y="6172200"/>
                  <a:pt x="7124155" y="6172200"/>
                </a:cubicBezTo>
                <a:lnTo>
                  <a:pt x="267246" y="6172200"/>
                </a:lnTo>
                <a:cubicBezTo>
                  <a:pt x="119650" y="6172200"/>
                  <a:pt x="0" y="6052711"/>
                  <a:pt x="0" y="5905314"/>
                </a:cubicBezTo>
                <a:lnTo>
                  <a:pt x="0" y="266886"/>
                </a:lnTo>
                <a:cubicBezTo>
                  <a:pt x="0" y="119489"/>
                  <a:pt x="119650" y="0"/>
                  <a:pt x="26724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098784386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878" y="216452"/>
            <a:ext cx="3381587" cy="2213524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62400" y="177492"/>
            <a:ext cx="7962900" cy="2286000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400"/>
            </a:lvl1pPr>
            <a:lvl2pPr marL="514350" indent="-285750">
              <a:buFont typeface="Arial" panose="020B0604020202020204" pitchFamily="34" charset="0"/>
              <a:buChar char="•"/>
              <a:defRPr sz="14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400"/>
            </a:lvl4pPr>
            <a:lvl5pPr marL="1085850" indent="-171450">
              <a:buFont typeface="Arial" panose="020B0604020202020204" pitchFamily="34" charset="0"/>
              <a:buChar char="•"/>
              <a:defRPr sz="1400"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5878" y="2513464"/>
            <a:ext cx="2805405" cy="338328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230339" y="2516244"/>
            <a:ext cx="1284010" cy="338328"/>
          </a:xfrm>
        </p:spPr>
        <p:txBody>
          <a:bodyPr/>
          <a:lstStyle/>
          <a:p>
            <a:fld id="{70D4BFA2-1BB9-40F7-B5CD-27AF3FC15B4F}" type="datetime1">
              <a:rPr lang="en-US" smtClean="0"/>
              <a:t>9/26/2026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9585" y="2513464"/>
            <a:ext cx="449306" cy="338328"/>
          </a:xfrm>
        </p:spPr>
        <p:txBody>
          <a:bodyPr/>
          <a:lstStyle/>
          <a:p>
            <a:pPr algn="r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EE56056E-3484-D9D0-95D5-818FF4C3C8D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4220" y="2935280"/>
            <a:ext cx="11651080" cy="3656020"/>
          </a:xfrm>
          <a:custGeom>
            <a:avLst/>
            <a:gdLst>
              <a:gd name="connsiteX0" fmla="*/ 298989 w 11651080"/>
              <a:gd name="connsiteY0" fmla="*/ 0 h 3656020"/>
              <a:gd name="connsiteX1" fmla="*/ 11352091 w 11651080"/>
              <a:gd name="connsiteY1" fmla="*/ 0 h 3656020"/>
              <a:gd name="connsiteX2" fmla="*/ 11651080 w 11651080"/>
              <a:gd name="connsiteY2" fmla="*/ 298989 h 3656020"/>
              <a:gd name="connsiteX3" fmla="*/ 11651080 w 11651080"/>
              <a:gd name="connsiteY3" fmla="*/ 3357031 h 3656020"/>
              <a:gd name="connsiteX4" fmla="*/ 11352091 w 11651080"/>
              <a:gd name="connsiteY4" fmla="*/ 3656020 h 3656020"/>
              <a:gd name="connsiteX5" fmla="*/ 298989 w 11651080"/>
              <a:gd name="connsiteY5" fmla="*/ 3656020 h 3656020"/>
              <a:gd name="connsiteX6" fmla="*/ 0 w 11651080"/>
              <a:gd name="connsiteY6" fmla="*/ 3357031 h 3656020"/>
              <a:gd name="connsiteX7" fmla="*/ 0 w 11651080"/>
              <a:gd name="connsiteY7" fmla="*/ 298989 h 3656020"/>
              <a:gd name="connsiteX8" fmla="*/ 298989 w 11651080"/>
              <a:gd name="connsiteY8" fmla="*/ 0 h 3656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651080" h="3656020">
                <a:moveTo>
                  <a:pt x="298989" y="0"/>
                </a:moveTo>
                <a:lnTo>
                  <a:pt x="11352091" y="0"/>
                </a:lnTo>
                <a:cubicBezTo>
                  <a:pt x="11517218" y="0"/>
                  <a:pt x="11651080" y="133862"/>
                  <a:pt x="11651080" y="298989"/>
                </a:cubicBezTo>
                <a:lnTo>
                  <a:pt x="11651080" y="3357031"/>
                </a:lnTo>
                <a:cubicBezTo>
                  <a:pt x="11651080" y="3522158"/>
                  <a:pt x="11517218" y="3656020"/>
                  <a:pt x="11352091" y="3656020"/>
                </a:cubicBezTo>
                <a:lnTo>
                  <a:pt x="298989" y="3656020"/>
                </a:lnTo>
                <a:cubicBezTo>
                  <a:pt x="133862" y="3656020"/>
                  <a:pt x="0" y="3522158"/>
                  <a:pt x="0" y="3357031"/>
                </a:cubicBezTo>
                <a:lnTo>
                  <a:pt x="0" y="298989"/>
                </a:lnTo>
                <a:cubicBezTo>
                  <a:pt x="0" y="133862"/>
                  <a:pt x="133862" y="0"/>
                  <a:pt x="298989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51766471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219456"/>
            <a:ext cx="3172641" cy="3145019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A95997E6-BE07-E83F-D207-0CADA004E02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000500" y="265332"/>
            <a:ext cx="7924800" cy="3095837"/>
          </a:xfrm>
          <a:custGeom>
            <a:avLst/>
            <a:gdLst>
              <a:gd name="connsiteX0" fmla="*/ 282309 w 8229600"/>
              <a:gd name="connsiteY0" fmla="*/ 0 h 3095837"/>
              <a:gd name="connsiteX1" fmla="*/ 7947291 w 8229600"/>
              <a:gd name="connsiteY1" fmla="*/ 0 h 3095837"/>
              <a:gd name="connsiteX2" fmla="*/ 8229600 w 8229600"/>
              <a:gd name="connsiteY2" fmla="*/ 282309 h 3095837"/>
              <a:gd name="connsiteX3" fmla="*/ 8229600 w 8229600"/>
              <a:gd name="connsiteY3" fmla="*/ 2813528 h 3095837"/>
              <a:gd name="connsiteX4" fmla="*/ 7947291 w 8229600"/>
              <a:gd name="connsiteY4" fmla="*/ 3095837 h 3095837"/>
              <a:gd name="connsiteX5" fmla="*/ 282309 w 8229600"/>
              <a:gd name="connsiteY5" fmla="*/ 3095837 h 3095837"/>
              <a:gd name="connsiteX6" fmla="*/ 0 w 8229600"/>
              <a:gd name="connsiteY6" fmla="*/ 2813528 h 3095837"/>
              <a:gd name="connsiteX7" fmla="*/ 0 w 8229600"/>
              <a:gd name="connsiteY7" fmla="*/ 282309 h 3095837"/>
              <a:gd name="connsiteX8" fmla="*/ 282309 w 8229600"/>
              <a:gd name="connsiteY8" fmla="*/ 0 h 3095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229600" h="3095837">
                <a:moveTo>
                  <a:pt x="282309" y="0"/>
                </a:moveTo>
                <a:lnTo>
                  <a:pt x="7947291" y="0"/>
                </a:lnTo>
                <a:cubicBezTo>
                  <a:pt x="8103206" y="0"/>
                  <a:pt x="8229600" y="126394"/>
                  <a:pt x="8229600" y="282309"/>
                </a:cubicBezTo>
                <a:lnTo>
                  <a:pt x="8229600" y="2813528"/>
                </a:lnTo>
                <a:cubicBezTo>
                  <a:pt x="8229600" y="2969443"/>
                  <a:pt x="8103206" y="3095837"/>
                  <a:pt x="7947291" y="3095837"/>
                </a:cubicBezTo>
                <a:lnTo>
                  <a:pt x="282309" y="3095837"/>
                </a:lnTo>
                <a:cubicBezTo>
                  <a:pt x="126394" y="3095837"/>
                  <a:pt x="0" y="2969443"/>
                  <a:pt x="0" y="2813528"/>
                </a:cubicBezTo>
                <a:lnTo>
                  <a:pt x="0" y="282309"/>
                </a:lnTo>
                <a:cubicBezTo>
                  <a:pt x="0" y="126394"/>
                  <a:pt x="126394" y="0"/>
                  <a:pt x="282309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14565" y="3543597"/>
            <a:ext cx="8010734" cy="2843531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90CB68-2046-4562-B6CE-CDFAB3DC51F3}" type="datetime1">
              <a:rPr lang="en-US" smtClean="0"/>
              <a:t>9/26/2026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4610124"/>
      </p:ext>
    </p:extLst>
  </p:cSld>
  <p:clrMapOvr>
    <a:masterClrMapping/>
  </p:clrMapOvr>
  <p:hf sldNum="0"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E5778B4-3E3F-C3EF-5322-2ECFF646D0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231821" y="760151"/>
            <a:ext cx="9728359" cy="4233673"/>
          </a:xfrm>
          <a:prstGeom prst="roundRect">
            <a:avLst>
              <a:gd name="adj" fmla="val 7502"/>
            </a:avLst>
          </a:prstGeom>
          <a:solidFill>
            <a:schemeClr val="bg2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32242A1-A384-8CB1-904B-45EEDF23C3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6276" y="5255159"/>
            <a:ext cx="9299448" cy="1025326"/>
          </a:xfrm>
        </p:spPr>
        <p:txBody>
          <a:bodyPr anchor="ctr">
            <a:normAutofit/>
          </a:bodyPr>
          <a:lstStyle>
            <a:lvl1pPr algn="ctr">
              <a:lnSpc>
                <a:spcPct val="90000"/>
              </a:lnSpc>
              <a:defRPr sz="2400" spc="-5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6F59BDE-94E7-56D6-3D7F-6145311BA2D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46276" y="1293091"/>
            <a:ext cx="9299448" cy="3943921"/>
          </a:xfrm>
        </p:spPr>
        <p:txBody>
          <a:bodyPr anchor="ctr">
            <a:normAutofit/>
          </a:bodyPr>
          <a:lstStyle>
            <a:lvl1pPr marL="0" indent="0" algn="ctr">
              <a:lnSpc>
                <a:spcPct val="80000"/>
              </a:lnSpc>
              <a:buNone/>
              <a:defRPr sz="26000" spc="-1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XX%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6D72DC-8ED1-FAB8-CD4C-7BDCAEA2C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C6FDB9-A3B3-A4DB-D081-D27ECC704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BB35E-97D9-4AD8-9F03-F1A28F5EDD3F}" type="datetime1">
              <a:rPr lang="en-US" smtClean="0"/>
              <a:t>9/26/2026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BFCFB0-1D5D-C25F-A74C-5CFB9C195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4485329"/>
      </p:ext>
    </p:extLst>
  </p:cSld>
  <p:clrMapOvr>
    <a:masterClrMapping/>
  </p:clrMapOvr>
  <p:hf sldNum="0"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82880" y="173736"/>
            <a:ext cx="10475499" cy="4850651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buNone/>
              <a:defRPr sz="7600" b="0" cap="none" spc="-50" baseline="0"/>
            </a:lvl1pPr>
            <a:lvl2pPr marL="228600" indent="0">
              <a:lnSpc>
                <a:spcPct val="90000"/>
              </a:lnSpc>
              <a:buNone/>
              <a:defRPr sz="6600" b="0" cap="none" spc="-50" baseline="0"/>
            </a:lvl2pPr>
            <a:lvl3pPr marL="457200" indent="0">
              <a:lnSpc>
                <a:spcPct val="90000"/>
              </a:lnSpc>
              <a:buNone/>
              <a:defRPr sz="6000" b="0" cap="none" spc="-50" baseline="0"/>
            </a:lvl3pPr>
            <a:lvl4pPr marL="685800" indent="0">
              <a:lnSpc>
                <a:spcPct val="90000"/>
              </a:lnSpc>
              <a:buNone/>
              <a:defRPr sz="5400" b="0" cap="none" spc="-50" baseline="0"/>
            </a:lvl4pPr>
            <a:lvl5pPr marL="914400" indent="0">
              <a:lnSpc>
                <a:spcPct val="90000"/>
              </a:lnSpc>
              <a:buNone/>
              <a:defRPr sz="4800" b="0" cap="none" spc="-50" baseline="0"/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0FC429-4D23-430E-9EDF-7373AE75BFEE}" type="datetime1">
              <a:rPr lang="en-US" smtClean="0"/>
              <a:t>9/26/2026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1534186"/>
      </p:ext>
    </p:extLst>
  </p:cSld>
  <p:clrMapOvr>
    <a:masterClrMapping/>
  </p:clrMapOvr>
  <p:hf sldNum="0"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1542D-3EA5-35E3-406E-8496EA7D40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88784" y="5029200"/>
            <a:ext cx="9198864" cy="713232"/>
          </a:xfrm>
        </p:spPr>
        <p:txBody>
          <a:bodyPr anchor="t">
            <a:normAutofit/>
          </a:bodyPr>
          <a:lstStyle>
            <a:lvl1pPr>
              <a:lnSpc>
                <a:spcPct val="90000"/>
              </a:lnSpc>
              <a:defRPr sz="2000" b="1" spc="-50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BD3F2A-2B85-D7B7-24A2-D01A281CD7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388784" y="1115568"/>
            <a:ext cx="9198864" cy="3584448"/>
          </a:xfrm>
        </p:spPr>
        <p:txBody>
          <a:bodyPr anchor="ctr">
            <a:normAutofit/>
          </a:bodyPr>
          <a:lstStyle>
            <a:lvl1pPr marL="137160" indent="-137160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5000" spc="-50" baseline="0"/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FB98B-06E5-997A-53DA-CC0E6A61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CA6F2-8C52-8488-999E-FEF7877B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35E6B9-2D9C-4660-92C5-78965463CC8F}" type="datetime1">
              <a:rPr lang="en-US" smtClean="0"/>
              <a:t>9/26/2026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9DD64-9865-92B3-BED2-F770E976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5402802"/>
      </p:ext>
    </p:extLst>
  </p:cSld>
  <p:clrMapOvr>
    <a:masterClrMapping/>
  </p:clrMapOvr>
  <p:hf sldNum="0"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219456"/>
            <a:ext cx="11326704" cy="1041564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12E940BF-81C2-1FFB-391F-670B2E738E5C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182880" y="1645920"/>
            <a:ext cx="5420409" cy="4741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FB763AB3-1DFB-9F9F-2339-33F3C49C8C1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48400" y="1645920"/>
            <a:ext cx="5261184" cy="4741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5B9CE9-04E1-4A30-9610-62B3B25B32C1}" type="datetime1">
              <a:rPr lang="en-US" smtClean="0"/>
              <a:t>9/26/2026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5498881"/>
      </p:ext>
    </p:extLst>
  </p:cSld>
  <p:clrMapOvr>
    <a:masterClrMapping/>
  </p:clrMapOvr>
  <p:hf sldNum="0"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1186" y="219456"/>
            <a:ext cx="11274552" cy="789851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81185" y="1009307"/>
            <a:ext cx="521208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D6A39E64-722E-F001-F641-974F5225314A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181631" y="1649451"/>
            <a:ext cx="5212080" cy="43434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45352" y="1009307"/>
            <a:ext cx="521208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4B9C0BFD-5C7B-FA0D-DCE8-95D24728FEB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45352" y="1649451"/>
            <a:ext cx="5212080" cy="43434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7DEDC-8F58-44F8-A177-8A00C8A4C6DB}" type="datetime1">
              <a:rPr lang="en-US" smtClean="0"/>
              <a:t>9/26/2026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4280721"/>
      </p:ext>
    </p:extLst>
  </p:cSld>
  <p:clrMapOvr>
    <a:masterClrMapping/>
  </p:clrMapOvr>
  <p:hf sldNum="0"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95DE8-BB4A-408C-A60C-374B496D02BA}" type="datetime1">
              <a:rPr lang="en-US" smtClean="0"/>
              <a:t>9/26/2026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9411187"/>
      </p:ext>
    </p:extLst>
  </p:cSld>
  <p:clrMapOvr>
    <a:masterClrMapping/>
  </p:clrMapOvr>
  <p:hf sldNum="0"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C9DBE-31FF-4D71-B719-92EBAC3193CE}" type="datetime1">
              <a:rPr lang="en-US" smtClean="0"/>
              <a:t>9/26/2026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9865538"/>
      </p:ext>
    </p:extLst>
  </p:cSld>
  <p:clrMapOvr>
    <a:masterClrMapping/>
  </p:clrMapOvr>
  <p:hf sldNum="0"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861" y="207228"/>
            <a:ext cx="11001943" cy="1790700"/>
          </a:xfrm>
        </p:spPr>
        <p:txBody>
          <a:bodyPr anchor="t">
            <a:noAutofit/>
          </a:bodyPr>
          <a:lstStyle>
            <a:lvl1pPr>
              <a:defRPr sz="7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022195" y="3264408"/>
            <a:ext cx="10147610" cy="2834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2CF504-FC97-4D7A-ADA4-4D7971A47BF8}" type="datetime1">
              <a:rPr lang="en-US" smtClean="0"/>
              <a:t>9/26/2026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048361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15580" y="1089247"/>
            <a:ext cx="6360840" cy="2171716"/>
          </a:xfrm>
        </p:spPr>
        <p:txBody>
          <a:bodyPr anchor="b">
            <a:noAutofit/>
          </a:bodyPr>
          <a:lstStyle>
            <a:lvl1pPr algn="ctr">
              <a:defRPr sz="7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322864" y="3499880"/>
            <a:ext cx="5543550" cy="1771650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ctr">
              <a:buNone/>
              <a:defRPr lang="en-US" sz="1600" dirty="0"/>
            </a:lvl1pPr>
            <a:lvl2pPr marL="228600" indent="0" algn="ctr">
              <a:buNone/>
              <a:defRPr lang="en-US" sz="1600" dirty="0"/>
            </a:lvl2pPr>
            <a:lvl3pPr marL="457200" indent="0" algn="ctr">
              <a:buNone/>
              <a:defRPr lang="en-US" sz="1600" dirty="0"/>
            </a:lvl3pPr>
            <a:lvl4pPr marL="685800" indent="0" algn="ctr">
              <a:buNone/>
              <a:defRPr lang="en-US" sz="1600" dirty="0"/>
            </a:lvl4pPr>
            <a:lvl5pPr marL="914400" indent="0" algn="ctr">
              <a:buNone/>
              <a:defRPr lang="en-US" sz="1600" dirty="0"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6DD06E-1834-4525-8B00-CED1355A3638}" type="datetime1">
              <a:rPr lang="en-US" smtClean="0"/>
              <a:t>9/26/2026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451227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RT_DARK">
    <p:bg>
      <p:bgPr>
        <a:solidFill>
          <a:srgbClr val="1018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46520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E3E8EC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301338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RT_LIGH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46520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79799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287506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RT"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48288" y="6446520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98A2B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066442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9002166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MASTER">
    <p:bg>
      <p:bgPr>
        <a:solidFill>
          <a:srgbClr val="F7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7A2CE0"/>
          </a:solidFill>
          <a:ln w="12700">
            <a:solidFill>
              <a:srgbClr val="7A2CE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469880" y="164592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5B5B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Ростелеком ИТ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4282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B9BA7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136519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R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7700FF"/>
          </a:solidFill>
          <a:ln w="12700">
            <a:solidFill>
              <a:srgbClr val="7700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8872" y="0"/>
            <a:ext cx="12070080" cy="73152"/>
          </a:xfrm>
          <a:prstGeom prst="rect">
            <a:avLst/>
          </a:prstGeom>
          <a:solidFill>
            <a:srgbClr val="FF4F12"/>
          </a:solidFill>
          <a:ln w="12700">
            <a:solidFill>
              <a:srgbClr val="FF4F1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455664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98A2B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РОСТЕЛЕКОМ ИТ  •  ПРАКТИКУМ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0149840" y="6437376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8A2B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Agile Manifesto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43737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98A2B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1783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219456"/>
            <a:ext cx="10835640" cy="96926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82880" y="1183206"/>
            <a:ext cx="10835640" cy="50886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78704" y="6387128"/>
            <a:ext cx="2703777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477500" y="6387128"/>
            <a:ext cx="1032084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>
                <a:solidFill>
                  <a:schemeClr val="tx1"/>
                </a:solidFill>
              </a:defRPr>
            </a:lvl1pPr>
          </a:lstStyle>
          <a:p>
            <a:fld id="{0C9DF407-AAD9-4F9F-B512-267BEB339CF5}" type="datetime1">
              <a:rPr lang="en-US" smtClean="0"/>
              <a:t>9/26/2026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9584" y="6387128"/>
            <a:ext cx="457200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9062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  <p:sldLayoutId id="2147483663" r:id="rId10"/>
    <p:sldLayoutId id="2147483664" r:id="rId11"/>
    <p:sldLayoutId id="2147483665" r:id="rId12"/>
    <p:sldLayoutId id="2147483666" r:id="rId13"/>
    <p:sldLayoutId id="2147483667" r:id="rId14"/>
    <p:sldLayoutId id="2147483668" r:id="rId15"/>
    <p:sldLayoutId id="2147483669" r:id="rId16"/>
    <p:sldLayoutId id="2147483670" r:id="rId17"/>
    <p:sldLayoutId id="2147483671" r:id="rId18"/>
    <p:sldLayoutId id="2147483672" r:id="rId19"/>
    <p:sldLayoutId id="2147483673" r:id="rId20"/>
    <p:sldLayoutId id="2147483674" r:id="rId21"/>
    <p:sldLayoutId id="2147483675" r:id="rId22"/>
    <p:sldLayoutId id="2147483676" r:id="rId23"/>
    <p:sldLayoutId id="2147483677" r:id="rId24"/>
    <p:sldLayoutId id="2147483678" r:id="rId25"/>
    <p:sldLayoutId id="2147483679" r:id="rId26"/>
    <p:sldLayoutId id="2147483680" r:id="rId27"/>
    <p:sldLayoutId id="2147483681" r:id="rId28"/>
    <p:sldLayoutId id="2147483682" r:id="rId29"/>
    <p:sldLayoutId id="2147483683" r:id="rId30"/>
    <p:sldLayoutId id="2147483684" r:id="rId31"/>
    <p:sldLayoutId id="2147483685" r:id="rId32"/>
    <p:sldLayoutId id="2147483686" r:id="rId33"/>
  </p:sldLayoutIdLst>
  <p:hf sldNum="0"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3000" b="0" kern="1200" spc="-1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85750" indent="-28575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28575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742950" indent="-28575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71550" indent="-28575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00150" indent="-28575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pos="168">
          <p15:clr>
            <a:srgbClr val="F26B43"/>
          </p15:clr>
        </p15:guide>
        <p15:guide id="4" orient="horz" pos="168">
          <p15:clr>
            <a:srgbClr val="F26B43"/>
          </p15:clr>
        </p15:guide>
        <p15:guide id="5" pos="7512">
          <p15:clr>
            <a:srgbClr val="F26B43"/>
          </p15:clr>
        </p15:guide>
        <p15:guide id="6" orient="horz" pos="4152">
          <p15:clr>
            <a:srgbClr val="F26B43"/>
          </p15:clr>
        </p15:guide>
        <p15:guide id="12" pos="4728">
          <p15:clr>
            <a:srgbClr val="F26B43"/>
          </p15:clr>
        </p15:guide>
        <p15:guide id="13" pos="5328">
          <p15:clr>
            <a:srgbClr val="F26B43"/>
          </p15:clr>
        </p15:guide>
        <p15:guide id="26" pos="2952">
          <p15:clr>
            <a:srgbClr val="F26B43"/>
          </p15:clr>
        </p15:guide>
        <p15:guide id="27" pos="3096">
          <p15:clr>
            <a:srgbClr val="F26B43"/>
          </p15:clr>
        </p15:guide>
        <p15:guide id="29" pos="4128">
          <p15:clr>
            <a:srgbClr val="F26B43"/>
          </p15:clr>
        </p15:guide>
        <p15:guide id="30" pos="1392">
          <p15:clr>
            <a:srgbClr val="F26B43"/>
          </p15:clr>
        </p15:guide>
        <p15:guide id="3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0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0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0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0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0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0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0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0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0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0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0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0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0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0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0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0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0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0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0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0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0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0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3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3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30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30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30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30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30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31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3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3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3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3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3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prbookshop.ru/books/10885/details" TargetMode="External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30.xml"/><Relationship Id="rId5" Type="http://schemas.openxmlformats.org/officeDocument/2006/relationships/hyperlink" Target="https://www.iprbookshop.ru/books/106122/details" TargetMode="External"/><Relationship Id="rId4" Type="http://schemas.openxmlformats.org/officeDocument/2006/relationships/hyperlink" Target="https://www.iprbookshop.ru/books/133919/details" TargetMode="Externa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prbookshop.ru/books/106080/details" TargetMode="External"/><Relationship Id="rId7" Type="http://schemas.openxmlformats.org/officeDocument/2006/relationships/hyperlink" Target="https://www.iprbookshop.ru/books/125702/details" TargetMode="External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30.xml"/><Relationship Id="rId6" Type="http://schemas.openxmlformats.org/officeDocument/2006/relationships/hyperlink" Target="https://www.iprbookshop.ru/books/150311/details" TargetMode="External"/><Relationship Id="rId5" Type="http://schemas.openxmlformats.org/officeDocument/2006/relationships/hyperlink" Target="https://www.iprbookshop.ru/books/155681/details" TargetMode="External"/><Relationship Id="rId4" Type="http://schemas.openxmlformats.org/officeDocument/2006/relationships/hyperlink" Target="https://www.iprbookshop.ru/books/158747/details" TargetMode="Externa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hyperlink" Target="https://agilemanifesto.org/iso/ru/manifesto.html" TargetMode="External"/><Relationship Id="rId7" Type="http://schemas.openxmlformats.org/officeDocument/2006/relationships/hyperlink" Target="https://www.praxisframework.org/files/royce1970.pdf" TargetMode="External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30.xml"/><Relationship Id="rId6" Type="http://schemas.openxmlformats.org/officeDocument/2006/relationships/hyperlink" Target="https://www.pmi.org/about/what-is-a-project" TargetMode="External"/><Relationship Id="rId5" Type="http://schemas.openxmlformats.org/officeDocument/2006/relationships/hyperlink" Target="https://scrumguides.org/docs/scrumguide/v2020/2020-Scrum-Guide-Russian.pdf" TargetMode="External"/><Relationship Id="rId4" Type="http://schemas.openxmlformats.org/officeDocument/2006/relationships/hyperlink" Target="https://agilemanifesto.org/iso/ru/principles.html" TargetMode="Externa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8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7700FF"/>
          </a:solidFill>
          <a:ln w="12700">
            <a:solidFill>
              <a:srgbClr val="7700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73152" cy="6858000"/>
          </a:xfrm>
          <a:prstGeom prst="rect">
            <a:avLst/>
          </a:prstGeom>
          <a:solidFill>
            <a:srgbClr val="FF4F12"/>
          </a:solidFill>
          <a:ln w="12700">
            <a:solidFill>
              <a:srgbClr val="FF4F12"/>
            </a:solidFill>
            <a:prstDash val="solid"/>
          </a:ln>
        </p:spPr>
      </p:sp>
      <p:pic>
        <p:nvPicPr>
          <p:cNvPr id="4" name="Image 0" descr="/mnt/data/Вертикальный_белый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4178" y="305344"/>
            <a:ext cx="1159454" cy="147773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58368" y="1005840"/>
            <a:ext cx="7223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Управление</a:t>
            </a:r>
            <a:endParaRPr lang="en-US" sz="4800" dirty="0"/>
          </a:p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ИТ-проектами</a:t>
            </a:r>
            <a:endParaRPr lang="en-US" sz="4800" dirty="0"/>
          </a:p>
        </p:txBody>
      </p:sp>
      <p:sp>
        <p:nvSpPr>
          <p:cNvPr id="6" name="Text 3"/>
          <p:cNvSpPr/>
          <p:nvPr/>
        </p:nvSpPr>
        <p:spPr>
          <a:xfrm>
            <a:off x="713232" y="2834640"/>
            <a:ext cx="70408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713232" y="3913632"/>
            <a:ext cx="1051560" cy="310896"/>
          </a:xfrm>
          <a:prstGeom prst="roundRect">
            <a:avLst>
              <a:gd name="adj" fmla="val 20588"/>
            </a:avLst>
          </a:prstGeom>
          <a:solidFill>
            <a:srgbClr val="7700FF"/>
          </a:solidFill>
          <a:ln w="12700">
            <a:solidFill>
              <a:srgbClr val="7700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68096" y="3970641"/>
            <a:ext cx="94183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09.03.01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1920240" y="3913632"/>
            <a:ext cx="1600200" cy="310896"/>
          </a:xfrm>
          <a:prstGeom prst="roundRect">
            <a:avLst>
              <a:gd name="adj" fmla="val 20588"/>
            </a:avLst>
          </a:prstGeom>
          <a:solidFill>
            <a:srgbClr val="273A64"/>
          </a:solidFill>
          <a:ln w="12700">
            <a:solidFill>
              <a:srgbClr val="273A6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975104" y="3970641"/>
            <a:ext cx="14904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3 курс · 7 семестр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3675888" y="3913632"/>
            <a:ext cx="1874520" cy="310896"/>
          </a:xfrm>
          <a:prstGeom prst="roundRect">
            <a:avLst>
              <a:gd name="adj" fmla="val 20588"/>
            </a:avLst>
          </a:prstGeom>
          <a:solidFill>
            <a:srgbClr val="FF4F12"/>
          </a:solidFill>
          <a:ln w="12700">
            <a:solidFill>
              <a:srgbClr val="FF4F12"/>
            </a:solidFill>
            <a:prstDash val="solid"/>
          </a:ln>
        </p:spPr>
        <p:txBody>
          <a:bodyPr/>
          <a:lstStyle/>
          <a:p>
            <a:endParaRPr lang="ru-RU" dirty="0"/>
          </a:p>
        </p:txBody>
      </p:sp>
      <p:sp>
        <p:nvSpPr>
          <p:cNvPr id="12" name="Text 9"/>
          <p:cNvSpPr/>
          <p:nvPr/>
        </p:nvSpPr>
        <p:spPr>
          <a:xfrm>
            <a:off x="3730752" y="3970641"/>
            <a:ext cx="176479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ru-RU" sz="900" b="1" dirty="0">
                <a:solidFill>
                  <a:srgbClr val="FFFFFF"/>
                </a:solidFill>
                <a:ea typeface="Rostelecom Basis" pitchFamily="34" charset="-122"/>
              </a:rPr>
              <a:t>14 часов лекций/16 часов практических занятий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713232" y="498348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79799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Ростелеком ИТ Школа × Университет Иннополис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713232" y="550468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4F12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2026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384048" y="6400800"/>
            <a:ext cx="11411712" cy="0"/>
          </a:xfrm>
          <a:prstGeom prst="line">
            <a:avLst/>
          </a:prstGeom>
          <a:noFill/>
          <a:ln w="8890">
            <a:solidFill>
              <a:srgbClr val="40465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57200" y="6437376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3E8EC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Управление ИТ-проектами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46520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E3E8EC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87B1D4-445B-C4C9-96C0-36ACC30685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02920" y="566928"/>
            <a:ext cx="3657600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01828"/>
                </a:solidFill>
                <a:latin typeface="Rostelecom Basis"/>
              </a:rPr>
              <a:t>О себе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85248" y="237744"/>
            <a:ext cx="1719072" cy="448056"/>
          </a:xfrm>
          <a:prstGeom prst="rect">
            <a:avLst/>
          </a:prstGeom>
        </p:spPr>
      </p:pic>
      <p:cxnSp>
        <p:nvCxnSpPr>
          <p:cNvPr id="5" name="Connector 4"/>
          <p:cNvCxnSpPr/>
          <p:nvPr/>
        </p:nvCxnSpPr>
        <p:spPr>
          <a:xfrm>
            <a:off x="502920" y="1133856"/>
            <a:ext cx="11183112" cy="0"/>
          </a:xfrm>
          <a:prstGeom prst="line">
            <a:avLst/>
          </a:prstGeom>
          <a:ln w="10160">
            <a:solidFill>
              <a:srgbClr val="E3E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502920" y="1444752"/>
            <a:ext cx="3337560" cy="4233672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02920" y="1444752"/>
            <a:ext cx="384048" cy="384048"/>
          </a:xfrm>
          <a:prstGeom prst="roundRect">
            <a:avLst/>
          </a:prstGeom>
          <a:solidFill>
            <a:srgbClr val="77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04672" y="1444752"/>
            <a:ext cx="164592" cy="164592"/>
          </a:xfrm>
          <a:prstGeom prst="roundRect">
            <a:avLst/>
          </a:prstGeom>
          <a:solidFill>
            <a:srgbClr val="FF4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about_photo_roun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" y="1627632"/>
            <a:ext cx="2990088" cy="299008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1520" y="4754880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667085"/>
                </a:solidFill>
                <a:latin typeface="Rostelecom Basis"/>
              </a:rPr>
              <a:t>ПРАКТИК · МЕТОДОЛОГ · ПРЕПОДАВАТЕЛЬ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5084064"/>
            <a:ext cx="1097280" cy="310896"/>
          </a:xfrm>
          <a:prstGeom prst="roundRect">
            <a:avLst/>
          </a:prstGeom>
          <a:solidFill>
            <a:srgbClr val="F2E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18872" tIns="0" rIns="118872" bIns="0" rtlCol="0" anchor="ctr"/>
          <a:lstStyle/>
          <a:p>
            <a:pPr algn="ctr"/>
            <a:r>
              <a:rPr lang="ru-RU" sz="950" b="1" dirty="0">
                <a:solidFill>
                  <a:srgbClr val="7700FF"/>
                </a:solidFill>
                <a:latin typeface="Rostelecom Basis"/>
              </a:rPr>
              <a:t>Руководитель </a:t>
            </a:r>
            <a:r>
              <a:rPr sz="950" b="1" dirty="0" err="1">
                <a:solidFill>
                  <a:srgbClr val="7700FF"/>
                </a:solidFill>
                <a:latin typeface="Rostelecom Basis"/>
              </a:rPr>
              <a:t>Портфел</a:t>
            </a:r>
            <a:r>
              <a:rPr lang="ru-RU" sz="950" b="1" dirty="0">
                <a:solidFill>
                  <a:srgbClr val="7700FF"/>
                </a:solidFill>
                <a:latin typeface="Rostelecom Basis"/>
              </a:rPr>
              <a:t>я</a:t>
            </a:r>
            <a:endParaRPr sz="950" b="1" dirty="0">
              <a:solidFill>
                <a:srgbClr val="7700FF"/>
              </a:solidFill>
              <a:latin typeface="Rostelecom Basis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1901952" y="5084064"/>
            <a:ext cx="987552" cy="310896"/>
          </a:xfrm>
          <a:prstGeom prst="roundRect">
            <a:avLst/>
          </a:prstGeom>
          <a:solidFill>
            <a:srgbClr val="FFF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18872" tIns="0" rIns="118872" bIns="0" rtlCol="0" anchor="ctr"/>
          <a:lstStyle/>
          <a:p>
            <a:pPr algn="ctr"/>
            <a:r>
              <a:rPr sz="950" b="1">
                <a:solidFill>
                  <a:srgbClr val="FF4F12"/>
                </a:solidFill>
                <a:latin typeface="Rostelecom Basis"/>
              </a:rPr>
              <a:t>Проекты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71800" y="5084064"/>
            <a:ext cx="658368" cy="310896"/>
          </a:xfrm>
          <a:prstGeom prst="roundRect">
            <a:avLst/>
          </a:prstGeom>
          <a:solidFill>
            <a:srgbClr val="F2E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18872" tIns="0" rIns="118872" bIns="0" rtlCol="0" anchor="ctr"/>
          <a:lstStyle/>
          <a:p>
            <a:pPr algn="ctr"/>
            <a:r>
              <a:rPr sz="950" b="1">
                <a:solidFill>
                  <a:srgbClr val="7700FF"/>
                </a:solidFill>
                <a:latin typeface="Rostelecom Basis"/>
              </a:rPr>
              <a:t>PME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51960" y="1481328"/>
            <a:ext cx="6812280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50" b="1">
                <a:solidFill>
                  <a:srgbClr val="101828"/>
                </a:solidFill>
                <a:latin typeface="Rostelecom Basis"/>
              </a:rPr>
              <a:t>Верясов Никита Олегович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61104" y="1993392"/>
            <a:ext cx="644652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30" b="0">
                <a:solidFill>
                  <a:srgbClr val="667085"/>
                </a:solidFill>
                <a:latin typeface="Rostelecom Basis"/>
              </a:rPr>
              <a:t>Руководитель портфеля проектов · практик проектного управления · эксперт-методолог · преподаватель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261104" y="2615184"/>
            <a:ext cx="1152144" cy="0"/>
          </a:xfrm>
          <a:prstGeom prst="line">
            <a:avLst/>
          </a:prstGeom>
          <a:ln w="50800">
            <a:solidFill>
              <a:srgbClr val="77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5413248" y="2615184"/>
            <a:ext cx="420624" cy="0"/>
          </a:xfrm>
          <a:prstGeom prst="line">
            <a:avLst/>
          </a:prstGeom>
          <a:ln w="50800">
            <a:solidFill>
              <a:srgbClr val="FF4F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4251960" y="2834640"/>
            <a:ext cx="2788920" cy="132588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480560" y="3017520"/>
            <a:ext cx="9144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01828"/>
                </a:solidFill>
                <a:latin typeface="Rostelecom Basis"/>
              </a:rPr>
              <a:t>12+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3474720"/>
            <a:ext cx="21945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667085"/>
                </a:solidFill>
                <a:latin typeface="Rostelecom Basis"/>
              </a:rPr>
              <a:t>лет в проектном
управлении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23760" y="2834640"/>
            <a:ext cx="3822191" cy="1325880"/>
          </a:xfrm>
          <a:prstGeom prst="roundRect">
            <a:avLst/>
          </a:prstGeom>
          <a:solidFill>
            <a:srgbClr val="F2E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7443216" y="3017520"/>
            <a:ext cx="585216" cy="329184"/>
          </a:xfrm>
          <a:prstGeom prst="roundRect">
            <a:avLst/>
          </a:prstGeom>
          <a:solidFill>
            <a:srgbClr val="FF4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443216" y="3058668"/>
            <a:ext cx="585216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Rostelecom Basis"/>
              </a:rPr>
              <a:t>PME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43216" y="3465576"/>
            <a:ext cx="32461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80" b="1">
                <a:solidFill>
                  <a:srgbClr val="101828"/>
                </a:solidFill>
                <a:latin typeface="Rostelecom Basis"/>
              </a:rPr>
              <a:t>Project Management Expert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43216" y="3803904"/>
            <a:ext cx="3017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67085"/>
                </a:solidFill>
                <a:latin typeface="Rostelecom Basis"/>
              </a:rPr>
              <a:t>Профессиональная сертификация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51960" y="4407408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0" b="1">
                <a:solidFill>
                  <a:srgbClr val="FF4F12"/>
                </a:solidFill>
                <a:latin typeface="Rostelecom Basis"/>
              </a:rPr>
              <a:t>Профессиональный фокус</a:t>
            </a:r>
          </a:p>
        </p:txBody>
      </p:sp>
      <p:sp>
        <p:nvSpPr>
          <p:cNvPr id="27" name="Oval 26"/>
          <p:cNvSpPr/>
          <p:nvPr/>
        </p:nvSpPr>
        <p:spPr>
          <a:xfrm>
            <a:off x="4270248" y="4764024"/>
            <a:ext cx="82296" cy="82296"/>
          </a:xfrm>
          <a:prstGeom prst="ellipse">
            <a:avLst/>
          </a:prstGeom>
          <a:solidFill>
            <a:srgbClr val="77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443984" y="4727448"/>
            <a:ext cx="37947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0" b="1">
                <a:solidFill>
                  <a:srgbClr val="1B2230"/>
                </a:solidFill>
                <a:latin typeface="Rostelecom Basis"/>
              </a:rPr>
              <a:t>Управление портфелем проектов</a:t>
            </a:r>
          </a:p>
        </p:txBody>
      </p:sp>
      <p:sp>
        <p:nvSpPr>
          <p:cNvPr id="29" name="Oval 28"/>
          <p:cNvSpPr/>
          <p:nvPr/>
        </p:nvSpPr>
        <p:spPr>
          <a:xfrm>
            <a:off x="4270248" y="5102352"/>
            <a:ext cx="82296" cy="82296"/>
          </a:xfrm>
          <a:prstGeom prst="ellipse">
            <a:avLst/>
          </a:prstGeom>
          <a:solidFill>
            <a:srgbClr val="FF4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443984" y="5065776"/>
            <a:ext cx="37947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1B2230"/>
                </a:solidFill>
                <a:latin typeface="Rostelecom Basis"/>
              </a:rPr>
              <a:t>Практическое проектное управление</a:t>
            </a:r>
          </a:p>
        </p:txBody>
      </p:sp>
      <p:sp>
        <p:nvSpPr>
          <p:cNvPr id="31" name="Oval 30"/>
          <p:cNvSpPr/>
          <p:nvPr/>
        </p:nvSpPr>
        <p:spPr>
          <a:xfrm>
            <a:off x="4270248" y="5440680"/>
            <a:ext cx="82296" cy="82296"/>
          </a:xfrm>
          <a:prstGeom prst="ellipse">
            <a:avLst/>
          </a:prstGeom>
          <a:solidFill>
            <a:srgbClr val="77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443984" y="5404104"/>
            <a:ext cx="37947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1B2230"/>
                </a:solidFill>
                <a:latin typeface="Rostelecom Basis"/>
              </a:rPr>
              <a:t>Методология и обучение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366760" y="4443984"/>
            <a:ext cx="2679192" cy="1042415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8366760" y="4443984"/>
            <a:ext cx="54864" cy="1042415"/>
          </a:xfrm>
          <a:prstGeom prst="rect">
            <a:avLst/>
          </a:prstGeom>
          <a:solidFill>
            <a:srgbClr val="FF4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595360" y="4617720"/>
            <a:ext cx="21031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667085"/>
                </a:solidFill>
                <a:latin typeface="Rostelecom Basis"/>
              </a:rPr>
              <a:t>КОНТАКТЫ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95360" y="4855464"/>
            <a:ext cx="22860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101828"/>
                </a:solidFill>
                <a:latin typeface="Rostelecom Basis"/>
              </a:rPr>
              <a:t>n.veryasov@innopolis.ru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95360" y="5129784"/>
            <a:ext cx="21031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60" b="0">
                <a:solidFill>
                  <a:srgbClr val="667085"/>
                </a:solidFill>
                <a:latin typeface="Rostelecom Basis"/>
              </a:rPr>
              <a:t>Telegram  @nikita1_689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411480" y="6327648"/>
            <a:ext cx="11384280" cy="0"/>
          </a:xfrm>
          <a:prstGeom prst="line">
            <a:avLst/>
          </a:prstGeom>
          <a:ln w="8890">
            <a:solidFill>
              <a:srgbClr val="E3E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475488" y="6409944"/>
            <a:ext cx="23774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0" b="0">
                <a:solidFill>
                  <a:srgbClr val="70747E"/>
                </a:solidFill>
                <a:latin typeface="Rostelecom Basis"/>
              </a:rPr>
              <a:t>Управление ИТ-проектами</a:t>
            </a:r>
          </a:p>
        </p:txBody>
      </p:sp>
      <p:sp>
        <p:nvSpPr>
          <p:cNvPr id="40" name="Oval 39"/>
          <p:cNvSpPr/>
          <p:nvPr/>
        </p:nvSpPr>
        <p:spPr>
          <a:xfrm>
            <a:off x="5632704" y="6451092"/>
            <a:ext cx="64008" cy="64008"/>
          </a:xfrm>
          <a:prstGeom prst="ellipse">
            <a:avLst/>
          </a:prstGeom>
          <a:solidFill>
            <a:srgbClr val="FF4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779008" y="6409944"/>
            <a:ext cx="11887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0" b="0">
                <a:solidFill>
                  <a:srgbClr val="70747E"/>
                </a:solidFill>
                <a:latin typeface="Rostelecom Basis"/>
              </a:rPr>
              <a:t>Введение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475720" y="6409944"/>
            <a:ext cx="219456" cy="1292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ru-RU" sz="840" dirty="0">
                <a:solidFill>
                  <a:srgbClr val="98A2B3"/>
                </a:solidFill>
                <a:latin typeface="Rostelecom Basis"/>
              </a:rPr>
              <a:t>2</a:t>
            </a:r>
            <a:endParaRPr sz="840" b="0" dirty="0">
              <a:solidFill>
                <a:srgbClr val="98A2B3"/>
              </a:solidFill>
              <a:latin typeface="Rostelecom Basis"/>
            </a:endParaRPr>
          </a:p>
        </p:txBody>
      </p:sp>
    </p:spTree>
    <p:extLst>
      <p:ext uri="{BB962C8B-B14F-4D97-AF65-F5344CB8AC3E}">
        <p14:creationId xmlns:p14="http://schemas.microsoft.com/office/powerpoint/2010/main" val="41954827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Основной_цветной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240" y="274320"/>
            <a:ext cx="1783080" cy="46677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50292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ru-RU" sz="2700" b="1" dirty="0">
                <a:solidFill>
                  <a:srgbClr val="101828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Содержание курса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502920" y="1252728"/>
            <a:ext cx="11201400" cy="0"/>
          </a:xfrm>
          <a:prstGeom prst="line">
            <a:avLst/>
          </a:prstGeom>
          <a:noFill/>
          <a:ln w="10160">
            <a:solidFill>
              <a:srgbClr val="E3E8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384048" y="6400800"/>
            <a:ext cx="11411712" cy="0"/>
          </a:xfrm>
          <a:prstGeom prst="line">
            <a:avLst/>
          </a:prstGeom>
          <a:noFill/>
          <a:ln w="8890">
            <a:solidFill>
              <a:srgbClr val="E3E8E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6437376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0747E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Управление ИТ-проектами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2880360" y="6437376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0747E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Введение</a:t>
            </a:r>
            <a:endParaRPr lang="en-US" sz="850" dirty="0"/>
          </a:p>
        </p:txBody>
      </p:sp>
      <p:sp>
        <p:nvSpPr>
          <p:cNvPr id="16" name="Shape 12"/>
          <p:cNvSpPr/>
          <p:nvPr/>
        </p:nvSpPr>
        <p:spPr>
          <a:xfrm>
            <a:off x="1161288" y="1828800"/>
            <a:ext cx="713232" cy="713232"/>
          </a:xfrm>
          <a:prstGeom prst="ellipse">
            <a:avLst/>
          </a:prstGeom>
          <a:solidFill>
            <a:srgbClr val="7700FF"/>
          </a:solidFill>
          <a:ln w="12700">
            <a:solidFill>
              <a:srgbClr val="7700FF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1161288" y="1984248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1</a:t>
            </a:r>
            <a:endParaRPr lang="en-US" sz="2000" dirty="0"/>
          </a:p>
        </p:txBody>
      </p:sp>
      <p:sp>
        <p:nvSpPr>
          <p:cNvPr id="18" name="Shape 14"/>
          <p:cNvSpPr/>
          <p:nvPr/>
        </p:nvSpPr>
        <p:spPr>
          <a:xfrm>
            <a:off x="1920240" y="2185416"/>
            <a:ext cx="1115568" cy="0"/>
          </a:xfrm>
          <a:prstGeom prst="line">
            <a:avLst/>
          </a:prstGeom>
          <a:noFill/>
          <a:ln w="25400">
            <a:solidFill>
              <a:srgbClr val="E3E8EC"/>
            </a:solidFill>
            <a:prstDash val="solid"/>
            <a:headEnd type="none"/>
            <a:tailEnd type="triangle"/>
          </a:ln>
        </p:spPr>
      </p:sp>
      <p:sp>
        <p:nvSpPr>
          <p:cNvPr id="19" name="Text 15"/>
          <p:cNvSpPr/>
          <p:nvPr/>
        </p:nvSpPr>
        <p:spPr>
          <a:xfrm>
            <a:off x="795528" y="2743200"/>
            <a:ext cx="14447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01828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Старт</a:t>
            </a:r>
            <a:endParaRPr lang="en-US" sz="1800" dirty="0"/>
          </a:p>
        </p:txBody>
      </p:sp>
      <p:sp>
        <p:nvSpPr>
          <p:cNvPr id="20" name="Text 16"/>
          <p:cNvSpPr/>
          <p:nvPr/>
        </p:nvSpPr>
        <p:spPr>
          <a:xfrm>
            <a:off x="694944" y="3182112"/>
            <a:ext cx="1645920" cy="10789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/>
            <a:r>
              <a:rPr lang="ru-RU" sz="1150" dirty="0">
                <a:solidFill>
                  <a:srgbClr val="70747E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Понятие  проекта и продукта, </a:t>
            </a:r>
            <a:r>
              <a:rPr lang="en-US" sz="1150" dirty="0">
                <a:solidFill>
                  <a:srgbClr val="70747E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Waterfall </a:t>
            </a:r>
            <a:r>
              <a:rPr lang="ru-RU" sz="1150" dirty="0">
                <a:solidFill>
                  <a:srgbClr val="70747E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и </a:t>
            </a:r>
            <a:r>
              <a:rPr lang="en-US" sz="1150" dirty="0">
                <a:solidFill>
                  <a:srgbClr val="70747E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Agile </a:t>
            </a:r>
            <a:r>
              <a:rPr lang="ru-RU" sz="1150" dirty="0">
                <a:solidFill>
                  <a:srgbClr val="70747E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Критерии кейса,</a:t>
            </a:r>
            <a:r>
              <a:rPr lang="en-US" sz="1150" dirty="0">
                <a:solidFill>
                  <a:srgbClr val="70747E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 </a:t>
            </a:r>
            <a:r>
              <a:rPr lang="ru-RU" sz="1150" dirty="0">
                <a:solidFill>
                  <a:srgbClr val="70747E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п</a:t>
            </a:r>
            <a:r>
              <a:rPr lang="en-US" sz="1150" dirty="0" err="1">
                <a:solidFill>
                  <a:srgbClr val="70747E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роблема</a:t>
            </a:r>
            <a:r>
              <a:rPr lang="en-US" sz="1150" dirty="0">
                <a:solidFill>
                  <a:srgbClr val="70747E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, </a:t>
            </a:r>
            <a:r>
              <a:rPr lang="en-US" sz="1150" dirty="0" err="1">
                <a:solidFill>
                  <a:srgbClr val="70747E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стейкхолдеры</a:t>
            </a:r>
            <a:r>
              <a:rPr lang="en-US" sz="1150" dirty="0">
                <a:solidFill>
                  <a:srgbClr val="70747E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, </a:t>
            </a:r>
            <a:r>
              <a:rPr lang="en-US" sz="1150" dirty="0" err="1">
                <a:solidFill>
                  <a:srgbClr val="70747E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требования</a:t>
            </a:r>
            <a:endParaRPr lang="en-US" sz="1150" dirty="0"/>
          </a:p>
        </p:txBody>
      </p:sp>
      <p:sp>
        <p:nvSpPr>
          <p:cNvPr id="21" name="Shape 17"/>
          <p:cNvSpPr/>
          <p:nvPr/>
        </p:nvSpPr>
        <p:spPr>
          <a:xfrm>
            <a:off x="3035808" y="1828800"/>
            <a:ext cx="713232" cy="713232"/>
          </a:xfrm>
          <a:prstGeom prst="ellipse">
            <a:avLst/>
          </a:prstGeom>
          <a:solidFill>
            <a:srgbClr val="7700FF"/>
          </a:solidFill>
          <a:ln w="12700">
            <a:solidFill>
              <a:srgbClr val="7700FF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3035808" y="1984248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2</a:t>
            </a:r>
            <a:endParaRPr lang="en-US" sz="2000" dirty="0"/>
          </a:p>
        </p:txBody>
      </p:sp>
      <p:sp>
        <p:nvSpPr>
          <p:cNvPr id="23" name="Shape 19"/>
          <p:cNvSpPr/>
          <p:nvPr/>
        </p:nvSpPr>
        <p:spPr>
          <a:xfrm>
            <a:off x="3794760" y="2185416"/>
            <a:ext cx="1115568" cy="0"/>
          </a:xfrm>
          <a:prstGeom prst="line">
            <a:avLst/>
          </a:prstGeom>
          <a:noFill/>
          <a:ln w="25400">
            <a:solidFill>
              <a:srgbClr val="E3E8EC"/>
            </a:solidFill>
            <a:prstDash val="solid"/>
            <a:headEnd type="none"/>
            <a:tailEnd type="triangle"/>
          </a:ln>
        </p:spPr>
      </p:sp>
      <p:sp>
        <p:nvSpPr>
          <p:cNvPr id="24" name="Text 20"/>
          <p:cNvSpPr/>
          <p:nvPr/>
        </p:nvSpPr>
        <p:spPr>
          <a:xfrm>
            <a:off x="2670048" y="2743200"/>
            <a:ext cx="14447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01828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ТЗ</a:t>
            </a:r>
            <a:endParaRPr lang="en-US" sz="1800" dirty="0"/>
          </a:p>
        </p:txBody>
      </p:sp>
      <p:sp>
        <p:nvSpPr>
          <p:cNvPr id="25" name="Text 21"/>
          <p:cNvSpPr/>
          <p:nvPr/>
        </p:nvSpPr>
        <p:spPr>
          <a:xfrm>
            <a:off x="2569464" y="3182112"/>
            <a:ext cx="1645920" cy="10789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70747E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Метрики, baseline, критерии приёмки</a:t>
            </a:r>
            <a:endParaRPr lang="en-US" sz="1150" dirty="0"/>
          </a:p>
        </p:txBody>
      </p:sp>
      <p:sp>
        <p:nvSpPr>
          <p:cNvPr id="26" name="Shape 22"/>
          <p:cNvSpPr/>
          <p:nvPr/>
        </p:nvSpPr>
        <p:spPr>
          <a:xfrm>
            <a:off x="4910328" y="1828800"/>
            <a:ext cx="713232" cy="713232"/>
          </a:xfrm>
          <a:prstGeom prst="ellipse">
            <a:avLst/>
          </a:prstGeom>
          <a:solidFill>
            <a:srgbClr val="7700FF"/>
          </a:solidFill>
          <a:ln w="12700">
            <a:solidFill>
              <a:srgbClr val="7700FF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4910328" y="1984248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3</a:t>
            </a:r>
            <a:endParaRPr lang="en-US" sz="2000" dirty="0"/>
          </a:p>
        </p:txBody>
      </p:sp>
      <p:sp>
        <p:nvSpPr>
          <p:cNvPr id="28" name="Shape 24"/>
          <p:cNvSpPr/>
          <p:nvPr/>
        </p:nvSpPr>
        <p:spPr>
          <a:xfrm>
            <a:off x="5669280" y="2185416"/>
            <a:ext cx="1069848" cy="0"/>
          </a:xfrm>
          <a:prstGeom prst="line">
            <a:avLst/>
          </a:prstGeom>
          <a:noFill/>
          <a:ln w="25400">
            <a:solidFill>
              <a:srgbClr val="E3E8EC"/>
            </a:solidFill>
            <a:prstDash val="solid"/>
            <a:headEnd type="none"/>
            <a:tailEnd type="triangle"/>
          </a:ln>
        </p:spPr>
      </p:sp>
      <p:sp>
        <p:nvSpPr>
          <p:cNvPr id="29" name="Text 25"/>
          <p:cNvSpPr/>
          <p:nvPr/>
        </p:nvSpPr>
        <p:spPr>
          <a:xfrm>
            <a:off x="4544568" y="2743200"/>
            <a:ext cx="14447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01828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MVP</a:t>
            </a:r>
            <a:endParaRPr lang="en-US" sz="1800" dirty="0"/>
          </a:p>
        </p:txBody>
      </p:sp>
      <p:sp>
        <p:nvSpPr>
          <p:cNvPr id="30" name="Text 26"/>
          <p:cNvSpPr/>
          <p:nvPr/>
        </p:nvSpPr>
        <p:spPr>
          <a:xfrm>
            <a:off x="4443984" y="3182112"/>
            <a:ext cx="1645920" cy="10789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70747E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 </a:t>
            </a:r>
            <a:r>
              <a:rPr lang="ru-RU" sz="1150" dirty="0">
                <a:solidFill>
                  <a:srgbClr val="70747E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М</a:t>
            </a:r>
            <a:r>
              <a:rPr lang="en-US" sz="1150" dirty="0" err="1">
                <a:solidFill>
                  <a:srgbClr val="70747E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одели</a:t>
            </a:r>
            <a:r>
              <a:rPr lang="en-US" sz="1150" dirty="0">
                <a:solidFill>
                  <a:srgbClr val="70747E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, эксперименты, демо</a:t>
            </a:r>
            <a:endParaRPr lang="en-US" sz="1150" dirty="0"/>
          </a:p>
        </p:txBody>
      </p:sp>
      <p:sp>
        <p:nvSpPr>
          <p:cNvPr id="31" name="Shape 27"/>
          <p:cNvSpPr/>
          <p:nvPr/>
        </p:nvSpPr>
        <p:spPr>
          <a:xfrm>
            <a:off x="6784848" y="1828800"/>
            <a:ext cx="713232" cy="713232"/>
          </a:xfrm>
          <a:prstGeom prst="ellipse">
            <a:avLst/>
          </a:prstGeom>
          <a:solidFill>
            <a:srgbClr val="7700FF"/>
          </a:solidFill>
          <a:ln w="12700">
            <a:solidFill>
              <a:srgbClr val="7700FF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6784848" y="1984248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4</a:t>
            </a:r>
            <a:endParaRPr lang="en-US" sz="2000" dirty="0"/>
          </a:p>
        </p:txBody>
      </p:sp>
      <p:sp>
        <p:nvSpPr>
          <p:cNvPr id="33" name="Shape 29"/>
          <p:cNvSpPr/>
          <p:nvPr/>
        </p:nvSpPr>
        <p:spPr>
          <a:xfrm>
            <a:off x="7543800" y="2185416"/>
            <a:ext cx="1069848" cy="0"/>
          </a:xfrm>
          <a:prstGeom prst="line">
            <a:avLst/>
          </a:prstGeom>
          <a:noFill/>
          <a:ln w="25400">
            <a:solidFill>
              <a:srgbClr val="E3E8EC"/>
            </a:solidFill>
            <a:prstDash val="solid"/>
            <a:headEnd type="none"/>
            <a:tailEnd type="triangle"/>
          </a:ln>
        </p:spPr>
      </p:sp>
      <p:sp>
        <p:nvSpPr>
          <p:cNvPr id="34" name="Text 30"/>
          <p:cNvSpPr/>
          <p:nvPr/>
        </p:nvSpPr>
        <p:spPr>
          <a:xfrm>
            <a:off x="6419088" y="2743200"/>
            <a:ext cx="14447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01828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Тест</a:t>
            </a:r>
            <a:endParaRPr lang="en-US" sz="1800" dirty="0"/>
          </a:p>
        </p:txBody>
      </p:sp>
      <p:sp>
        <p:nvSpPr>
          <p:cNvPr id="35" name="Text 31"/>
          <p:cNvSpPr/>
          <p:nvPr/>
        </p:nvSpPr>
        <p:spPr>
          <a:xfrm>
            <a:off x="6318504" y="3182112"/>
            <a:ext cx="1645920" cy="10789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70747E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Качество данных, robustness</a:t>
            </a:r>
            <a:r>
              <a:rPr lang="ru-RU" sz="1150" dirty="0">
                <a:solidFill>
                  <a:srgbClr val="70747E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 (целостность)</a:t>
            </a:r>
            <a:endParaRPr lang="en-US" sz="1150" dirty="0"/>
          </a:p>
        </p:txBody>
      </p:sp>
      <p:sp>
        <p:nvSpPr>
          <p:cNvPr id="36" name="Shape 32"/>
          <p:cNvSpPr/>
          <p:nvPr/>
        </p:nvSpPr>
        <p:spPr>
          <a:xfrm>
            <a:off x="8659368" y="1828800"/>
            <a:ext cx="713232" cy="713232"/>
          </a:xfrm>
          <a:prstGeom prst="ellipse">
            <a:avLst/>
          </a:prstGeom>
          <a:solidFill>
            <a:srgbClr val="7700FF"/>
          </a:solidFill>
          <a:ln w="12700">
            <a:solidFill>
              <a:srgbClr val="7700FF"/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8659368" y="1984248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5</a:t>
            </a:r>
            <a:endParaRPr lang="en-US" sz="2000" dirty="0"/>
          </a:p>
        </p:txBody>
      </p:sp>
      <p:sp>
        <p:nvSpPr>
          <p:cNvPr id="38" name="Shape 34"/>
          <p:cNvSpPr/>
          <p:nvPr/>
        </p:nvSpPr>
        <p:spPr>
          <a:xfrm>
            <a:off x="9418320" y="2185416"/>
            <a:ext cx="1115568" cy="0"/>
          </a:xfrm>
          <a:prstGeom prst="line">
            <a:avLst/>
          </a:prstGeom>
          <a:noFill/>
          <a:ln w="25400">
            <a:solidFill>
              <a:srgbClr val="E3E8EC"/>
            </a:solidFill>
            <a:prstDash val="solid"/>
            <a:headEnd type="none"/>
            <a:tailEnd type="triangle"/>
          </a:ln>
        </p:spPr>
      </p:sp>
      <p:sp>
        <p:nvSpPr>
          <p:cNvPr id="39" name="Text 35"/>
          <p:cNvSpPr/>
          <p:nvPr/>
        </p:nvSpPr>
        <p:spPr>
          <a:xfrm>
            <a:off x="8293608" y="2743200"/>
            <a:ext cx="14447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01828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Передача</a:t>
            </a:r>
            <a:endParaRPr lang="en-US" sz="1800" dirty="0"/>
          </a:p>
        </p:txBody>
      </p:sp>
      <p:sp>
        <p:nvSpPr>
          <p:cNvPr id="40" name="Text 36"/>
          <p:cNvSpPr/>
          <p:nvPr/>
        </p:nvSpPr>
        <p:spPr>
          <a:xfrm>
            <a:off x="8193024" y="3182112"/>
            <a:ext cx="1645920" cy="10789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70747E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README, инструкции, дообучение</a:t>
            </a:r>
            <a:endParaRPr lang="en-US" sz="1150" dirty="0"/>
          </a:p>
        </p:txBody>
      </p:sp>
      <p:sp>
        <p:nvSpPr>
          <p:cNvPr id="41" name="Shape 37"/>
          <p:cNvSpPr/>
          <p:nvPr/>
        </p:nvSpPr>
        <p:spPr>
          <a:xfrm>
            <a:off x="10533888" y="1828800"/>
            <a:ext cx="713232" cy="713232"/>
          </a:xfrm>
          <a:prstGeom prst="ellipse">
            <a:avLst/>
          </a:prstGeom>
          <a:solidFill>
            <a:srgbClr val="FF4F12"/>
          </a:solidFill>
          <a:ln w="12700">
            <a:solidFill>
              <a:srgbClr val="FF4F12"/>
            </a:solidFill>
            <a:prstDash val="solid"/>
          </a:ln>
        </p:spPr>
      </p:sp>
      <p:sp>
        <p:nvSpPr>
          <p:cNvPr id="42" name="Text 38"/>
          <p:cNvSpPr/>
          <p:nvPr/>
        </p:nvSpPr>
        <p:spPr>
          <a:xfrm>
            <a:off x="10533888" y="1984248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6</a:t>
            </a:r>
            <a:endParaRPr lang="en-US" sz="2000" dirty="0"/>
          </a:p>
        </p:txBody>
      </p:sp>
      <p:sp>
        <p:nvSpPr>
          <p:cNvPr id="43" name="Text 39"/>
          <p:cNvSpPr/>
          <p:nvPr/>
        </p:nvSpPr>
        <p:spPr>
          <a:xfrm>
            <a:off x="10168128" y="2743200"/>
            <a:ext cx="14447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ru-RU" sz="1800" b="1" dirty="0">
                <a:solidFill>
                  <a:srgbClr val="101828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ПСИ</a:t>
            </a:r>
            <a:endParaRPr lang="en-US" sz="1800" dirty="0"/>
          </a:p>
        </p:txBody>
      </p:sp>
      <p:sp>
        <p:nvSpPr>
          <p:cNvPr id="44" name="Text 40"/>
          <p:cNvSpPr/>
          <p:nvPr/>
        </p:nvSpPr>
        <p:spPr>
          <a:xfrm>
            <a:off x="10067544" y="3182112"/>
            <a:ext cx="1645920" cy="10789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/>
            <a:r>
              <a:rPr lang="ru-RU" sz="1200" b="1" dirty="0">
                <a:solidFill>
                  <a:schemeClr val="bg1">
                    <a:lumMod val="50000"/>
                  </a:schemeClr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(</a:t>
            </a:r>
            <a:r>
              <a:rPr lang="ru-RU" sz="1200" dirty="0">
                <a:solidFill>
                  <a:schemeClr val="bg1">
                    <a:lumMod val="50000"/>
                  </a:schemeClr>
                </a:solidFill>
              </a:rPr>
              <a:t>приёмо-сдаточные испытания</a:t>
            </a:r>
            <a:r>
              <a:rPr lang="ru-RU" sz="1200" b="1" dirty="0">
                <a:solidFill>
                  <a:schemeClr val="bg1">
                    <a:lumMod val="50000"/>
                  </a:schemeClr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) </a:t>
            </a:r>
            <a:r>
              <a:rPr lang="en-US" sz="1150" dirty="0" err="1">
                <a:solidFill>
                  <a:srgbClr val="70747E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Мониторинг</a:t>
            </a:r>
            <a:r>
              <a:rPr lang="en-US" sz="1150" dirty="0">
                <a:solidFill>
                  <a:srgbClr val="70747E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, ретроспектива</a:t>
            </a:r>
            <a:endParaRPr lang="en-US" sz="1150" dirty="0"/>
          </a:p>
        </p:txBody>
      </p:sp>
      <p:sp>
        <p:nvSpPr>
          <p:cNvPr id="1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46520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79799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47472"/>
            <a:ext cx="1481328" cy="310896"/>
          </a:xfrm>
          <a:prstGeom prst="roundRect">
            <a:avLst>
              <a:gd name="adj" fmla="val 50000"/>
            </a:avLst>
          </a:prstGeom>
          <a:solidFill>
            <a:srgbClr val="F1EAFE"/>
          </a:solidFill>
          <a:ln w="12700">
            <a:solidFill>
              <a:srgbClr val="F1EAF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12648" y="365760"/>
            <a:ext cx="126187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A2C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ВХОДНОЙ КОНТРОЛЬ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804672"/>
            <a:ext cx="8869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7171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Стартовая диагностика: ваш опыт в ML/AI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02920" y="1938528"/>
            <a:ext cx="11155680" cy="749808"/>
          </a:xfrm>
          <a:prstGeom prst="roundRect">
            <a:avLst>
              <a:gd name="adj" fmla="val 17073"/>
            </a:avLst>
          </a:prstGeom>
          <a:solidFill>
            <a:srgbClr val="231B33"/>
          </a:solidFill>
          <a:ln w="12700">
            <a:solidFill>
              <a:srgbClr val="231B33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58952" y="2130552"/>
            <a:ext cx="310896" cy="310896"/>
          </a:xfrm>
          <a:prstGeom prst="ellipse">
            <a:avLst/>
          </a:prstGeom>
          <a:solidFill>
            <a:srgbClr val="FF7A00"/>
          </a:solidFill>
          <a:ln w="12700">
            <a:solidFill>
              <a:srgbClr val="FF7A00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2130552"/>
            <a:ext cx="31089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?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207008" y="2075688"/>
            <a:ext cx="97840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Какие дисциплины по ML/AI вы уже проходили?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9555480" y="2112264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D9D1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Кратко перечислите курсы / темы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02920" y="2907792"/>
            <a:ext cx="3566160" cy="3218688"/>
          </a:xfrm>
          <a:prstGeom prst="roundRect">
            <a:avLst>
              <a:gd name="adj" fmla="val 3977"/>
            </a:avLst>
          </a:prstGeom>
          <a:solidFill>
            <a:srgbClr val="FFFFFF"/>
          </a:solidFill>
          <a:ln w="12700">
            <a:solidFill>
              <a:srgbClr val="E6E6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67512" y="3090672"/>
            <a:ext cx="1335024" cy="347472"/>
          </a:xfrm>
          <a:prstGeom prst="roundRect">
            <a:avLst>
              <a:gd name="adj" fmla="val 36842"/>
            </a:avLst>
          </a:prstGeom>
          <a:solidFill>
            <a:srgbClr val="F1EAFE"/>
          </a:solidFill>
          <a:ln w="12700">
            <a:solidFill>
              <a:srgbClr val="F1EAFE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3145536"/>
            <a:ext cx="1115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7A2C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ИНСТРУМЕНТЫ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67512" y="3584448"/>
            <a:ext cx="45720" cy="2011680"/>
          </a:xfrm>
          <a:prstGeom prst="rect">
            <a:avLst/>
          </a:prstGeom>
          <a:solidFill>
            <a:srgbClr val="7A2CE0"/>
          </a:solidFill>
          <a:ln w="12700">
            <a:solidFill>
              <a:srgbClr val="7A2CE0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13816" y="3685032"/>
            <a:ext cx="310896" cy="310896"/>
          </a:xfrm>
          <a:prstGeom prst="ellipse">
            <a:avLst/>
          </a:prstGeom>
          <a:solidFill>
            <a:srgbClr val="7A2CE0"/>
          </a:solidFill>
          <a:ln w="12700">
            <a:solidFill>
              <a:srgbClr val="7A2CE0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13816" y="3694176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243584" y="3657600"/>
            <a:ext cx="2551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20" dirty="0">
                <a:solidFill>
                  <a:srgbClr val="17171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Работали ли с Python?</a:t>
            </a:r>
            <a:endParaRPr lang="en-US" sz="1220" dirty="0"/>
          </a:p>
        </p:txBody>
      </p:sp>
      <p:sp>
        <p:nvSpPr>
          <p:cNvPr id="18" name="Shape 16"/>
          <p:cNvSpPr/>
          <p:nvPr/>
        </p:nvSpPr>
        <p:spPr>
          <a:xfrm>
            <a:off x="813816" y="4343400"/>
            <a:ext cx="310896" cy="310896"/>
          </a:xfrm>
          <a:prstGeom prst="ellipse">
            <a:avLst/>
          </a:prstGeom>
          <a:solidFill>
            <a:srgbClr val="7A2CE0"/>
          </a:solidFill>
          <a:ln w="12700">
            <a:solidFill>
              <a:srgbClr val="7A2CE0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13816" y="4352544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243584" y="4315968"/>
            <a:ext cx="2551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 algn="l">
              <a:buNone/>
            </a:pPr>
            <a:r>
              <a:rPr lang="en-US" sz="1220" dirty="0">
                <a:solidFill>
                  <a:srgbClr val="17171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Работали ли с pandas / scikit-learn?</a:t>
            </a:r>
            <a:r>
              <a:rPr lang="ru-RU" sz="1220" dirty="0">
                <a:solidFill>
                  <a:srgbClr val="17171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(либо с иным библиотеками данных и машинного обучения)</a:t>
            </a:r>
            <a:endParaRPr lang="en-US" sz="1220" dirty="0"/>
          </a:p>
        </p:txBody>
      </p:sp>
      <p:sp>
        <p:nvSpPr>
          <p:cNvPr id="21" name="Shape 19"/>
          <p:cNvSpPr/>
          <p:nvPr/>
        </p:nvSpPr>
        <p:spPr>
          <a:xfrm>
            <a:off x="813816" y="5001768"/>
            <a:ext cx="310896" cy="310896"/>
          </a:xfrm>
          <a:prstGeom prst="ellipse">
            <a:avLst/>
          </a:prstGeom>
          <a:solidFill>
            <a:srgbClr val="7A2CE0"/>
          </a:solidFill>
          <a:ln w="12700">
            <a:solidFill>
              <a:srgbClr val="7A2CE0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3816" y="5010912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</a:rPr>
              <a:t>3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243584" y="4974336"/>
            <a:ext cx="2551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20" dirty="0">
                <a:solidFill>
                  <a:srgbClr val="17171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Работали ли с Git?</a:t>
            </a:r>
            <a:endParaRPr lang="en-US" sz="1220" dirty="0"/>
          </a:p>
        </p:txBody>
      </p:sp>
      <p:sp>
        <p:nvSpPr>
          <p:cNvPr id="24" name="Shape 22"/>
          <p:cNvSpPr/>
          <p:nvPr/>
        </p:nvSpPr>
        <p:spPr>
          <a:xfrm>
            <a:off x="4297680" y="2907792"/>
            <a:ext cx="3566160" cy="3218688"/>
          </a:xfrm>
          <a:prstGeom prst="roundRect">
            <a:avLst>
              <a:gd name="adj" fmla="val 3977"/>
            </a:avLst>
          </a:prstGeom>
          <a:solidFill>
            <a:srgbClr val="FFFFFF"/>
          </a:solidFill>
          <a:ln w="12700">
            <a:solidFill>
              <a:srgbClr val="E6E6E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462272" y="3090672"/>
            <a:ext cx="1335024" cy="347472"/>
          </a:xfrm>
          <a:prstGeom prst="roundRect">
            <a:avLst>
              <a:gd name="adj" fmla="val 36842"/>
            </a:avLst>
          </a:prstGeom>
          <a:solidFill>
            <a:srgbClr val="FFF1E5"/>
          </a:solidFill>
          <a:ln w="12700">
            <a:solidFill>
              <a:srgbClr val="FFF1E5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0" y="3145536"/>
            <a:ext cx="1115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7A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ML / NLP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462272" y="3584448"/>
            <a:ext cx="45720" cy="2011680"/>
          </a:xfrm>
          <a:prstGeom prst="rect">
            <a:avLst/>
          </a:prstGeom>
          <a:solidFill>
            <a:srgbClr val="FF7A00"/>
          </a:solidFill>
          <a:ln w="12700">
            <a:solidFill>
              <a:srgbClr val="FF7A00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08576" y="3685032"/>
            <a:ext cx="310896" cy="310896"/>
          </a:xfrm>
          <a:prstGeom prst="ellipse">
            <a:avLst/>
          </a:prstGeom>
          <a:solidFill>
            <a:srgbClr val="FF7A00"/>
          </a:solidFill>
          <a:ln w="12700">
            <a:solidFill>
              <a:srgbClr val="FF7A00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08576" y="3694176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</a:rPr>
              <a:t>4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038344" y="3657600"/>
            <a:ext cx="2551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20" dirty="0">
                <a:solidFill>
                  <a:srgbClr val="17171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Делали ли классификацию?</a:t>
            </a:r>
            <a:endParaRPr lang="en-US" sz="1220" dirty="0"/>
          </a:p>
        </p:txBody>
      </p:sp>
      <p:sp>
        <p:nvSpPr>
          <p:cNvPr id="31" name="Shape 29"/>
          <p:cNvSpPr/>
          <p:nvPr/>
        </p:nvSpPr>
        <p:spPr>
          <a:xfrm>
            <a:off x="4608576" y="4343400"/>
            <a:ext cx="310896" cy="310896"/>
          </a:xfrm>
          <a:prstGeom prst="ellipse">
            <a:avLst/>
          </a:prstGeom>
          <a:solidFill>
            <a:srgbClr val="FF7A00"/>
          </a:solidFill>
          <a:ln w="12700">
            <a:solidFill>
              <a:srgbClr val="FF7A00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08576" y="4352544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</a:rPr>
              <a:t>5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038344" y="4315968"/>
            <a:ext cx="2551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20" dirty="0">
                <a:solidFill>
                  <a:srgbClr val="17171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Делали ли регрессию?</a:t>
            </a:r>
            <a:endParaRPr lang="en-US" sz="1220" dirty="0"/>
          </a:p>
        </p:txBody>
      </p:sp>
      <p:sp>
        <p:nvSpPr>
          <p:cNvPr id="34" name="Shape 32"/>
          <p:cNvSpPr/>
          <p:nvPr/>
        </p:nvSpPr>
        <p:spPr>
          <a:xfrm>
            <a:off x="4608576" y="5001768"/>
            <a:ext cx="310896" cy="310896"/>
          </a:xfrm>
          <a:prstGeom prst="ellipse">
            <a:avLst/>
          </a:prstGeom>
          <a:solidFill>
            <a:srgbClr val="FF7A00"/>
          </a:solidFill>
          <a:ln w="12700">
            <a:solidFill>
              <a:srgbClr val="FF7A00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08576" y="5010912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</a:rPr>
              <a:t>6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038344" y="4974336"/>
            <a:ext cx="2551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 algn="l">
              <a:buNone/>
            </a:pPr>
            <a:r>
              <a:rPr lang="ru-RU" sz="1220" dirty="0">
                <a:solidFill>
                  <a:srgbClr val="17171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Решали ли вы задачи машинного обучения, связанные с текстами или естественным языком?</a:t>
            </a:r>
            <a:endParaRPr lang="en-US" sz="1220" dirty="0"/>
          </a:p>
        </p:txBody>
      </p:sp>
      <p:sp>
        <p:nvSpPr>
          <p:cNvPr id="37" name="Shape 35"/>
          <p:cNvSpPr/>
          <p:nvPr/>
        </p:nvSpPr>
        <p:spPr>
          <a:xfrm>
            <a:off x="8092440" y="2907792"/>
            <a:ext cx="3566160" cy="3218688"/>
          </a:xfrm>
          <a:prstGeom prst="roundRect">
            <a:avLst>
              <a:gd name="adj" fmla="val 3977"/>
            </a:avLst>
          </a:prstGeom>
          <a:solidFill>
            <a:srgbClr val="FFFFFF"/>
          </a:solidFill>
          <a:ln w="12700">
            <a:solidFill>
              <a:srgbClr val="E6E6EE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257032" y="3090672"/>
            <a:ext cx="1335024" cy="347472"/>
          </a:xfrm>
          <a:prstGeom prst="roundRect">
            <a:avLst>
              <a:gd name="adj" fmla="val 36842"/>
            </a:avLst>
          </a:prstGeom>
          <a:solidFill>
            <a:srgbClr val="FCEBFF"/>
          </a:solidFill>
          <a:ln w="12700">
            <a:solidFill>
              <a:srgbClr val="FCEBFF">
                <a:alpha val="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366760" y="3145536"/>
            <a:ext cx="1115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E950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ПРАКТИКА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8257032" y="3584448"/>
            <a:ext cx="45720" cy="2011680"/>
          </a:xfrm>
          <a:prstGeom prst="rect">
            <a:avLst/>
          </a:prstGeom>
          <a:solidFill>
            <a:srgbClr val="E950FF"/>
          </a:solidFill>
          <a:ln w="12700">
            <a:solidFill>
              <a:srgbClr val="E950FF">
                <a:alpha val="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403336" y="3685032"/>
            <a:ext cx="310896" cy="310896"/>
          </a:xfrm>
          <a:prstGeom prst="ellipse">
            <a:avLst/>
          </a:prstGeom>
          <a:solidFill>
            <a:srgbClr val="E950FF"/>
          </a:solidFill>
          <a:ln w="12700">
            <a:solidFill>
              <a:srgbClr val="E950FF">
                <a:alpha val="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403336" y="3694176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</a:rPr>
              <a:t>7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8833104" y="3657600"/>
            <a:ext cx="2551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20" dirty="0">
                <a:solidFill>
                  <a:srgbClr val="17171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Делали ли командные проекты?</a:t>
            </a:r>
            <a:endParaRPr lang="en-US" sz="1220" dirty="0"/>
          </a:p>
        </p:txBody>
      </p:sp>
      <p:sp>
        <p:nvSpPr>
          <p:cNvPr id="44" name="Shape 42"/>
          <p:cNvSpPr/>
          <p:nvPr/>
        </p:nvSpPr>
        <p:spPr>
          <a:xfrm>
            <a:off x="8403336" y="4343400"/>
            <a:ext cx="310896" cy="310896"/>
          </a:xfrm>
          <a:prstGeom prst="ellipse">
            <a:avLst/>
          </a:prstGeom>
          <a:solidFill>
            <a:srgbClr val="E950FF"/>
          </a:solidFill>
          <a:ln w="12700">
            <a:solidFill>
              <a:srgbClr val="E950FF">
                <a:alpha val="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403336" y="4352544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8833104" y="4315968"/>
            <a:ext cx="2551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20" dirty="0">
                <a:solidFill>
                  <a:srgbClr val="17171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Разворачивали ли приложение / модель?</a:t>
            </a:r>
            <a:endParaRPr lang="en-US" sz="1220" dirty="0"/>
          </a:p>
        </p:txBody>
      </p:sp>
      <p:sp>
        <p:nvSpPr>
          <p:cNvPr id="47" name="Shape 45"/>
          <p:cNvSpPr/>
          <p:nvPr/>
        </p:nvSpPr>
        <p:spPr>
          <a:xfrm>
            <a:off x="8403336" y="5001768"/>
            <a:ext cx="310896" cy="310896"/>
          </a:xfrm>
          <a:prstGeom prst="ellipse">
            <a:avLst/>
          </a:prstGeom>
          <a:solidFill>
            <a:srgbClr val="E950FF"/>
          </a:solidFill>
          <a:ln w="12700">
            <a:solidFill>
              <a:srgbClr val="E950FF">
                <a:alpha val="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403336" y="5010912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8833104" y="4974336"/>
            <a:ext cx="2551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20" dirty="0">
                <a:solidFill>
                  <a:srgbClr val="17171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Какая тема ML вам наиболее понятна?</a:t>
            </a:r>
            <a:endParaRPr lang="en-US" sz="1220" dirty="0"/>
          </a:p>
        </p:txBody>
      </p:sp>
      <p:sp>
        <p:nvSpPr>
          <p:cNvPr id="50" name="Shape 48"/>
          <p:cNvSpPr/>
          <p:nvPr/>
        </p:nvSpPr>
        <p:spPr>
          <a:xfrm>
            <a:off x="502920" y="6364224"/>
            <a:ext cx="11155680" cy="0"/>
          </a:xfrm>
          <a:prstGeom prst="line">
            <a:avLst/>
          </a:prstGeom>
          <a:noFill/>
          <a:ln w="12700">
            <a:solidFill>
              <a:srgbClr val="D8D8E2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0104120" y="641908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7A2C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5–7 минут</a:t>
            </a:r>
            <a:endParaRPr lang="en-US" sz="1050" dirty="0"/>
          </a:p>
        </p:txBody>
      </p:sp>
      <p:sp>
        <p:nvSpPr>
          <p:cNvPr id="5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4282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B9BA7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  <p:pic>
        <p:nvPicPr>
          <p:cNvPr id="55" name="Image 0" descr="/mnt/data/Основной_цветной.png">
            <a:extLst>
              <a:ext uri="{FF2B5EF4-FFF2-40B4-BE49-F238E27FC236}">
                <a16:creationId xmlns:a16="http://schemas.microsoft.com/office/drawing/2014/main" id="{75B1428D-7F94-9E3F-1630-4905DB039D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99548" y="56125"/>
            <a:ext cx="1783080" cy="46677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136DBC-27E7-6BEB-5C93-8A34C8ED28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Slide Number Placeholder 0">
            <a:extLst>
              <a:ext uri="{FF2B5EF4-FFF2-40B4-BE49-F238E27FC236}">
                <a16:creationId xmlns:a16="http://schemas.microsoft.com/office/drawing/2014/main" id="{B787E8D2-C4E1-7773-5B9A-3B4BD463D534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448288" y="6446520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98A2B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  <p:sp>
        <p:nvSpPr>
          <p:cNvPr id="29" name="Text 2">
            <a:extLst>
              <a:ext uri="{FF2B5EF4-FFF2-40B4-BE49-F238E27FC236}">
                <a16:creationId xmlns:a16="http://schemas.microsoft.com/office/drawing/2014/main" id="{E8DE4F6E-69C9-B08A-5C27-1F38A9DE6F21}"/>
              </a:ext>
            </a:extLst>
          </p:cNvPr>
          <p:cNvSpPr/>
          <p:nvPr/>
        </p:nvSpPr>
        <p:spPr>
          <a:xfrm>
            <a:off x="5120076" y="2588317"/>
            <a:ext cx="8869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ru-RU" sz="2600" b="1" dirty="0">
                <a:solidFill>
                  <a:srgbClr val="17171C"/>
                </a:solidFill>
                <a:latin typeface="Aptos" pitchFamily="34" charset="0"/>
              </a:rPr>
              <a:t>404 </a:t>
            </a:r>
            <a:r>
              <a:rPr lang="en-US" sz="2600" b="1" dirty="0">
                <a:solidFill>
                  <a:srgbClr val="17171C"/>
                </a:solidFill>
                <a:latin typeface="Aptos" pitchFamily="34" charset="0"/>
              </a:rPr>
              <a:t>not found</a:t>
            </a:r>
            <a:endParaRPr lang="en-US" sz="2600" dirty="0"/>
          </a:p>
        </p:txBody>
      </p:sp>
      <p:sp>
        <p:nvSpPr>
          <p:cNvPr id="31" name="Text 2">
            <a:extLst>
              <a:ext uri="{FF2B5EF4-FFF2-40B4-BE49-F238E27FC236}">
                <a16:creationId xmlns:a16="http://schemas.microsoft.com/office/drawing/2014/main" id="{4CD8A6BB-8F47-FF46-3B05-9615A48F4464}"/>
              </a:ext>
            </a:extLst>
          </p:cNvPr>
          <p:cNvSpPr/>
          <p:nvPr/>
        </p:nvSpPr>
        <p:spPr>
          <a:xfrm>
            <a:off x="526856" y="182712"/>
            <a:ext cx="8869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ru-RU" sz="2600" b="1" dirty="0">
                <a:solidFill>
                  <a:srgbClr val="17171C"/>
                </a:solidFill>
                <a:latin typeface="Aptos" pitchFamily="34" charset="0"/>
              </a:rPr>
              <a:t>Кейсы</a:t>
            </a:r>
            <a:endParaRPr lang="en-US" sz="2600" dirty="0"/>
          </a:p>
        </p:txBody>
      </p:sp>
    </p:spTree>
    <p:extLst>
      <p:ext uri="{BB962C8B-B14F-4D97-AF65-F5344CB8AC3E}">
        <p14:creationId xmlns:p14="http://schemas.microsoft.com/office/powerpoint/2010/main" val="1215761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66928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018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Зачем различать проект и продукт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12648" y="105156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67085"/>
                </a:solidFill>
              </a:rPr>
              <a:t>У них разные горизонты, метрики успеха и управленческая логика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40080" y="1572768"/>
            <a:ext cx="5166360" cy="4343400"/>
          </a:xfrm>
          <a:prstGeom prst="roundRect">
            <a:avLst>
              <a:gd name="adj" fmla="val 1684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blurRad="25400" dist="50800" dir="2700000" algn="bl" rotWithShape="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828800"/>
            <a:ext cx="914400" cy="310896"/>
          </a:xfrm>
          <a:prstGeom prst="roundRect">
            <a:avLst>
              <a:gd name="adj" fmla="val 23529"/>
            </a:avLst>
          </a:prstGeom>
          <a:solidFill>
            <a:srgbClr val="F1E8FF"/>
          </a:solidFill>
          <a:ln w="12700">
            <a:solidFill>
              <a:srgbClr val="F1E8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78408" y="1883664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7700FF"/>
                </a:solidFill>
              </a:rPr>
              <a:t>ПРОЕКТ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914400" y="2395728"/>
            <a:ext cx="4343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01828"/>
                </a:solidFill>
              </a:rPr>
              <a:t>Как прийти к</a:t>
            </a:r>
            <a:endParaRPr lang="en-US" sz="2400" dirty="0"/>
          </a:p>
          <a:p>
            <a:pPr marL="0" indent="0">
              <a:buNone/>
            </a:pPr>
            <a:r>
              <a:rPr lang="en-US" sz="2400" b="1" dirty="0">
                <a:solidFill>
                  <a:srgbClr val="101828"/>
                </a:solidFill>
              </a:rPr>
              <a:t>конкретному результату?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960120" y="3803904"/>
            <a:ext cx="91440" cy="91440"/>
          </a:xfrm>
          <a:prstGeom prst="ellipse">
            <a:avLst/>
          </a:prstGeom>
          <a:solidFill>
            <a:srgbClr val="7700FF"/>
          </a:solidFill>
          <a:ln w="12700">
            <a:solidFill>
              <a:srgbClr val="7700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61288" y="370332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D2939"/>
                </a:solidFill>
              </a:rPr>
              <a:t>Есть начало и завершение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960120" y="4416552"/>
            <a:ext cx="91440" cy="91440"/>
          </a:xfrm>
          <a:prstGeom prst="ellipse">
            <a:avLst/>
          </a:prstGeom>
          <a:solidFill>
            <a:srgbClr val="7700FF"/>
          </a:solidFill>
          <a:ln w="12700">
            <a:solidFill>
              <a:srgbClr val="7700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61288" y="431596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D2939"/>
                </a:solidFill>
              </a:rPr>
              <a:t>Есть определённая цель и границы результата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960120" y="5029200"/>
            <a:ext cx="91440" cy="91440"/>
          </a:xfrm>
          <a:prstGeom prst="ellipse">
            <a:avLst/>
          </a:prstGeom>
          <a:solidFill>
            <a:srgbClr val="7700FF"/>
          </a:solidFill>
          <a:ln w="12700">
            <a:solidFill>
              <a:srgbClr val="7700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61288" y="4928616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D2939"/>
                </a:solidFill>
              </a:rPr>
              <a:t>После достижения цели проект закрывается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382512" y="1572768"/>
            <a:ext cx="5166360" cy="4343400"/>
          </a:xfrm>
          <a:prstGeom prst="roundRect">
            <a:avLst>
              <a:gd name="adj" fmla="val 1684"/>
            </a:avLst>
          </a:prstGeom>
          <a:solidFill>
            <a:srgbClr val="101828"/>
          </a:solidFill>
          <a:ln w="12700">
            <a:solidFill>
              <a:srgbClr val="101828"/>
            </a:solidFill>
            <a:prstDash val="solid"/>
          </a:ln>
          <a:effectLst>
            <a:outerShdw blurRad="25400" dist="50800" dir="2700000" algn="bl" rotWithShape="0">
              <a:srgbClr val="000000">
                <a:alpha val="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656832" y="1828800"/>
            <a:ext cx="1143000" cy="310896"/>
          </a:xfrm>
          <a:prstGeom prst="roundRect">
            <a:avLst>
              <a:gd name="adj" fmla="val 23529"/>
            </a:avLst>
          </a:prstGeom>
          <a:solidFill>
            <a:srgbClr val="FFF0EA"/>
          </a:solidFill>
          <a:ln w="12700">
            <a:solidFill>
              <a:srgbClr val="FFF0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20840" y="1883664"/>
            <a:ext cx="10149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4F12"/>
                </a:solidFill>
              </a:rPr>
              <a:t>ПРОДУКТ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656832" y="2395728"/>
            <a:ext cx="4343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Как постоянно</a:t>
            </a:r>
            <a:endParaRPr lang="en-US" sz="2400" dirty="0"/>
          </a:p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создавать ценность?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6675120" y="3703320"/>
            <a:ext cx="438912" cy="438912"/>
          </a:xfrm>
          <a:prstGeom prst="ellipse">
            <a:avLst/>
          </a:prstGeom>
          <a:solidFill>
            <a:srgbClr val="FF4F12"/>
          </a:solidFill>
          <a:ln w="12700">
            <a:solidFill>
              <a:srgbClr val="FF4F1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75120" y="3753612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→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269480" y="3739896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30" dirty="0">
                <a:solidFill>
                  <a:srgbClr val="D0D5DD"/>
                </a:solidFill>
              </a:rPr>
              <a:t>Есть пользователи и измеряемая ценность</a:t>
            </a:r>
            <a:endParaRPr lang="en-US" sz="1130" dirty="0"/>
          </a:p>
        </p:txBody>
      </p:sp>
      <p:sp>
        <p:nvSpPr>
          <p:cNvPr id="21" name="Shape 19"/>
          <p:cNvSpPr/>
          <p:nvPr/>
        </p:nvSpPr>
        <p:spPr>
          <a:xfrm>
            <a:off x="6675120" y="4315968"/>
            <a:ext cx="438912" cy="438912"/>
          </a:xfrm>
          <a:prstGeom prst="ellipse">
            <a:avLst/>
          </a:prstGeom>
          <a:solidFill>
            <a:srgbClr val="FF4F12"/>
          </a:solidFill>
          <a:ln w="12700">
            <a:solidFill>
              <a:srgbClr val="FF4F1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75120" y="4366260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→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269480" y="4352544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30" dirty="0">
                <a:solidFill>
                  <a:srgbClr val="D0D5DD"/>
                </a:solidFill>
              </a:rPr>
              <a:t>Решение развивается через гипотезы и обратную связь</a:t>
            </a:r>
            <a:endParaRPr lang="en-US" sz="1130" dirty="0"/>
          </a:p>
        </p:txBody>
      </p:sp>
      <p:sp>
        <p:nvSpPr>
          <p:cNvPr id="24" name="Shape 22"/>
          <p:cNvSpPr/>
          <p:nvPr/>
        </p:nvSpPr>
        <p:spPr>
          <a:xfrm>
            <a:off x="6675120" y="4928616"/>
            <a:ext cx="438912" cy="438912"/>
          </a:xfrm>
          <a:prstGeom prst="ellipse">
            <a:avLst/>
          </a:prstGeom>
          <a:solidFill>
            <a:srgbClr val="FF4F12"/>
          </a:solidFill>
          <a:ln w="12700">
            <a:solidFill>
              <a:srgbClr val="FF4F1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75120" y="4978908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→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269480" y="4965192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30" dirty="0">
                <a:solidFill>
                  <a:srgbClr val="D0D5DD"/>
                </a:solidFill>
              </a:rPr>
              <a:t>Работа продолжается, пока продукт нужен и оправдан</a:t>
            </a:r>
            <a:endParaRPr lang="en-US" sz="113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48288" y="6446520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98A2B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66928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018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Что такое проект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12648" y="105156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67085"/>
                </a:solidFill>
              </a:rPr>
              <a:t>Временная деятельность для достижения определённой цели и создания уникального результата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40080" y="1490472"/>
            <a:ext cx="10972800" cy="1463040"/>
          </a:xfrm>
          <a:prstGeom prst="roundRect">
            <a:avLst>
              <a:gd name="adj" fmla="val 5000"/>
            </a:avLst>
          </a:prstGeom>
          <a:solidFill>
            <a:srgbClr val="F1E8FF"/>
          </a:solidFill>
          <a:ln w="12700">
            <a:solidFill>
              <a:srgbClr val="F1E8FF"/>
            </a:solidFill>
            <a:prstDash val="solid"/>
          </a:ln>
          <a:effectLst>
            <a:outerShdw blurRad="25400" dist="50800" dir="2700000" algn="bl" rotWithShape="0">
              <a:srgbClr val="000000">
                <a:alpha val="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892808"/>
            <a:ext cx="10378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01828"/>
                </a:solidFill>
              </a:rPr>
              <a:t>Проект = временность + уникальный результат + ограничения + ответственность за достижение цели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640080" y="3273552"/>
            <a:ext cx="521208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blurRad="25400" dist="50800" dir="2700000" algn="bl" rotWithShape="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41248" y="3438144"/>
            <a:ext cx="658368" cy="310896"/>
          </a:xfrm>
          <a:prstGeom prst="roundRect">
            <a:avLst>
              <a:gd name="adj" fmla="val 23529"/>
            </a:avLst>
          </a:prstGeom>
          <a:solidFill>
            <a:srgbClr val="F1E8FF"/>
          </a:solidFill>
          <a:ln w="12700">
            <a:solidFill>
              <a:srgbClr val="F1E8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05256" y="3493008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7700FF"/>
                </a:solidFill>
              </a:rPr>
              <a:t>01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664208" y="343814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101828"/>
                </a:solidFill>
              </a:rPr>
              <a:t>Временный характер</a:t>
            </a:r>
            <a:endParaRPr lang="en-US" sz="1320" dirty="0"/>
          </a:p>
        </p:txBody>
      </p:sp>
      <p:sp>
        <p:nvSpPr>
          <p:cNvPr id="10" name="Text 8"/>
          <p:cNvSpPr/>
          <p:nvPr/>
        </p:nvSpPr>
        <p:spPr>
          <a:xfrm>
            <a:off x="3383280" y="338328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90" dirty="0">
                <a:solidFill>
                  <a:srgbClr val="667085"/>
                </a:solidFill>
              </a:rPr>
              <a:t>Есть момент старта и момент, когда проект должен завершиться.</a:t>
            </a:r>
            <a:endParaRPr lang="en-US" sz="990" dirty="0"/>
          </a:p>
        </p:txBody>
      </p:sp>
      <p:sp>
        <p:nvSpPr>
          <p:cNvPr id="11" name="Shape 9"/>
          <p:cNvSpPr/>
          <p:nvPr/>
        </p:nvSpPr>
        <p:spPr>
          <a:xfrm>
            <a:off x="6126480" y="3273552"/>
            <a:ext cx="521208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blurRad="25400" dist="50800" dir="2700000" algn="bl" rotWithShape="0">
              <a:srgbClr val="000000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327648" y="3438144"/>
            <a:ext cx="658368" cy="310896"/>
          </a:xfrm>
          <a:prstGeom prst="roundRect">
            <a:avLst>
              <a:gd name="adj" fmla="val 23529"/>
            </a:avLst>
          </a:prstGeom>
          <a:solidFill>
            <a:srgbClr val="FFF0EA"/>
          </a:solidFill>
          <a:ln w="12700">
            <a:solidFill>
              <a:srgbClr val="FFF0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91656" y="3493008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4F12"/>
                </a:solidFill>
              </a:rPr>
              <a:t>02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7150608" y="343814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101828"/>
                </a:solidFill>
              </a:rPr>
              <a:t>Уникальный результат</a:t>
            </a:r>
            <a:endParaRPr lang="en-US" sz="1320" dirty="0"/>
          </a:p>
        </p:txBody>
      </p:sp>
      <p:sp>
        <p:nvSpPr>
          <p:cNvPr id="15" name="Text 13"/>
          <p:cNvSpPr/>
          <p:nvPr/>
        </p:nvSpPr>
        <p:spPr>
          <a:xfrm>
            <a:off x="8869680" y="338328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90" dirty="0">
                <a:solidFill>
                  <a:srgbClr val="667085"/>
                </a:solidFill>
              </a:rPr>
              <a:t>Создаётся конкретный продукт, сервис, изменение или иной результат.</a:t>
            </a:r>
            <a:endParaRPr lang="en-US" sz="990" dirty="0"/>
          </a:p>
        </p:txBody>
      </p:sp>
      <p:sp>
        <p:nvSpPr>
          <p:cNvPr id="16" name="Shape 14"/>
          <p:cNvSpPr/>
          <p:nvPr/>
        </p:nvSpPr>
        <p:spPr>
          <a:xfrm>
            <a:off x="640080" y="4617720"/>
            <a:ext cx="521208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blurRad="25400" dist="50800" dir="2700000" algn="bl" rotWithShape="0">
              <a:srgbClr val="000000">
                <a:alpha val="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41248" y="4782312"/>
            <a:ext cx="658368" cy="310896"/>
          </a:xfrm>
          <a:prstGeom prst="roundRect">
            <a:avLst>
              <a:gd name="adj" fmla="val 23529"/>
            </a:avLst>
          </a:prstGeom>
          <a:solidFill>
            <a:srgbClr val="EAF4FF"/>
          </a:solidFill>
          <a:ln w="12700">
            <a:solidFill>
              <a:srgbClr val="EAF4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05256" y="4837176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E90FA"/>
                </a:solidFill>
              </a:rPr>
              <a:t>03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664208" y="478231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101828"/>
                </a:solidFill>
              </a:rPr>
              <a:t>Ограничения</a:t>
            </a:r>
            <a:endParaRPr lang="en-US" sz="1320" dirty="0"/>
          </a:p>
        </p:txBody>
      </p:sp>
      <p:sp>
        <p:nvSpPr>
          <p:cNvPr id="20" name="Text 18"/>
          <p:cNvSpPr/>
          <p:nvPr/>
        </p:nvSpPr>
        <p:spPr>
          <a:xfrm>
            <a:off x="3383280" y="4727448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90" dirty="0">
                <a:solidFill>
                  <a:srgbClr val="667085"/>
                </a:solidFill>
              </a:rPr>
              <a:t>Срок, бюджет, объём, качество, ресурсы и риски нужно балансировать.</a:t>
            </a:r>
            <a:endParaRPr lang="en-US" sz="990" dirty="0"/>
          </a:p>
        </p:txBody>
      </p:sp>
      <p:sp>
        <p:nvSpPr>
          <p:cNvPr id="21" name="Shape 19"/>
          <p:cNvSpPr/>
          <p:nvPr/>
        </p:nvSpPr>
        <p:spPr>
          <a:xfrm>
            <a:off x="6126480" y="4617720"/>
            <a:ext cx="521208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blurRad="25400" dist="50800" dir="2700000" algn="bl" rotWithShape="0">
              <a:srgbClr val="000000">
                <a:alpha val="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327648" y="4782312"/>
            <a:ext cx="658368" cy="310896"/>
          </a:xfrm>
          <a:prstGeom prst="roundRect">
            <a:avLst>
              <a:gd name="adj" fmla="val 23529"/>
            </a:avLst>
          </a:prstGeom>
          <a:solidFill>
            <a:srgbClr val="EAFBF3"/>
          </a:solidFill>
          <a:ln w="12700">
            <a:solidFill>
              <a:srgbClr val="EAFBF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91656" y="4837176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2B76A"/>
                </a:solidFill>
              </a:rPr>
              <a:t>04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7150608" y="478231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101828"/>
                </a:solidFill>
              </a:rPr>
              <a:t>Изменение системы</a:t>
            </a:r>
            <a:endParaRPr lang="en-US" sz="1320" dirty="0"/>
          </a:p>
        </p:txBody>
      </p:sp>
      <p:sp>
        <p:nvSpPr>
          <p:cNvPr id="25" name="Text 23"/>
          <p:cNvSpPr/>
          <p:nvPr/>
        </p:nvSpPr>
        <p:spPr>
          <a:xfrm>
            <a:off x="8869680" y="4727448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90" dirty="0">
                <a:solidFill>
                  <a:srgbClr val="667085"/>
                </a:solidFill>
              </a:rPr>
              <a:t>Проект переводит организацию или решение из состояния «А» в «Б».</a:t>
            </a:r>
            <a:endParaRPr lang="en-US" sz="990" dirty="0"/>
          </a:p>
        </p:txBody>
      </p:sp>
      <p:sp>
        <p:nvSpPr>
          <p:cNvPr id="26" name="Text 24"/>
          <p:cNvSpPr/>
          <p:nvPr/>
        </p:nvSpPr>
        <p:spPr>
          <a:xfrm>
            <a:off x="594360" y="6446520"/>
            <a:ext cx="5669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98A2B3"/>
                </a:solidFill>
              </a:rPr>
              <a:t>Источник: PMBOK® Guide; ISO 21502</a:t>
            </a:r>
            <a:endParaRPr lang="en-US" sz="72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48288" y="6446520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98A2B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66928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018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Анатомия проекта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12648" y="105156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67085"/>
                </a:solidFill>
              </a:rPr>
              <a:t>Цель одна, но управлять приходится несколькими взаимосвязанными ограничениями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4892040" y="2377440"/>
            <a:ext cx="2423160" cy="2423160"/>
          </a:xfrm>
          <a:prstGeom prst="ellipse">
            <a:avLst/>
          </a:prstGeom>
          <a:solidFill>
            <a:srgbClr val="101828"/>
          </a:solidFill>
          <a:ln w="12700">
            <a:solidFill>
              <a:srgbClr val="10182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239512" y="2971800"/>
            <a:ext cx="1737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ЦЕЛЬ</a:t>
            </a:r>
            <a:endParaRPr lang="en-US" sz="2400" dirty="0"/>
          </a:p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ПРОЕКТА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914400" y="1737360"/>
            <a:ext cx="2743200" cy="932688"/>
          </a:xfrm>
          <a:prstGeom prst="roundRect">
            <a:avLst>
              <a:gd name="adj" fmla="val 7843"/>
            </a:avLst>
          </a:prstGeom>
          <a:solidFill>
            <a:srgbClr val="F1E8FF"/>
          </a:solidFill>
          <a:ln w="12700">
            <a:solidFill>
              <a:srgbClr val="F1E8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1901952"/>
            <a:ext cx="1078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7700FF"/>
                </a:solidFill>
              </a:rPr>
              <a:t>Срок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2121408" y="1856232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667085"/>
                </a:solidFill>
              </a:rPr>
              <a:t>Когда нужен результат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553650" y="673042"/>
            <a:ext cx="2743200" cy="932688"/>
          </a:xfrm>
          <a:prstGeom prst="roundRect">
            <a:avLst>
              <a:gd name="adj" fmla="val 7843"/>
            </a:avLst>
          </a:prstGeom>
          <a:solidFill>
            <a:srgbClr val="FFF0EA"/>
          </a:solidFill>
          <a:ln w="12700">
            <a:solidFill>
              <a:srgbClr val="FFF0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33841" y="837634"/>
            <a:ext cx="1078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4F12"/>
                </a:solidFill>
              </a:rPr>
              <a:t>Бюджет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7839681" y="791914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667085"/>
                </a:solidFill>
              </a:rPr>
              <a:t>Сколько можем потратить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8181060" y="2101206"/>
            <a:ext cx="2743200" cy="932688"/>
          </a:xfrm>
          <a:prstGeom prst="roundRect">
            <a:avLst>
              <a:gd name="adj" fmla="val 7843"/>
            </a:avLst>
          </a:prstGeom>
          <a:solidFill>
            <a:srgbClr val="EAF4FF"/>
          </a:solidFill>
          <a:ln w="12700">
            <a:solidFill>
              <a:srgbClr val="EAF4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03678" y="2477691"/>
            <a:ext cx="1078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E90FA"/>
                </a:solidFill>
              </a:rPr>
              <a:t>Объём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9296628" y="2375526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667085"/>
                </a:solidFill>
              </a:rPr>
              <a:t>Что входит в результат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731520" y="3721609"/>
            <a:ext cx="2743200" cy="932688"/>
          </a:xfrm>
          <a:prstGeom prst="roundRect">
            <a:avLst>
              <a:gd name="adj" fmla="val 7843"/>
            </a:avLst>
          </a:prstGeom>
          <a:solidFill>
            <a:srgbClr val="FEECEB"/>
          </a:solidFill>
          <a:ln w="12700">
            <a:solidFill>
              <a:srgbClr val="FEEC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42416" y="4018619"/>
            <a:ext cx="1078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D92D20"/>
                </a:solidFill>
              </a:rPr>
              <a:t>Риски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2048256" y="3972899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667085"/>
                </a:solidFill>
              </a:rPr>
              <a:t>Что может помешать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810561" y="5407155"/>
            <a:ext cx="2743200" cy="932688"/>
          </a:xfrm>
          <a:prstGeom prst="roundRect">
            <a:avLst>
              <a:gd name="adj" fmla="val 7843"/>
            </a:avLst>
          </a:prstGeom>
          <a:solidFill>
            <a:srgbClr val="EAFBF3"/>
          </a:solidFill>
          <a:ln w="12700">
            <a:solidFill>
              <a:srgbClr val="EAFBF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011729" y="5571747"/>
            <a:ext cx="1078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2B76A"/>
                </a:solidFill>
              </a:rPr>
              <a:t>Качество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5017569" y="5526027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667085"/>
                </a:solidFill>
              </a:rPr>
              <a:t>Каким должен быть результат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7863840" y="4526280"/>
            <a:ext cx="2743200" cy="932688"/>
          </a:xfrm>
          <a:prstGeom prst="roundRect">
            <a:avLst>
              <a:gd name="adj" fmla="val 7843"/>
            </a:avLst>
          </a:prstGeom>
          <a:solidFill>
            <a:srgbClr val="F5EEFF"/>
          </a:solidFill>
          <a:ln w="12700">
            <a:solidFill>
              <a:srgbClr val="F5EE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969278" y="4784004"/>
            <a:ext cx="1078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9B51E0"/>
                </a:solidFill>
              </a:rPr>
              <a:t>Стейкхолдеры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9070848" y="4690872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667085"/>
                </a:solidFill>
              </a:rPr>
              <a:t>Кому и зачем это нужно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698748" y="2395727"/>
            <a:ext cx="1325880" cy="603504"/>
          </a:xfrm>
          <a:prstGeom prst="line">
            <a:avLst/>
          </a:prstGeom>
          <a:noFill/>
          <a:ln w="19050">
            <a:solidFill>
              <a:srgbClr val="C7CCD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 flipH="1">
            <a:off x="6833839" y="1605730"/>
            <a:ext cx="1158015" cy="980322"/>
          </a:xfrm>
          <a:prstGeom prst="line">
            <a:avLst/>
          </a:prstGeom>
          <a:noFill/>
          <a:ln w="19050">
            <a:solidFill>
              <a:srgbClr val="C7CCD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 flipV="1">
            <a:off x="7315200" y="2642616"/>
            <a:ext cx="865860" cy="740664"/>
          </a:xfrm>
          <a:prstGeom prst="line">
            <a:avLst/>
          </a:prstGeom>
          <a:noFill/>
          <a:ln w="19050">
            <a:solidFill>
              <a:srgbClr val="C7CCD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474720" y="4270247"/>
            <a:ext cx="1609344" cy="4403"/>
          </a:xfrm>
          <a:prstGeom prst="line">
            <a:avLst/>
          </a:prstGeom>
          <a:noFill/>
          <a:ln w="19050">
            <a:solidFill>
              <a:srgbClr val="C7CCD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080760" y="4809744"/>
            <a:ext cx="0" cy="0"/>
          </a:xfrm>
          <a:prstGeom prst="line">
            <a:avLst/>
          </a:prstGeom>
          <a:noFill/>
          <a:ln w="19050">
            <a:solidFill>
              <a:srgbClr val="C7CCD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00" y="3977640"/>
            <a:ext cx="566928" cy="667512"/>
          </a:xfrm>
          <a:prstGeom prst="line">
            <a:avLst/>
          </a:prstGeom>
          <a:noFill/>
          <a:ln w="19050">
            <a:solidFill>
              <a:srgbClr val="C7CCD5"/>
            </a:solidFill>
            <a:prstDash val="solid"/>
          </a:ln>
        </p:spPr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48288" y="6446520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98A2B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  <p:sp>
        <p:nvSpPr>
          <p:cNvPr id="32" name="Shape 25">
            <a:extLst>
              <a:ext uri="{FF2B5EF4-FFF2-40B4-BE49-F238E27FC236}">
                <a16:creationId xmlns:a16="http://schemas.microsoft.com/office/drawing/2014/main" id="{15D8ACA6-54B4-CD26-1E41-BFC550905B13}"/>
              </a:ext>
            </a:extLst>
          </p:cNvPr>
          <p:cNvSpPr/>
          <p:nvPr/>
        </p:nvSpPr>
        <p:spPr>
          <a:xfrm flipV="1">
            <a:off x="5554133" y="4800600"/>
            <a:ext cx="304799" cy="658368"/>
          </a:xfrm>
          <a:prstGeom prst="line">
            <a:avLst/>
          </a:prstGeom>
          <a:noFill/>
          <a:ln w="19050">
            <a:solidFill>
              <a:srgbClr val="C7CCD5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66928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018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Жизненный цикл проекта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12648" y="105156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67085"/>
                </a:solidFill>
              </a:rPr>
              <a:t>От решения «зачем делаем» до передачи результата и формального завершения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30352" y="2148840"/>
            <a:ext cx="1965960" cy="26517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blurRad="25400" dist="50800" dir="2700000" algn="bl" rotWithShape="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58952" y="2432304"/>
            <a:ext cx="576072" cy="310896"/>
          </a:xfrm>
          <a:prstGeom prst="roundRect">
            <a:avLst>
              <a:gd name="adj" fmla="val 23529"/>
            </a:avLst>
          </a:prstGeom>
          <a:solidFill>
            <a:srgbClr val="F1E8FF"/>
          </a:solidFill>
          <a:ln w="12700">
            <a:solidFill>
              <a:srgbClr val="F1E8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487168"/>
            <a:ext cx="4480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7700FF"/>
                </a:solidFill>
              </a:rPr>
              <a:t>1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758952" y="3035808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01828"/>
                </a:solidFill>
              </a:rPr>
              <a:t>Инициация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40664" y="3675888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80" dirty="0">
                <a:solidFill>
                  <a:srgbClr val="667085"/>
                </a:solidFill>
              </a:rPr>
              <a:t>Проблема, цель, заказчик, ценность, рамки</a:t>
            </a:r>
            <a:endParaRPr lang="en-US" sz="980" dirty="0"/>
          </a:p>
        </p:txBody>
      </p:sp>
      <p:sp>
        <p:nvSpPr>
          <p:cNvPr id="9" name="Shape 7"/>
          <p:cNvSpPr/>
          <p:nvPr/>
        </p:nvSpPr>
        <p:spPr>
          <a:xfrm>
            <a:off x="2523744" y="3200400"/>
            <a:ext cx="274320" cy="502920"/>
          </a:xfrm>
          <a:prstGeom prst="chevron">
            <a:avLst/>
          </a:prstGeom>
          <a:solidFill>
            <a:srgbClr val="D0D5DD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862072" y="2148840"/>
            <a:ext cx="1965960" cy="26517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blurRad="25400" dist="50800" dir="2700000" algn="bl" rotWithShape="0">
              <a:srgbClr val="000000">
                <a:alpha val="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090672" y="2432304"/>
            <a:ext cx="576072" cy="310896"/>
          </a:xfrm>
          <a:prstGeom prst="roundRect">
            <a:avLst>
              <a:gd name="adj" fmla="val 23529"/>
            </a:avLst>
          </a:prstGeom>
          <a:solidFill>
            <a:srgbClr val="EAF4FF"/>
          </a:solidFill>
          <a:ln w="12700">
            <a:solidFill>
              <a:srgbClr val="EAF4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54680" y="2487168"/>
            <a:ext cx="4480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E90FA"/>
                </a:solidFill>
              </a:rPr>
              <a:t>2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090672" y="3035808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01828"/>
                </a:solidFill>
              </a:rPr>
              <a:t>Планирование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3072384" y="3675888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80" dirty="0">
                <a:solidFill>
                  <a:srgbClr val="667085"/>
                </a:solidFill>
              </a:rPr>
              <a:t>Объём, сроки, ресурсы, риски, коммуникации</a:t>
            </a:r>
            <a:endParaRPr lang="en-US" sz="980" dirty="0"/>
          </a:p>
        </p:txBody>
      </p:sp>
      <p:sp>
        <p:nvSpPr>
          <p:cNvPr id="15" name="Shape 13"/>
          <p:cNvSpPr/>
          <p:nvPr/>
        </p:nvSpPr>
        <p:spPr>
          <a:xfrm>
            <a:off x="4855464" y="3200400"/>
            <a:ext cx="274320" cy="502920"/>
          </a:xfrm>
          <a:prstGeom prst="chevron">
            <a:avLst/>
          </a:prstGeom>
          <a:solidFill>
            <a:srgbClr val="D0D5DD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193792" y="2148840"/>
            <a:ext cx="1965960" cy="26517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blurRad="25400" dist="50800" dir="2700000" algn="bl" rotWithShape="0">
              <a:srgbClr val="000000">
                <a:alpha val="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22392" y="2432304"/>
            <a:ext cx="576072" cy="310896"/>
          </a:xfrm>
          <a:prstGeom prst="roundRect">
            <a:avLst>
              <a:gd name="adj" fmla="val 23529"/>
            </a:avLst>
          </a:prstGeom>
          <a:solidFill>
            <a:srgbClr val="FFF0EA"/>
          </a:solidFill>
          <a:ln w="12700">
            <a:solidFill>
              <a:srgbClr val="FFF0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0" y="2487168"/>
            <a:ext cx="4480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4F12"/>
                </a:solidFill>
              </a:rPr>
              <a:t>3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422392" y="3035808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01828"/>
                </a:solidFill>
              </a:rPr>
              <a:t>Реализация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5404104" y="3675888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80" dirty="0">
                <a:solidFill>
                  <a:srgbClr val="667085"/>
                </a:solidFill>
              </a:rPr>
              <a:t>Создание результата и управление изменениями</a:t>
            </a:r>
            <a:endParaRPr lang="en-US" sz="980" dirty="0"/>
          </a:p>
        </p:txBody>
      </p:sp>
      <p:sp>
        <p:nvSpPr>
          <p:cNvPr id="21" name="Shape 19"/>
          <p:cNvSpPr/>
          <p:nvPr/>
        </p:nvSpPr>
        <p:spPr>
          <a:xfrm>
            <a:off x="7187184" y="3200400"/>
            <a:ext cx="274320" cy="502920"/>
          </a:xfrm>
          <a:prstGeom prst="chevron">
            <a:avLst/>
          </a:prstGeom>
          <a:solidFill>
            <a:srgbClr val="D0D5DD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525512" y="2148840"/>
            <a:ext cx="1965960" cy="26517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blurRad="25400" dist="50800" dir="2700000" algn="bl" rotWithShape="0">
              <a:srgbClr val="000000">
                <a:alpha val="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754112" y="2432304"/>
            <a:ext cx="576072" cy="310896"/>
          </a:xfrm>
          <a:prstGeom prst="roundRect">
            <a:avLst>
              <a:gd name="adj" fmla="val 23529"/>
            </a:avLst>
          </a:prstGeom>
          <a:solidFill>
            <a:srgbClr val="EAFBF3"/>
          </a:solidFill>
          <a:ln w="12700">
            <a:solidFill>
              <a:srgbClr val="EAFBF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818120" y="2487168"/>
            <a:ext cx="4480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2B76A"/>
                </a:solidFill>
              </a:rPr>
              <a:t>4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7754112" y="3035808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01828"/>
                </a:solidFill>
              </a:rPr>
              <a:t>Приёмка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7735824" y="3675888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80" dirty="0">
                <a:solidFill>
                  <a:srgbClr val="667085"/>
                </a:solidFill>
              </a:rPr>
              <a:t>Проверка критериев, ввод в эксплуатацию, передача</a:t>
            </a:r>
            <a:endParaRPr lang="en-US" sz="980" dirty="0"/>
          </a:p>
        </p:txBody>
      </p:sp>
      <p:sp>
        <p:nvSpPr>
          <p:cNvPr id="27" name="Shape 25"/>
          <p:cNvSpPr/>
          <p:nvPr/>
        </p:nvSpPr>
        <p:spPr>
          <a:xfrm>
            <a:off x="9518904" y="3200400"/>
            <a:ext cx="274320" cy="502920"/>
          </a:xfrm>
          <a:prstGeom prst="chevron">
            <a:avLst/>
          </a:prstGeom>
          <a:solidFill>
            <a:srgbClr val="D0D5DD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857232" y="2148840"/>
            <a:ext cx="1965960" cy="26517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blurRad="25400" dist="50800" dir="2700000" algn="bl" rotWithShape="0">
              <a:srgbClr val="000000">
                <a:alpha val="6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10085832" y="2432304"/>
            <a:ext cx="576072" cy="310896"/>
          </a:xfrm>
          <a:prstGeom prst="roundRect">
            <a:avLst>
              <a:gd name="adj" fmla="val 23529"/>
            </a:avLst>
          </a:prstGeom>
          <a:solidFill>
            <a:srgbClr val="F5EEFF"/>
          </a:solidFill>
          <a:ln w="12700">
            <a:solidFill>
              <a:srgbClr val="F5EE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149840" y="2487168"/>
            <a:ext cx="4480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9B51E0"/>
                </a:solidFill>
              </a:rPr>
              <a:t>5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10085832" y="3035808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01828"/>
                </a:solidFill>
              </a:rPr>
              <a:t>Завершение</a:t>
            </a:r>
            <a:endParaRPr lang="en-US" sz="1450" dirty="0"/>
          </a:p>
        </p:txBody>
      </p:sp>
      <p:sp>
        <p:nvSpPr>
          <p:cNvPr id="32" name="Text 30"/>
          <p:cNvSpPr/>
          <p:nvPr/>
        </p:nvSpPr>
        <p:spPr>
          <a:xfrm>
            <a:off x="10067544" y="3675888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80" dirty="0">
                <a:solidFill>
                  <a:srgbClr val="667085"/>
                </a:solidFill>
              </a:rPr>
              <a:t>Фиксация результата, уроки, закрытие обязательств</a:t>
            </a:r>
            <a:endParaRPr lang="en-US" sz="980" dirty="0"/>
          </a:p>
        </p:txBody>
      </p:sp>
      <p:sp>
        <p:nvSpPr>
          <p:cNvPr id="33" name="Shape 31"/>
          <p:cNvSpPr/>
          <p:nvPr/>
        </p:nvSpPr>
        <p:spPr>
          <a:xfrm>
            <a:off x="1234440" y="5303520"/>
            <a:ext cx="9692640" cy="658368"/>
          </a:xfrm>
          <a:prstGeom prst="roundRect">
            <a:avLst>
              <a:gd name="adj" fmla="val 11111"/>
            </a:avLst>
          </a:prstGeom>
          <a:solidFill>
            <a:srgbClr val="101828"/>
          </a:solidFill>
          <a:ln w="12700">
            <a:solidFill>
              <a:srgbClr val="10182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554480" y="5504688"/>
            <a:ext cx="9052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Важно: жизненный цикл проекта может быть каскадным, итеративным, гибридным или Agile — временность проекта от этого не </a:t>
            </a:r>
            <a:r>
              <a:rPr lang="en-US" sz="1150" b="1" dirty="0" err="1">
                <a:solidFill>
                  <a:srgbClr val="FFFFFF"/>
                </a:solidFill>
              </a:rPr>
              <a:t>исчезает</a:t>
            </a:r>
            <a:r>
              <a:rPr lang="en-US" sz="1150" b="1" dirty="0">
                <a:solidFill>
                  <a:srgbClr val="FFFFFF"/>
                </a:solidFill>
              </a:rPr>
              <a:t>.</a:t>
            </a:r>
            <a:r>
              <a:rPr lang="ru-RU" sz="1150" b="1" dirty="0">
                <a:solidFill>
                  <a:srgbClr val="FFFFFF"/>
                </a:solidFill>
              </a:rPr>
              <a:t> О методологии поговорим позже</a:t>
            </a:r>
            <a:endParaRPr lang="en-US" sz="1150" dirty="0"/>
          </a:p>
        </p:txBody>
      </p:sp>
      <p:sp>
        <p:nvSpPr>
          <p:cNvPr id="3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48288" y="6446520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98A2B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66928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018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Что остаётся после проекта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12648" y="105156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67085"/>
                </a:solidFill>
              </a:rPr>
              <a:t>Проект заканчивается — созданный им результат может жить много лет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2834640" cy="2926080"/>
          </a:xfrm>
          <a:prstGeom prst="roundRect">
            <a:avLst>
              <a:gd name="adj" fmla="val 2581"/>
            </a:avLst>
          </a:prstGeom>
          <a:solidFill>
            <a:srgbClr val="F1E8FF"/>
          </a:solidFill>
          <a:ln w="12700">
            <a:solidFill>
              <a:srgbClr val="F1E8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89888" y="219456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7700FF"/>
                </a:solidFill>
              </a:rPr>
              <a:t>ПРОЕКТ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170432" y="2889504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344054"/>
                </a:solidFill>
              </a:rPr>
              <a:t>создать / внедрить / изменить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43000" y="374904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dirty="0">
                <a:solidFill>
                  <a:srgbClr val="667085"/>
                </a:solidFill>
              </a:rPr>
              <a:t>временная команда</a:t>
            </a:r>
            <a:endParaRPr lang="en-US" sz="1080" dirty="0"/>
          </a:p>
          <a:p>
            <a:pPr marL="0" indent="0" algn="ctr">
              <a:buNone/>
            </a:pPr>
            <a:r>
              <a:rPr lang="en-US" sz="1080" dirty="0">
                <a:solidFill>
                  <a:srgbClr val="667085"/>
                </a:solidFill>
              </a:rPr>
              <a:t>и ограниченный горизонт</a:t>
            </a:r>
            <a:endParaRPr lang="en-US" sz="1080" dirty="0"/>
          </a:p>
        </p:txBody>
      </p:sp>
      <p:sp>
        <p:nvSpPr>
          <p:cNvPr id="8" name="Shape 6"/>
          <p:cNvSpPr/>
          <p:nvPr/>
        </p:nvSpPr>
        <p:spPr>
          <a:xfrm>
            <a:off x="4005072" y="2898648"/>
            <a:ext cx="594360" cy="777240"/>
          </a:xfrm>
          <a:prstGeom prst="chevron">
            <a:avLst/>
          </a:prstGeom>
          <a:solidFill>
            <a:srgbClr val="D0D5DD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74920" y="1572768"/>
            <a:ext cx="6355080" cy="3493008"/>
          </a:xfrm>
          <a:prstGeom prst="roundRect">
            <a:avLst>
              <a:gd name="adj" fmla="val 2094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blurRad="25400" dist="50800" dir="2700000" algn="bl" rotWithShape="0">
              <a:srgbClr val="000000">
                <a:alpha val="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440680" y="1901952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1828"/>
                </a:solidFill>
              </a:rPr>
              <a:t>РЕЗУЛЬТАТ ПРОЕКТА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40680" y="2542032"/>
            <a:ext cx="438912" cy="438912"/>
          </a:xfrm>
          <a:prstGeom prst="ellipse">
            <a:avLst/>
          </a:prstGeom>
          <a:solidFill>
            <a:srgbClr val="7700FF"/>
          </a:solidFill>
          <a:ln w="12700">
            <a:solidFill>
              <a:srgbClr val="7700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40680" y="2592324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016752" y="2569464"/>
            <a:ext cx="2057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01828"/>
                </a:solidFill>
              </a:rPr>
              <a:t>Новая ИТ-система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074152" y="2551176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667085"/>
                </a:solidFill>
              </a:rPr>
              <a:t>передаётся в эксплуатацию</a:t>
            </a:r>
            <a:endParaRPr lang="en-US" sz="1040" dirty="0"/>
          </a:p>
        </p:txBody>
      </p:sp>
      <p:sp>
        <p:nvSpPr>
          <p:cNvPr id="15" name="Shape 13"/>
          <p:cNvSpPr/>
          <p:nvPr/>
        </p:nvSpPr>
        <p:spPr>
          <a:xfrm>
            <a:off x="5440680" y="3108960"/>
            <a:ext cx="438912" cy="438912"/>
          </a:xfrm>
          <a:prstGeom prst="ellipse">
            <a:avLst/>
          </a:prstGeom>
          <a:solidFill>
            <a:srgbClr val="FF4F12"/>
          </a:solidFill>
          <a:ln w="12700">
            <a:solidFill>
              <a:srgbClr val="FF4F1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40680" y="3159252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016752" y="3136392"/>
            <a:ext cx="2057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01828"/>
                </a:solidFill>
              </a:rPr>
              <a:t>Продукт или релиз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074152" y="3118104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667085"/>
                </a:solidFill>
              </a:rPr>
              <a:t>передаётся продуктовой команде</a:t>
            </a:r>
            <a:endParaRPr lang="en-US" sz="1040" dirty="0"/>
          </a:p>
        </p:txBody>
      </p:sp>
      <p:sp>
        <p:nvSpPr>
          <p:cNvPr id="19" name="Shape 17"/>
          <p:cNvSpPr/>
          <p:nvPr/>
        </p:nvSpPr>
        <p:spPr>
          <a:xfrm>
            <a:off x="5440680" y="3675888"/>
            <a:ext cx="438912" cy="438912"/>
          </a:xfrm>
          <a:prstGeom prst="ellipse">
            <a:avLst/>
          </a:prstGeom>
          <a:solidFill>
            <a:srgbClr val="2E90FA"/>
          </a:solidFill>
          <a:ln w="12700">
            <a:solidFill>
              <a:srgbClr val="2E90F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40680" y="3726180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016752" y="3703320"/>
            <a:ext cx="2057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01828"/>
                </a:solidFill>
              </a:rPr>
              <a:t>Организационное изменение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074152" y="3685032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667085"/>
                </a:solidFill>
              </a:rPr>
              <a:t>становится новым процессом</a:t>
            </a:r>
            <a:endParaRPr lang="en-US" sz="1040" dirty="0"/>
          </a:p>
        </p:txBody>
      </p:sp>
      <p:sp>
        <p:nvSpPr>
          <p:cNvPr id="23" name="Shape 21"/>
          <p:cNvSpPr/>
          <p:nvPr/>
        </p:nvSpPr>
        <p:spPr>
          <a:xfrm>
            <a:off x="5440680" y="4242816"/>
            <a:ext cx="438912" cy="438912"/>
          </a:xfrm>
          <a:prstGeom prst="ellipse">
            <a:avLst/>
          </a:prstGeom>
          <a:solidFill>
            <a:srgbClr val="12B76A"/>
          </a:solidFill>
          <a:ln w="12700">
            <a:solidFill>
              <a:srgbClr val="12B76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40680" y="4293108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016752" y="4270248"/>
            <a:ext cx="2057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01828"/>
                </a:solidFill>
              </a:rPr>
              <a:t>Инфраструктура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8074152" y="4251960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667085"/>
                </a:solidFill>
              </a:rPr>
              <a:t>переходит владельцу сервиса</a:t>
            </a:r>
            <a:endParaRPr lang="en-US" sz="1040" dirty="0"/>
          </a:p>
        </p:txBody>
      </p:sp>
      <p:sp>
        <p:nvSpPr>
          <p:cNvPr id="27" name="Shape 25"/>
          <p:cNvSpPr/>
          <p:nvPr/>
        </p:nvSpPr>
        <p:spPr>
          <a:xfrm>
            <a:off x="1965960" y="5559552"/>
            <a:ext cx="8229600" cy="585216"/>
          </a:xfrm>
          <a:prstGeom prst="roundRect">
            <a:avLst>
              <a:gd name="adj" fmla="val 12500"/>
            </a:avLst>
          </a:prstGeom>
          <a:solidFill>
            <a:srgbClr val="FFF0EA"/>
          </a:solidFill>
          <a:ln w="12700">
            <a:solidFill>
              <a:srgbClr val="FFF0E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331720" y="573328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4F12"/>
                </a:solidFill>
              </a:rPr>
              <a:t>Закрыть проект ≠ прекратить использовать его результат.</a:t>
            </a:r>
            <a:endParaRPr lang="en-US" sz="125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48288" y="6446520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98A2B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66928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018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Кейс 1. Соберите «анатомию проекта»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12648" y="105156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67085"/>
                </a:solidFill>
              </a:rPr>
              <a:t>Работа в мини-группах — 4 минуты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85800" y="1499616"/>
            <a:ext cx="6492240" cy="4553712"/>
          </a:xfrm>
          <a:prstGeom prst="roundRect">
            <a:avLst>
              <a:gd name="adj" fmla="val 1606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blurRad="25400" dist="50800" dir="2700000" algn="bl" rotWithShape="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1783080"/>
            <a:ext cx="1078992" cy="310896"/>
          </a:xfrm>
          <a:prstGeom prst="roundRect">
            <a:avLst>
              <a:gd name="adj" fmla="val 23529"/>
            </a:avLst>
          </a:prstGeom>
          <a:solidFill>
            <a:srgbClr val="F1E8FF"/>
          </a:solidFill>
          <a:ln w="12700">
            <a:solidFill>
              <a:srgbClr val="F1E8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4128" y="1837944"/>
            <a:ext cx="9509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7700FF"/>
                </a:solidFill>
              </a:rPr>
              <a:t>КЕЙС 1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960120" y="2286000"/>
            <a:ext cx="5806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950" b="1" dirty="0">
                <a:solidFill>
                  <a:srgbClr val="101828"/>
                </a:solidFill>
              </a:rPr>
              <a:t>Компания должна внедрить единую систему управления заявками для 3 000 сотрудников.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960120" y="3017520"/>
            <a:ext cx="5806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dirty="0">
                <a:solidFill>
                  <a:srgbClr val="344054"/>
                </a:solidFill>
              </a:rPr>
              <a:t>Срок — 6 месяцев. Есть действующие разрозненные решения, несколько подразделений с разными требованиями и ограниченный бюджет. После запуска систему будет сопровождать внутренняя ИТ-команда.</a:t>
            </a:r>
            <a:endParaRPr lang="en-US" sz="1260" dirty="0"/>
          </a:p>
        </p:txBody>
      </p:sp>
      <p:sp>
        <p:nvSpPr>
          <p:cNvPr id="9" name="Text 7"/>
          <p:cNvSpPr/>
          <p:nvPr/>
        </p:nvSpPr>
        <p:spPr>
          <a:xfrm>
            <a:off x="960120" y="484632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b="1" dirty="0">
                <a:solidFill>
                  <a:srgbClr val="7700FF"/>
                </a:solidFill>
              </a:rPr>
              <a:t>Задача: зафиксируйте 7 элементов проекта.</a:t>
            </a:r>
            <a:endParaRPr lang="en-US" sz="1220" dirty="0"/>
          </a:p>
        </p:txBody>
      </p:sp>
      <p:sp>
        <p:nvSpPr>
          <p:cNvPr id="10" name="Shape 8"/>
          <p:cNvSpPr/>
          <p:nvPr/>
        </p:nvSpPr>
        <p:spPr>
          <a:xfrm>
            <a:off x="7424928" y="1499616"/>
            <a:ext cx="4087368" cy="4553712"/>
          </a:xfrm>
          <a:prstGeom prst="roundRect">
            <a:avLst>
              <a:gd name="adj" fmla="val 1790"/>
            </a:avLst>
          </a:prstGeom>
          <a:solidFill>
            <a:srgbClr val="F1E8FF"/>
          </a:solidFill>
          <a:ln w="12700">
            <a:solidFill>
              <a:srgbClr val="F1E8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35824" y="1810512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7700FF"/>
                </a:solidFill>
              </a:rPr>
              <a:t>Что определить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735824" y="2487168"/>
            <a:ext cx="91440" cy="91440"/>
          </a:xfrm>
          <a:prstGeom prst="ellipse">
            <a:avLst/>
          </a:prstGeom>
          <a:solidFill>
            <a:srgbClr val="7700FF"/>
          </a:solidFill>
          <a:ln w="12700">
            <a:solidFill>
              <a:srgbClr val="7700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36992" y="239572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D2939"/>
                </a:solidFill>
              </a:rPr>
              <a:t>Цель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735824" y="2953512"/>
            <a:ext cx="91440" cy="91440"/>
          </a:xfrm>
          <a:prstGeom prst="ellipse">
            <a:avLst/>
          </a:prstGeom>
          <a:solidFill>
            <a:srgbClr val="7700FF"/>
          </a:solidFill>
          <a:ln w="12700">
            <a:solidFill>
              <a:srgbClr val="7700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936992" y="2862072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D2939"/>
                </a:solidFill>
              </a:rPr>
              <a:t>Результат / продукт проекта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735824" y="3419856"/>
            <a:ext cx="91440" cy="91440"/>
          </a:xfrm>
          <a:prstGeom prst="ellipse">
            <a:avLst/>
          </a:prstGeom>
          <a:solidFill>
            <a:srgbClr val="7700FF"/>
          </a:solidFill>
          <a:ln w="12700">
            <a:solidFill>
              <a:srgbClr val="7700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936992" y="3328416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D2939"/>
                </a:solidFill>
              </a:rPr>
              <a:t>Границы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735824" y="3886200"/>
            <a:ext cx="91440" cy="91440"/>
          </a:xfrm>
          <a:prstGeom prst="ellipse">
            <a:avLst/>
          </a:prstGeom>
          <a:solidFill>
            <a:srgbClr val="7700FF"/>
          </a:solidFill>
          <a:ln w="12700">
            <a:solidFill>
              <a:srgbClr val="7700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936992" y="37947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D2939"/>
                </a:solidFill>
              </a:rPr>
              <a:t>Срок и ключевые вехи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735824" y="4352544"/>
            <a:ext cx="91440" cy="91440"/>
          </a:xfrm>
          <a:prstGeom prst="ellipse">
            <a:avLst/>
          </a:prstGeom>
          <a:solidFill>
            <a:srgbClr val="7700FF"/>
          </a:solidFill>
          <a:ln w="12700">
            <a:solidFill>
              <a:srgbClr val="7700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936992" y="4261104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D2939"/>
                </a:solidFill>
              </a:rPr>
              <a:t>Роли и заинтересованные стороны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735824" y="4818888"/>
            <a:ext cx="91440" cy="91440"/>
          </a:xfrm>
          <a:prstGeom prst="ellipse">
            <a:avLst/>
          </a:prstGeom>
          <a:solidFill>
            <a:srgbClr val="7700FF"/>
          </a:solidFill>
          <a:ln w="12700">
            <a:solidFill>
              <a:srgbClr val="7700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936992" y="472744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D2939"/>
                </a:solidFill>
              </a:rPr>
              <a:t>Риски и ограничения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735824" y="5285232"/>
            <a:ext cx="91440" cy="91440"/>
          </a:xfrm>
          <a:prstGeom prst="ellipse">
            <a:avLst/>
          </a:prstGeom>
          <a:solidFill>
            <a:srgbClr val="7700FF"/>
          </a:solidFill>
          <a:ln w="12700">
            <a:solidFill>
              <a:srgbClr val="7700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936992" y="5193792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D2939"/>
                </a:solidFill>
              </a:rPr>
              <a:t>Критерии успеха</a:t>
            </a:r>
            <a:endParaRPr lang="en-US" sz="105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48288" y="6446520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98A2B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66928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018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Кейс 2. На какой стадии находится проект?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12648" y="105156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67085"/>
                </a:solidFill>
              </a:rPr>
              <a:t>Определите стадию и следующий управленческий шаг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786384" y="1463040"/>
            <a:ext cx="10607040" cy="941832"/>
          </a:xfrm>
          <a:prstGeom prst="roundRect">
            <a:avLst>
              <a:gd name="adj" fmla="val 7767"/>
            </a:avLst>
          </a:prstGeom>
          <a:solidFill>
            <a:srgbClr val="F1E8FF"/>
          </a:solidFill>
          <a:ln w="12700">
            <a:solidFill>
              <a:srgbClr val="F1E8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87552" y="1645920"/>
            <a:ext cx="12344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" y="1700784"/>
            <a:ext cx="11064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7700FF"/>
                </a:solidFill>
              </a:rPr>
              <a:t>Ситуация A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2432304" y="1627632"/>
            <a:ext cx="6400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30" dirty="0">
                <a:solidFill>
                  <a:srgbClr val="1D2939"/>
                </a:solidFill>
              </a:rPr>
              <a:t>Инициатор сформулировал проблему и ожидаемый эффект, но РП ещё не назначен.</a:t>
            </a:r>
            <a:endParaRPr lang="en-US" sz="1130" dirty="0"/>
          </a:p>
        </p:txBody>
      </p:sp>
      <p:sp>
        <p:nvSpPr>
          <p:cNvPr id="8" name="Text 6"/>
          <p:cNvSpPr/>
          <p:nvPr/>
        </p:nvSpPr>
        <p:spPr>
          <a:xfrm>
            <a:off x="10378440" y="1664208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7700FF"/>
                </a:solidFill>
              </a:rPr>
              <a:t>?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786384" y="2624328"/>
            <a:ext cx="10607040" cy="941832"/>
          </a:xfrm>
          <a:prstGeom prst="roundRect">
            <a:avLst>
              <a:gd name="adj" fmla="val 7767"/>
            </a:avLst>
          </a:prstGeom>
          <a:solidFill>
            <a:srgbClr val="EAF4FF"/>
          </a:solidFill>
          <a:ln w="12700">
            <a:solidFill>
              <a:srgbClr val="EAF4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87552" y="2807208"/>
            <a:ext cx="12344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51560" y="2862072"/>
            <a:ext cx="11064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E90FA"/>
                </a:solidFill>
              </a:rPr>
              <a:t>Ситуация B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432304" y="2788920"/>
            <a:ext cx="6400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30" dirty="0">
                <a:solidFill>
                  <a:srgbClr val="1D2939"/>
                </a:solidFill>
              </a:rPr>
              <a:t>Команда уточнила состав работ, сроки, ресурсы, риски и подготовила базовый план.</a:t>
            </a:r>
            <a:endParaRPr lang="en-US" sz="1130" dirty="0"/>
          </a:p>
        </p:txBody>
      </p:sp>
      <p:sp>
        <p:nvSpPr>
          <p:cNvPr id="13" name="Text 11"/>
          <p:cNvSpPr/>
          <p:nvPr/>
        </p:nvSpPr>
        <p:spPr>
          <a:xfrm>
            <a:off x="10378440" y="2825496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E90FA"/>
                </a:solidFill>
              </a:rPr>
              <a:t>?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786384" y="3785616"/>
            <a:ext cx="10607040" cy="941832"/>
          </a:xfrm>
          <a:prstGeom prst="roundRect">
            <a:avLst>
              <a:gd name="adj" fmla="val 7767"/>
            </a:avLst>
          </a:prstGeom>
          <a:solidFill>
            <a:srgbClr val="FFF0EA"/>
          </a:solidFill>
          <a:ln w="12700">
            <a:solidFill>
              <a:srgbClr val="FFF0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87552" y="3968496"/>
            <a:ext cx="12344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4023360"/>
            <a:ext cx="11064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4F12"/>
                </a:solidFill>
              </a:rPr>
              <a:t>Ситуация C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432304" y="3950208"/>
            <a:ext cx="6400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30" dirty="0">
                <a:solidFill>
                  <a:srgbClr val="1D2939"/>
                </a:solidFill>
              </a:rPr>
              <a:t>Основные работы завершены, результат передан заказчику, но акт/приёмка ещё не оформлены.</a:t>
            </a:r>
            <a:endParaRPr lang="en-US" sz="1130" dirty="0"/>
          </a:p>
        </p:txBody>
      </p:sp>
      <p:sp>
        <p:nvSpPr>
          <p:cNvPr id="18" name="Text 16"/>
          <p:cNvSpPr/>
          <p:nvPr/>
        </p:nvSpPr>
        <p:spPr>
          <a:xfrm>
            <a:off x="10378440" y="3986784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4F12"/>
                </a:solidFill>
              </a:rPr>
              <a:t>?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786384" y="4946904"/>
            <a:ext cx="10607040" cy="941832"/>
          </a:xfrm>
          <a:prstGeom prst="roundRect">
            <a:avLst>
              <a:gd name="adj" fmla="val 7767"/>
            </a:avLst>
          </a:prstGeom>
          <a:solidFill>
            <a:srgbClr val="EAFBF3"/>
          </a:solidFill>
          <a:ln w="12700">
            <a:solidFill>
              <a:srgbClr val="EAFBF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87552" y="5129784"/>
            <a:ext cx="12344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51560" y="5184648"/>
            <a:ext cx="11064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2B76A"/>
                </a:solidFill>
              </a:rPr>
              <a:t>Ситуация D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432304" y="5111496"/>
            <a:ext cx="6400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30" dirty="0">
                <a:solidFill>
                  <a:srgbClr val="1D2939"/>
                </a:solidFill>
              </a:rPr>
              <a:t>Результат принят, документация передана, команда провела ретро и зафиксировала уроки.</a:t>
            </a:r>
            <a:endParaRPr lang="en-US" sz="1130" dirty="0"/>
          </a:p>
        </p:txBody>
      </p:sp>
      <p:sp>
        <p:nvSpPr>
          <p:cNvPr id="23" name="Text 21"/>
          <p:cNvSpPr/>
          <p:nvPr/>
        </p:nvSpPr>
        <p:spPr>
          <a:xfrm>
            <a:off x="10378440" y="5148072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2B76A"/>
                </a:solidFill>
              </a:rPr>
              <a:t>?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914400" y="6254496"/>
            <a:ext cx="10241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667085"/>
                </a:solidFill>
              </a:rPr>
              <a:t>Дополнительный вопрос: какой документ, решение или действие должно перевести ситуацию на следующую стадию?</a:t>
            </a:r>
            <a:endParaRPr lang="en-US" sz="10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48288" y="6446520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98A2B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66928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018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Что такое продукт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12648" y="105156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67085"/>
                </a:solidFill>
              </a:rPr>
              <a:t>Решение, которое создаёт ценность для определённой группы пользователей и развивается во времени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10972800" cy="1325880"/>
          </a:xfrm>
          <a:prstGeom prst="roundRect">
            <a:avLst>
              <a:gd name="adj" fmla="val 5517"/>
            </a:avLst>
          </a:prstGeom>
          <a:solidFill>
            <a:srgbClr val="101828"/>
          </a:solidFill>
          <a:ln w="12700">
            <a:solidFill>
              <a:srgbClr val="101828"/>
            </a:solidFill>
            <a:prstDash val="solid"/>
          </a:ln>
          <a:effectLst>
            <a:outerShdw blurRad="25400" dist="50800" dir="2700000" algn="bl" rotWithShape="0">
              <a:srgbClr val="000000">
                <a:alpha val="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865376"/>
            <a:ext cx="10378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</a:rPr>
              <a:t>ПРОДУКТ = пользователь + проблема + ценностное предложение + способ доставки ценности + экономика/эффект</a:t>
            </a:r>
            <a:endParaRPr lang="en-US" sz="1950" dirty="0"/>
          </a:p>
        </p:txBody>
      </p:sp>
      <p:sp>
        <p:nvSpPr>
          <p:cNvPr id="6" name="Shape 4"/>
          <p:cNvSpPr/>
          <p:nvPr/>
        </p:nvSpPr>
        <p:spPr>
          <a:xfrm>
            <a:off x="667512" y="3246120"/>
            <a:ext cx="2487168" cy="1874520"/>
          </a:xfrm>
          <a:prstGeom prst="roundRect">
            <a:avLst>
              <a:gd name="adj" fmla="val 3902"/>
            </a:avLst>
          </a:prstGeom>
          <a:solidFill>
            <a:srgbClr val="F1E8FF"/>
          </a:solidFill>
          <a:ln w="12700">
            <a:solidFill>
              <a:srgbClr val="F1E8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36118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700FF"/>
                </a:solidFill>
              </a:rPr>
              <a:t>Пользователь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41832" y="4187952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344054"/>
                </a:solidFill>
              </a:rPr>
              <a:t>Для кого создаём?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456432" y="3246120"/>
            <a:ext cx="2487168" cy="1874520"/>
          </a:xfrm>
          <a:prstGeom prst="roundRect">
            <a:avLst>
              <a:gd name="adj" fmla="val 3902"/>
            </a:avLst>
          </a:prstGeom>
          <a:solidFill>
            <a:srgbClr val="FFF0EA"/>
          </a:solidFill>
          <a:ln w="12700">
            <a:solidFill>
              <a:srgbClr val="FFF0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85032" y="36118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4F12"/>
                </a:solidFill>
              </a:rPr>
              <a:t>Проблема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730752" y="4187952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344054"/>
                </a:solidFill>
              </a:rPr>
              <a:t>Какую потребность решаем?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245352" y="3246120"/>
            <a:ext cx="2487168" cy="1874520"/>
          </a:xfrm>
          <a:prstGeom prst="roundRect">
            <a:avLst>
              <a:gd name="adj" fmla="val 3902"/>
            </a:avLst>
          </a:prstGeom>
          <a:solidFill>
            <a:srgbClr val="EAF4FF"/>
          </a:solidFill>
          <a:ln w="12700">
            <a:solidFill>
              <a:srgbClr val="EAF4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73952" y="36118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90FA"/>
                </a:solidFill>
              </a:rPr>
              <a:t>Ценность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519672" y="4187952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344054"/>
                </a:solidFill>
              </a:rPr>
              <a:t>Почему это лучше альтернатив?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9034272" y="3246120"/>
            <a:ext cx="2487168" cy="1874520"/>
          </a:xfrm>
          <a:prstGeom prst="roundRect">
            <a:avLst>
              <a:gd name="adj" fmla="val 3902"/>
            </a:avLst>
          </a:prstGeom>
          <a:solidFill>
            <a:srgbClr val="EAFBF3"/>
          </a:solidFill>
          <a:ln w="12700">
            <a:solidFill>
              <a:srgbClr val="EAFBF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262872" y="36118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2B76A"/>
                </a:solidFill>
              </a:rPr>
              <a:t>Метрики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308592" y="4187952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344054"/>
                </a:solidFill>
              </a:rPr>
              <a:t>Как поймём, что продукт полезен?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914400" y="5669280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667085"/>
                </a:solidFill>
              </a:rPr>
              <a:t>Продукт не обязательно продаётся на рынке: внутренний сервис, платформа или корпоративная система тоже могут быть продуктом, если у них есть пользователи и измеримая ценность.</a:t>
            </a:r>
            <a:endParaRPr lang="en-US" sz="10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48288" y="6446520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98A2B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66928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018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Что такое продуктовая разработка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12648" y="105156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67085"/>
                </a:solidFill>
              </a:rPr>
              <a:t>Не «сделать один раз», а постоянно проверять, что создаваемое решение остаётся ценным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2011680"/>
            <a:ext cx="1965960" cy="269748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blurRad="25400" dist="50800" dir="2700000" algn="bl" rotWithShape="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0664" y="2304288"/>
            <a:ext cx="566928" cy="310896"/>
          </a:xfrm>
          <a:prstGeom prst="roundRect">
            <a:avLst>
              <a:gd name="adj" fmla="val 23529"/>
            </a:avLst>
          </a:prstGeom>
          <a:solidFill>
            <a:srgbClr val="F1E8FF"/>
          </a:solidFill>
          <a:ln w="12700">
            <a:solidFill>
              <a:srgbClr val="F1E8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2359152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7700FF"/>
                </a:solidFill>
              </a:rPr>
              <a:t>1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704088" y="2889504"/>
            <a:ext cx="15727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01828"/>
                </a:solidFill>
              </a:rPr>
              <a:t>Понять проблему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58952" y="3749040"/>
            <a:ext cx="14813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70" dirty="0">
                <a:solidFill>
                  <a:srgbClr val="667085"/>
                </a:solidFill>
              </a:rPr>
              <a:t>Интервью, данные, наблюдение</a:t>
            </a:r>
            <a:endParaRPr lang="en-US" sz="970" dirty="0"/>
          </a:p>
        </p:txBody>
      </p:sp>
      <p:sp>
        <p:nvSpPr>
          <p:cNvPr id="9" name="Shape 7"/>
          <p:cNvSpPr/>
          <p:nvPr/>
        </p:nvSpPr>
        <p:spPr>
          <a:xfrm>
            <a:off x="2496312" y="3081528"/>
            <a:ext cx="256032" cy="457200"/>
          </a:xfrm>
          <a:prstGeom prst="chevron">
            <a:avLst/>
          </a:prstGeom>
          <a:solidFill>
            <a:srgbClr val="C7D7FE"/>
          </a:solidFill>
          <a:ln w="12700">
            <a:solidFill>
              <a:srgbClr val="C7D7F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843784" y="2011680"/>
            <a:ext cx="1965960" cy="269748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blurRad="25400" dist="50800" dir="2700000" algn="bl" rotWithShape="0">
              <a:srgbClr val="000000">
                <a:alpha val="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081528" y="2304288"/>
            <a:ext cx="566928" cy="310896"/>
          </a:xfrm>
          <a:prstGeom prst="roundRect">
            <a:avLst>
              <a:gd name="adj" fmla="val 23529"/>
            </a:avLst>
          </a:prstGeom>
          <a:solidFill>
            <a:srgbClr val="EAF4FF"/>
          </a:solidFill>
          <a:ln w="12700">
            <a:solidFill>
              <a:srgbClr val="EAF4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45536" y="2359152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E90FA"/>
                </a:solidFill>
              </a:rPr>
              <a:t>2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044952" y="2889504"/>
            <a:ext cx="15727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01828"/>
                </a:solidFill>
              </a:rPr>
              <a:t>Сформулировать гипотезу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099816" y="3749040"/>
            <a:ext cx="14813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70" dirty="0">
                <a:solidFill>
                  <a:srgbClr val="667085"/>
                </a:solidFill>
              </a:rPr>
              <a:t>Что изменим и какой эффект ожидаем</a:t>
            </a:r>
            <a:endParaRPr lang="en-US" sz="970" dirty="0"/>
          </a:p>
        </p:txBody>
      </p:sp>
      <p:sp>
        <p:nvSpPr>
          <p:cNvPr id="15" name="Shape 13"/>
          <p:cNvSpPr/>
          <p:nvPr/>
        </p:nvSpPr>
        <p:spPr>
          <a:xfrm>
            <a:off x="4837176" y="3081528"/>
            <a:ext cx="256032" cy="457200"/>
          </a:xfrm>
          <a:prstGeom prst="chevron">
            <a:avLst/>
          </a:prstGeom>
          <a:solidFill>
            <a:srgbClr val="C7D7FE"/>
          </a:solidFill>
          <a:ln w="12700">
            <a:solidFill>
              <a:srgbClr val="C7D7F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184648" y="2011680"/>
            <a:ext cx="1965960" cy="269748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blurRad="25400" dist="50800" dir="2700000" algn="bl" rotWithShape="0">
              <a:srgbClr val="000000">
                <a:alpha val="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22392" y="2304288"/>
            <a:ext cx="566928" cy="310896"/>
          </a:xfrm>
          <a:prstGeom prst="roundRect">
            <a:avLst>
              <a:gd name="adj" fmla="val 23529"/>
            </a:avLst>
          </a:prstGeom>
          <a:solidFill>
            <a:srgbClr val="FFF0EA"/>
          </a:solidFill>
          <a:ln w="12700">
            <a:solidFill>
              <a:srgbClr val="FFF0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0" y="2359152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4F12"/>
                </a:solidFill>
              </a:rPr>
              <a:t>3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385816" y="2889504"/>
            <a:ext cx="15727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01828"/>
                </a:solidFill>
              </a:rPr>
              <a:t>Создать решение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440680" y="3749040"/>
            <a:ext cx="14813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70" dirty="0">
                <a:solidFill>
                  <a:srgbClr val="667085"/>
                </a:solidFill>
              </a:rPr>
              <a:t>MVP, прототип, релиз, эксперимент</a:t>
            </a:r>
            <a:endParaRPr lang="en-US" sz="970" dirty="0"/>
          </a:p>
        </p:txBody>
      </p:sp>
      <p:sp>
        <p:nvSpPr>
          <p:cNvPr id="21" name="Shape 19"/>
          <p:cNvSpPr/>
          <p:nvPr/>
        </p:nvSpPr>
        <p:spPr>
          <a:xfrm>
            <a:off x="7178040" y="3081528"/>
            <a:ext cx="256032" cy="457200"/>
          </a:xfrm>
          <a:prstGeom prst="chevron">
            <a:avLst/>
          </a:prstGeom>
          <a:solidFill>
            <a:srgbClr val="C7D7FE"/>
          </a:solidFill>
          <a:ln w="12700">
            <a:solidFill>
              <a:srgbClr val="C7D7F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525512" y="2011680"/>
            <a:ext cx="1965960" cy="269748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blurRad="25400" dist="50800" dir="2700000" algn="bl" rotWithShape="0">
              <a:srgbClr val="000000">
                <a:alpha val="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763256" y="2304288"/>
            <a:ext cx="566928" cy="310896"/>
          </a:xfrm>
          <a:prstGeom prst="roundRect">
            <a:avLst>
              <a:gd name="adj" fmla="val 23529"/>
            </a:avLst>
          </a:prstGeom>
          <a:solidFill>
            <a:srgbClr val="EAFBF3"/>
          </a:solidFill>
          <a:ln w="12700">
            <a:solidFill>
              <a:srgbClr val="EAFBF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827264" y="2359152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2B76A"/>
                </a:solidFill>
              </a:rPr>
              <a:t>4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7726680" y="2889504"/>
            <a:ext cx="15727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01828"/>
                </a:solidFill>
              </a:rPr>
              <a:t>Измерить результат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781544" y="3749040"/>
            <a:ext cx="14813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70" dirty="0">
                <a:solidFill>
                  <a:srgbClr val="667085"/>
                </a:solidFill>
              </a:rPr>
              <a:t>Поведение пользователей, бизнес-метрики</a:t>
            </a:r>
            <a:endParaRPr lang="en-US" sz="970" dirty="0"/>
          </a:p>
        </p:txBody>
      </p:sp>
      <p:sp>
        <p:nvSpPr>
          <p:cNvPr id="27" name="Shape 25"/>
          <p:cNvSpPr/>
          <p:nvPr/>
        </p:nvSpPr>
        <p:spPr>
          <a:xfrm>
            <a:off x="9518904" y="3081528"/>
            <a:ext cx="256032" cy="457200"/>
          </a:xfrm>
          <a:prstGeom prst="chevron">
            <a:avLst/>
          </a:prstGeom>
          <a:solidFill>
            <a:srgbClr val="C7D7FE"/>
          </a:solidFill>
          <a:ln w="12700">
            <a:solidFill>
              <a:srgbClr val="C7D7F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866376" y="2011680"/>
            <a:ext cx="1965960" cy="269748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blurRad="25400" dist="50800" dir="2700000" algn="bl" rotWithShape="0">
              <a:srgbClr val="000000">
                <a:alpha val="6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10104120" y="2304288"/>
            <a:ext cx="566928" cy="310896"/>
          </a:xfrm>
          <a:prstGeom prst="roundRect">
            <a:avLst>
              <a:gd name="adj" fmla="val 23529"/>
            </a:avLst>
          </a:prstGeom>
          <a:solidFill>
            <a:srgbClr val="F5EEFF"/>
          </a:solidFill>
          <a:ln w="12700">
            <a:solidFill>
              <a:srgbClr val="F5EE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168128" y="2359152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9B51E0"/>
                </a:solidFill>
              </a:rPr>
              <a:t>5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10067544" y="2889504"/>
            <a:ext cx="15727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01828"/>
                </a:solidFill>
              </a:rPr>
              <a:t>Сделать вывод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0122408" y="3749040"/>
            <a:ext cx="14813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70" dirty="0">
                <a:solidFill>
                  <a:srgbClr val="667085"/>
                </a:solidFill>
              </a:rPr>
              <a:t>Масштабировать, изменить или отказаться</a:t>
            </a:r>
            <a:endParaRPr lang="en-US" sz="970" dirty="0"/>
          </a:p>
        </p:txBody>
      </p:sp>
      <p:sp>
        <p:nvSpPr>
          <p:cNvPr id="33" name="Shape 31"/>
          <p:cNvSpPr/>
          <p:nvPr/>
        </p:nvSpPr>
        <p:spPr>
          <a:xfrm rot="600000">
            <a:off x="8915400" y="4663440"/>
            <a:ext cx="1325880" cy="1143000"/>
          </a:xfrm>
          <a:prstGeom prst="arc">
            <a:avLst/>
          </a:prstGeom>
          <a:solidFill>
            <a:srgbClr val="12B76A">
              <a:alpha val="0"/>
            </a:srgbClr>
          </a:solidFill>
          <a:ln w="25400">
            <a:solidFill>
              <a:srgbClr val="12B76A"/>
            </a:solidFill>
            <a:prstDash val="solid"/>
            <a:tailEnd type="triangle"/>
          </a:ln>
        </p:spPr>
      </p:sp>
      <p:sp>
        <p:nvSpPr>
          <p:cNvPr id="34" name="Text 32"/>
          <p:cNvSpPr/>
          <p:nvPr/>
        </p:nvSpPr>
        <p:spPr>
          <a:xfrm>
            <a:off x="6903720" y="5550408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2B76A"/>
                </a:solidFill>
              </a:rPr>
              <a:t>Новый цикл начинается с нового знания</a:t>
            </a:r>
            <a:endParaRPr lang="en-US" sz="1050" dirty="0"/>
          </a:p>
        </p:txBody>
      </p:sp>
      <p:sp>
        <p:nvSpPr>
          <p:cNvPr id="3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48288" y="6446520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98A2B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66928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018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Жизненный цикл продукта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12648" y="105156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67085"/>
                </a:solidFill>
              </a:rPr>
              <a:t>Продукт может жить годами — и его задачи меняются по мере взросления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58368" y="2121408"/>
            <a:ext cx="1828800" cy="987552"/>
          </a:xfrm>
          <a:prstGeom prst="roundRect">
            <a:avLst>
              <a:gd name="adj" fmla="val 7407"/>
            </a:avLst>
          </a:prstGeom>
          <a:solidFill>
            <a:srgbClr val="F2F4F7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331720"/>
            <a:ext cx="1499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700FF"/>
                </a:solidFill>
              </a:rPr>
              <a:t>Discovery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04672" y="2697480"/>
            <a:ext cx="1536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667085"/>
                </a:solidFill>
              </a:rPr>
              <a:t>Есть ли реальная проблема?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514600" y="2368296"/>
            <a:ext cx="292608" cy="484632"/>
          </a:xfrm>
          <a:prstGeom prst="chevron">
            <a:avLst/>
          </a:prstGeom>
          <a:solidFill>
            <a:srgbClr val="D0D5DD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926080" y="2121408"/>
            <a:ext cx="182880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090672" y="2331720"/>
            <a:ext cx="1499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90FA"/>
                </a:solidFill>
              </a:rPr>
              <a:t>MVP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072384" y="2697480"/>
            <a:ext cx="1536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667085"/>
                </a:solidFill>
              </a:rPr>
              <a:t>Работает ли базовая гипотеза?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782312" y="2368296"/>
            <a:ext cx="292608" cy="484632"/>
          </a:xfrm>
          <a:prstGeom prst="chevron">
            <a:avLst/>
          </a:prstGeom>
          <a:solidFill>
            <a:srgbClr val="D0D5DD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193792" y="2121408"/>
            <a:ext cx="1828800" cy="987552"/>
          </a:xfrm>
          <a:prstGeom prst="roundRect">
            <a:avLst>
              <a:gd name="adj" fmla="val 7407"/>
            </a:avLst>
          </a:prstGeom>
          <a:solidFill>
            <a:srgbClr val="F2F4F7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58384" y="2331720"/>
            <a:ext cx="1499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4F12"/>
                </a:solidFill>
              </a:rPr>
              <a:t>Growth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340096" y="2697480"/>
            <a:ext cx="1536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667085"/>
                </a:solidFill>
              </a:rPr>
              <a:t>Как масштабировать ценность?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7050024" y="2368296"/>
            <a:ext cx="292608" cy="484632"/>
          </a:xfrm>
          <a:prstGeom prst="chevron">
            <a:avLst/>
          </a:prstGeom>
          <a:solidFill>
            <a:srgbClr val="D0D5DD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461504" y="2121408"/>
            <a:ext cx="182880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626096" y="2331720"/>
            <a:ext cx="1499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2B76A"/>
                </a:solidFill>
              </a:rPr>
              <a:t>Maturity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607808" y="2697480"/>
            <a:ext cx="1536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667085"/>
                </a:solidFill>
              </a:rPr>
              <a:t>Как удерживать эффективность?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9317736" y="2368296"/>
            <a:ext cx="292608" cy="484632"/>
          </a:xfrm>
          <a:prstGeom prst="chevron">
            <a:avLst/>
          </a:prstGeom>
          <a:solidFill>
            <a:srgbClr val="D0D5DD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729216" y="2121408"/>
            <a:ext cx="1828800" cy="987552"/>
          </a:xfrm>
          <a:prstGeom prst="roundRect">
            <a:avLst>
              <a:gd name="adj" fmla="val 7407"/>
            </a:avLst>
          </a:prstGeom>
          <a:solidFill>
            <a:srgbClr val="F2F4F7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893808" y="2331720"/>
            <a:ext cx="1499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9B51E0"/>
                </a:solidFill>
              </a:rPr>
              <a:t>Sunset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875520" y="2697480"/>
            <a:ext cx="1536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667085"/>
                </a:solidFill>
              </a:rPr>
              <a:t>Когда и как корректно завершать?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1371600" y="3977640"/>
            <a:ext cx="9372600" cy="0"/>
          </a:xfrm>
          <a:prstGeom prst="line">
            <a:avLst/>
          </a:prstGeom>
          <a:noFill/>
          <a:ln w="50800">
            <a:solidFill>
              <a:srgbClr val="D0D5D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399032" y="3867912"/>
            <a:ext cx="219456" cy="219456"/>
          </a:xfrm>
          <a:prstGeom prst="ellipse">
            <a:avLst/>
          </a:prstGeom>
          <a:solidFill>
            <a:srgbClr val="7700FF"/>
          </a:solidFill>
          <a:ln w="12700">
            <a:solidFill>
              <a:srgbClr val="7700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593592" y="3867912"/>
            <a:ext cx="219456" cy="219456"/>
          </a:xfrm>
          <a:prstGeom prst="ellipse">
            <a:avLst/>
          </a:prstGeom>
          <a:solidFill>
            <a:srgbClr val="2E90FA"/>
          </a:solidFill>
          <a:ln w="12700">
            <a:solidFill>
              <a:srgbClr val="2E90F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788152" y="3867912"/>
            <a:ext cx="219456" cy="219456"/>
          </a:xfrm>
          <a:prstGeom prst="ellipse">
            <a:avLst/>
          </a:prstGeom>
          <a:solidFill>
            <a:srgbClr val="FF4F12"/>
          </a:solidFill>
          <a:ln w="12700">
            <a:solidFill>
              <a:srgbClr val="FF4F1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982712" y="3867912"/>
            <a:ext cx="219456" cy="219456"/>
          </a:xfrm>
          <a:prstGeom prst="ellipse">
            <a:avLst/>
          </a:prstGeom>
          <a:solidFill>
            <a:srgbClr val="12B76A"/>
          </a:solidFill>
          <a:ln w="12700">
            <a:solidFill>
              <a:srgbClr val="12B76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177272" y="3867912"/>
            <a:ext cx="219456" cy="219456"/>
          </a:xfrm>
          <a:prstGeom prst="ellipse">
            <a:avLst/>
          </a:prstGeom>
          <a:solidFill>
            <a:srgbClr val="9B51E0"/>
          </a:solidFill>
          <a:ln w="12700">
            <a:solidFill>
              <a:srgbClr val="9B51E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143000" y="466344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344054"/>
                </a:solidFill>
              </a:rPr>
              <a:t>Не линейная дорожка: продукт может возвращаться в discovery, менять сегмент, архитектуру, модель монетизации или вообще закрываться.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1920240" y="5486400"/>
            <a:ext cx="8321040" cy="566928"/>
          </a:xfrm>
          <a:prstGeom prst="roundRect">
            <a:avLst>
              <a:gd name="adj" fmla="val 12903"/>
            </a:avLst>
          </a:prstGeom>
          <a:solidFill>
            <a:srgbClr val="F1E8FF"/>
          </a:solidFill>
          <a:ln w="12700">
            <a:solidFill>
              <a:srgbClr val="F1E8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240280" y="5650992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7700FF"/>
                </a:solidFill>
              </a:rPr>
              <a:t>У продукта есть жизненный цикл. Но нет обязательной «даты закрытия» только потому, что закончился очередной релиз.</a:t>
            </a:r>
            <a:endParaRPr lang="en-US" sz="1150" dirty="0"/>
          </a:p>
        </p:txBody>
      </p:sp>
      <p:sp>
        <p:nvSpPr>
          <p:cNvPr id="3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48288" y="6446520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98A2B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66928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018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Проект и продукт: в чём разница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12648" y="105156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67085"/>
                </a:solidFill>
              </a:rPr>
              <a:t>Один фокусируется на достижении результата, другой — на устойчивом потоке ценности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94360" y="1481328"/>
            <a:ext cx="11000232" cy="4846320"/>
          </a:xfrm>
          <a:prstGeom prst="roundRect">
            <a:avLst>
              <a:gd name="adj" fmla="val 1509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blurRad="25400" dist="50800" dir="2700000" algn="bl" rotWithShape="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94360" y="1481328"/>
            <a:ext cx="11000232" cy="594360"/>
          </a:xfrm>
          <a:prstGeom prst="rect">
            <a:avLst/>
          </a:prstGeom>
          <a:solidFill>
            <a:srgbClr val="101828"/>
          </a:solidFill>
          <a:ln w="12700">
            <a:solidFill>
              <a:srgbClr val="10182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664208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Критерий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108960" y="1664208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Проект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720840" y="1664208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Продуктовая разработка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03504" y="2075688"/>
            <a:ext cx="10981944" cy="603504"/>
          </a:xfrm>
          <a:prstGeom prst="rect">
            <a:avLst/>
          </a:prstGeom>
          <a:solidFill>
            <a:srgbClr val="FAFAFB"/>
          </a:solidFill>
          <a:ln w="12700">
            <a:solidFill>
              <a:srgbClr val="FAFAF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22402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b="1" dirty="0">
                <a:solidFill>
                  <a:srgbClr val="344054"/>
                </a:solidFill>
              </a:rPr>
              <a:t>Горизонт</a:t>
            </a:r>
            <a:endParaRPr lang="en-US" sz="1080" dirty="0"/>
          </a:p>
        </p:txBody>
      </p:sp>
      <p:sp>
        <p:nvSpPr>
          <p:cNvPr id="11" name="Text 9"/>
          <p:cNvSpPr/>
          <p:nvPr/>
        </p:nvSpPr>
        <p:spPr>
          <a:xfrm>
            <a:off x="3108960" y="2203704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1D2939"/>
                </a:solidFill>
              </a:rPr>
              <a:t>До достижения цели</a:t>
            </a:r>
            <a:endParaRPr lang="en-US" sz="1020" dirty="0"/>
          </a:p>
        </p:txBody>
      </p:sp>
      <p:sp>
        <p:nvSpPr>
          <p:cNvPr id="12" name="Text 10"/>
          <p:cNvSpPr/>
          <p:nvPr/>
        </p:nvSpPr>
        <p:spPr>
          <a:xfrm>
            <a:off x="6720840" y="2203704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1D2939"/>
                </a:solidFill>
              </a:rPr>
              <a:t>Пока продукт создаёт ценность</a:t>
            </a:r>
            <a:endParaRPr lang="en-US" sz="1020" dirty="0"/>
          </a:p>
        </p:txBody>
      </p:sp>
      <p:sp>
        <p:nvSpPr>
          <p:cNvPr id="13" name="Text 11"/>
          <p:cNvSpPr/>
          <p:nvPr/>
        </p:nvSpPr>
        <p:spPr>
          <a:xfrm>
            <a:off x="868680" y="284378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b="1" dirty="0">
                <a:solidFill>
                  <a:srgbClr val="344054"/>
                </a:solidFill>
              </a:rPr>
              <a:t>Главный вопрос</a:t>
            </a:r>
            <a:endParaRPr lang="en-US" sz="1080" dirty="0"/>
          </a:p>
        </p:txBody>
      </p:sp>
      <p:sp>
        <p:nvSpPr>
          <p:cNvPr id="14" name="Text 12"/>
          <p:cNvSpPr/>
          <p:nvPr/>
        </p:nvSpPr>
        <p:spPr>
          <a:xfrm>
            <a:off x="3108960" y="2807208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1D2939"/>
                </a:solidFill>
              </a:rPr>
              <a:t>Что и к какому сроку нужно получить?</a:t>
            </a:r>
            <a:endParaRPr lang="en-US" sz="1020" dirty="0"/>
          </a:p>
        </p:txBody>
      </p:sp>
      <p:sp>
        <p:nvSpPr>
          <p:cNvPr id="15" name="Text 13"/>
          <p:cNvSpPr/>
          <p:nvPr/>
        </p:nvSpPr>
        <p:spPr>
          <a:xfrm>
            <a:off x="6720840" y="2807208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1D2939"/>
                </a:solidFill>
              </a:rPr>
              <a:t>Какую проблему пользователя мы решаем и какой эффект создаём?</a:t>
            </a:r>
            <a:endParaRPr lang="en-US" sz="1020" dirty="0"/>
          </a:p>
        </p:txBody>
      </p:sp>
      <p:sp>
        <p:nvSpPr>
          <p:cNvPr id="16" name="Shape 14"/>
          <p:cNvSpPr/>
          <p:nvPr/>
        </p:nvSpPr>
        <p:spPr>
          <a:xfrm>
            <a:off x="603504" y="3282696"/>
            <a:ext cx="10981944" cy="603504"/>
          </a:xfrm>
          <a:prstGeom prst="rect">
            <a:avLst/>
          </a:prstGeom>
          <a:solidFill>
            <a:srgbClr val="FAFAFB"/>
          </a:solidFill>
          <a:ln w="12700">
            <a:solidFill>
              <a:srgbClr val="FAFAF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344728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b="1" dirty="0">
                <a:solidFill>
                  <a:srgbClr val="344054"/>
                </a:solidFill>
              </a:rPr>
              <a:t>Успех</a:t>
            </a:r>
            <a:endParaRPr lang="en-US" sz="1080" dirty="0"/>
          </a:p>
        </p:txBody>
      </p:sp>
      <p:sp>
        <p:nvSpPr>
          <p:cNvPr id="18" name="Text 16"/>
          <p:cNvSpPr/>
          <p:nvPr/>
        </p:nvSpPr>
        <p:spPr>
          <a:xfrm>
            <a:off x="3108960" y="3410712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1D2939"/>
                </a:solidFill>
              </a:rPr>
              <a:t>Результат принят; ограничения соблюдены</a:t>
            </a:r>
            <a:endParaRPr lang="en-US" sz="1020" dirty="0"/>
          </a:p>
        </p:txBody>
      </p:sp>
      <p:sp>
        <p:nvSpPr>
          <p:cNvPr id="19" name="Text 17"/>
          <p:cNvSpPr/>
          <p:nvPr/>
        </p:nvSpPr>
        <p:spPr>
          <a:xfrm>
            <a:off x="6720840" y="341071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1D2939"/>
                </a:solidFill>
              </a:rPr>
              <a:t>Метрики продукта и пользователя улучшаются</a:t>
            </a:r>
            <a:endParaRPr lang="en-US" sz="1020" dirty="0"/>
          </a:p>
        </p:txBody>
      </p:sp>
      <p:sp>
        <p:nvSpPr>
          <p:cNvPr id="20" name="Text 18"/>
          <p:cNvSpPr/>
          <p:nvPr/>
        </p:nvSpPr>
        <p:spPr>
          <a:xfrm>
            <a:off x="868680" y="405079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b="1" dirty="0">
                <a:solidFill>
                  <a:srgbClr val="344054"/>
                </a:solidFill>
              </a:rPr>
              <a:t>Объём</a:t>
            </a:r>
            <a:endParaRPr lang="en-US" sz="1080" dirty="0"/>
          </a:p>
        </p:txBody>
      </p:sp>
      <p:sp>
        <p:nvSpPr>
          <p:cNvPr id="21" name="Text 19"/>
          <p:cNvSpPr/>
          <p:nvPr/>
        </p:nvSpPr>
        <p:spPr>
          <a:xfrm>
            <a:off x="3108960" y="4014216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1D2939"/>
                </a:solidFill>
              </a:rPr>
              <a:t>Чаще ограничен рамками проекта</a:t>
            </a:r>
            <a:endParaRPr lang="en-US" sz="1020" dirty="0"/>
          </a:p>
        </p:txBody>
      </p:sp>
      <p:sp>
        <p:nvSpPr>
          <p:cNvPr id="22" name="Text 20"/>
          <p:cNvSpPr/>
          <p:nvPr/>
        </p:nvSpPr>
        <p:spPr>
          <a:xfrm>
            <a:off x="6720840" y="4014216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1D2939"/>
                </a:solidFill>
              </a:rPr>
              <a:t>Backlog постоянно меняется</a:t>
            </a:r>
            <a:endParaRPr lang="en-US" sz="1020" dirty="0"/>
          </a:p>
        </p:txBody>
      </p:sp>
      <p:sp>
        <p:nvSpPr>
          <p:cNvPr id="23" name="Shape 21"/>
          <p:cNvSpPr/>
          <p:nvPr/>
        </p:nvSpPr>
        <p:spPr>
          <a:xfrm>
            <a:off x="603504" y="4489704"/>
            <a:ext cx="10981944" cy="603504"/>
          </a:xfrm>
          <a:prstGeom prst="rect">
            <a:avLst/>
          </a:prstGeom>
          <a:solidFill>
            <a:srgbClr val="FAFAFB"/>
          </a:solidFill>
          <a:ln w="12700">
            <a:solidFill>
              <a:srgbClr val="FAFAF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68680" y="4654296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b="1" dirty="0">
                <a:solidFill>
                  <a:srgbClr val="344054"/>
                </a:solidFill>
              </a:rPr>
              <a:t>Финансирование</a:t>
            </a:r>
            <a:endParaRPr lang="en-US" sz="1080" dirty="0"/>
          </a:p>
        </p:txBody>
      </p:sp>
      <p:sp>
        <p:nvSpPr>
          <p:cNvPr id="25" name="Text 23"/>
          <p:cNvSpPr/>
          <p:nvPr/>
        </p:nvSpPr>
        <p:spPr>
          <a:xfrm>
            <a:off x="3108960" y="461772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1D2939"/>
                </a:solidFill>
              </a:rPr>
              <a:t>Под конкретную инициативу / этап</a:t>
            </a:r>
            <a:endParaRPr lang="en-US" sz="1020" dirty="0"/>
          </a:p>
        </p:txBody>
      </p:sp>
      <p:sp>
        <p:nvSpPr>
          <p:cNvPr id="26" name="Text 24"/>
          <p:cNvSpPr/>
          <p:nvPr/>
        </p:nvSpPr>
        <p:spPr>
          <a:xfrm>
            <a:off x="6720840" y="461772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1D2939"/>
                </a:solidFill>
              </a:rPr>
              <a:t>На развитие продукта или продуктовой линии</a:t>
            </a:r>
            <a:endParaRPr lang="en-US" sz="1020" dirty="0"/>
          </a:p>
        </p:txBody>
      </p:sp>
      <p:sp>
        <p:nvSpPr>
          <p:cNvPr id="27" name="Text 25"/>
          <p:cNvSpPr/>
          <p:nvPr/>
        </p:nvSpPr>
        <p:spPr>
          <a:xfrm>
            <a:off x="868680" y="52578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b="1" dirty="0">
                <a:solidFill>
                  <a:srgbClr val="344054"/>
                </a:solidFill>
              </a:rPr>
              <a:t>Команда</a:t>
            </a:r>
            <a:endParaRPr lang="en-US" sz="1080" dirty="0"/>
          </a:p>
        </p:txBody>
      </p:sp>
      <p:sp>
        <p:nvSpPr>
          <p:cNvPr id="28" name="Text 26"/>
          <p:cNvSpPr/>
          <p:nvPr/>
        </p:nvSpPr>
        <p:spPr>
          <a:xfrm>
            <a:off x="3108960" y="5221224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1D2939"/>
                </a:solidFill>
              </a:rPr>
              <a:t>Может быть временной</a:t>
            </a:r>
            <a:endParaRPr lang="en-US" sz="1020" dirty="0"/>
          </a:p>
        </p:txBody>
      </p:sp>
      <p:sp>
        <p:nvSpPr>
          <p:cNvPr id="29" name="Text 27"/>
          <p:cNvSpPr/>
          <p:nvPr/>
        </p:nvSpPr>
        <p:spPr>
          <a:xfrm>
            <a:off x="6720840" y="5221224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1D2939"/>
                </a:solidFill>
              </a:rPr>
              <a:t>Предпочтительно долгоживущая</a:t>
            </a:r>
            <a:endParaRPr lang="en-US" sz="1020" dirty="0"/>
          </a:p>
        </p:txBody>
      </p:sp>
      <p:sp>
        <p:nvSpPr>
          <p:cNvPr id="30" name="Shape 28"/>
          <p:cNvSpPr/>
          <p:nvPr/>
        </p:nvSpPr>
        <p:spPr>
          <a:xfrm>
            <a:off x="603504" y="5696712"/>
            <a:ext cx="10981944" cy="603504"/>
          </a:xfrm>
          <a:prstGeom prst="rect">
            <a:avLst/>
          </a:prstGeom>
          <a:solidFill>
            <a:srgbClr val="FAFAFB"/>
          </a:solidFill>
          <a:ln w="12700">
            <a:solidFill>
              <a:srgbClr val="FAFAF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68680" y="586130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b="1" dirty="0">
                <a:solidFill>
                  <a:srgbClr val="344054"/>
                </a:solidFill>
              </a:rPr>
              <a:t>Изменения</a:t>
            </a:r>
            <a:endParaRPr lang="en-US" sz="1080" dirty="0"/>
          </a:p>
        </p:txBody>
      </p:sp>
      <p:sp>
        <p:nvSpPr>
          <p:cNvPr id="32" name="Text 30"/>
          <p:cNvSpPr/>
          <p:nvPr/>
        </p:nvSpPr>
        <p:spPr>
          <a:xfrm>
            <a:off x="3108960" y="5824728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1D2939"/>
                </a:solidFill>
              </a:rPr>
              <a:t>Управляются относительно базового плана</a:t>
            </a:r>
            <a:endParaRPr lang="en-US" sz="1020" dirty="0"/>
          </a:p>
        </p:txBody>
      </p:sp>
      <p:sp>
        <p:nvSpPr>
          <p:cNvPr id="33" name="Text 31"/>
          <p:cNvSpPr/>
          <p:nvPr/>
        </p:nvSpPr>
        <p:spPr>
          <a:xfrm>
            <a:off x="6720840" y="5824728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1D2939"/>
                </a:solidFill>
              </a:rPr>
              <a:t>Являются нормальным способом обучения</a:t>
            </a:r>
            <a:endParaRPr lang="en-US" sz="1020" dirty="0"/>
          </a:p>
        </p:txBody>
      </p:sp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48288" y="6446520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98A2B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66928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018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Проект и продукт не конкурируют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12648" y="105156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67085"/>
                </a:solidFill>
              </a:rPr>
              <a:t>Проектная логика может быть частью развития продукта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10607040" cy="3429000"/>
          </a:xfrm>
          <a:prstGeom prst="roundRect">
            <a:avLst>
              <a:gd name="adj" fmla="val 2400"/>
            </a:avLst>
          </a:prstGeom>
          <a:solidFill>
            <a:srgbClr val="F5EEFF"/>
          </a:solidFill>
          <a:ln w="12700">
            <a:solidFill>
              <a:srgbClr val="E7D7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34440" y="212140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7700FF"/>
                </a:solidFill>
              </a:rPr>
              <a:t>ПРОДУКТ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926080" y="2157984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7085"/>
                </a:solidFill>
              </a:rPr>
              <a:t>Долгоживущая ценность и постоянный backlog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234440" y="2926080"/>
            <a:ext cx="411480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blurRad="25400" dist="50800" dir="2700000" algn="bl" rotWithShape="0">
              <a:srgbClr val="000000">
                <a:alpha val="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399032" y="3108960"/>
            <a:ext cx="786384" cy="310896"/>
          </a:xfrm>
          <a:prstGeom prst="roundRect">
            <a:avLst>
              <a:gd name="adj" fmla="val 23529"/>
            </a:avLst>
          </a:prstGeom>
          <a:solidFill>
            <a:srgbClr val="F1E8FF"/>
          </a:solidFill>
          <a:ln w="12700">
            <a:solidFill>
              <a:srgbClr val="F1E8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63040" y="3163824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7700FF"/>
                </a:solidFill>
              </a:rPr>
              <a:t>Проект 1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404872" y="315468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101828"/>
                </a:solidFill>
              </a:rPr>
              <a:t>Запуск MVP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806440" y="2926080"/>
            <a:ext cx="411480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blurRad="25400" dist="50800" dir="2700000" algn="bl" rotWithShape="0">
              <a:srgbClr val="000000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971032" y="3108960"/>
            <a:ext cx="786384" cy="310896"/>
          </a:xfrm>
          <a:prstGeom prst="roundRect">
            <a:avLst>
              <a:gd name="adj" fmla="val 23529"/>
            </a:avLst>
          </a:prstGeom>
          <a:solidFill>
            <a:srgbClr val="FFF0EA"/>
          </a:solidFill>
          <a:ln w="12700">
            <a:solidFill>
              <a:srgbClr val="FFF0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35040" y="3163824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4F12"/>
                </a:solidFill>
              </a:rPr>
              <a:t>Проект 2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976872" y="315468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101828"/>
                </a:solidFill>
              </a:rPr>
              <a:t>Миграция на новую платформу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1234440" y="4069080"/>
            <a:ext cx="411480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blurRad="25400" dist="50800" dir="2700000" algn="bl" rotWithShape="0">
              <a:srgbClr val="000000">
                <a:alpha val="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1399032" y="4251960"/>
            <a:ext cx="786384" cy="310896"/>
          </a:xfrm>
          <a:prstGeom prst="roundRect">
            <a:avLst>
              <a:gd name="adj" fmla="val 23529"/>
            </a:avLst>
          </a:prstGeom>
          <a:solidFill>
            <a:srgbClr val="EAF4FF"/>
          </a:solidFill>
          <a:ln w="12700">
            <a:solidFill>
              <a:srgbClr val="EAF4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463040" y="4306824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E90FA"/>
                </a:solidFill>
              </a:rPr>
              <a:t>Проект 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404872" y="429768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101828"/>
                </a:solidFill>
              </a:rPr>
              <a:t>Соответствие регуляторным требованиям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806440" y="4069080"/>
            <a:ext cx="411480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blurRad="25400" dist="50800" dir="2700000" algn="bl" rotWithShape="0">
              <a:srgbClr val="000000">
                <a:alpha val="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971032" y="4251960"/>
            <a:ext cx="786384" cy="310896"/>
          </a:xfrm>
          <a:prstGeom prst="roundRect">
            <a:avLst>
              <a:gd name="adj" fmla="val 23529"/>
            </a:avLst>
          </a:prstGeom>
          <a:solidFill>
            <a:srgbClr val="EAFBF3"/>
          </a:solidFill>
          <a:ln w="12700">
            <a:solidFill>
              <a:srgbClr val="EAFBF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35040" y="4306824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2B76A"/>
                </a:solidFill>
              </a:rPr>
              <a:t>Проект 4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976872" y="429768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101828"/>
                </a:solidFill>
              </a:rPr>
              <a:t>Масштабирование инфраструктуры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1280160" y="56235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344054"/>
                </a:solidFill>
              </a:rPr>
              <a:t>После каждого проекта продукт не «обнуляется» — он продолжает развиваться, эксплуатироваться и измеряться.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48288" y="6446520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98A2B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66928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018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Пример: мобильное приложение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12648" y="105156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67085"/>
                </a:solidFill>
              </a:rPr>
              <a:t>Один и тот же объект можно рассматривать и как проект, и как продукт — в зависимости от управленческой задачи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40080" y="1627632"/>
            <a:ext cx="525780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blurRad="25400" dist="50800" dir="2700000" algn="bl" rotWithShape="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32688" y="1874520"/>
            <a:ext cx="960120" cy="310896"/>
          </a:xfrm>
          <a:prstGeom prst="roundRect">
            <a:avLst>
              <a:gd name="adj" fmla="val 23529"/>
            </a:avLst>
          </a:prstGeom>
          <a:solidFill>
            <a:srgbClr val="F1E8FF"/>
          </a:solidFill>
          <a:ln w="12700">
            <a:solidFill>
              <a:srgbClr val="F1E8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96696" y="1929384"/>
            <a:ext cx="8321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7700FF"/>
                </a:solidFill>
              </a:rPr>
              <a:t>ПРОЕКТ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932688" y="2487168"/>
            <a:ext cx="42519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101828"/>
                </a:solidFill>
              </a:rPr>
              <a:t>«Запустить версию 1.0</a:t>
            </a:r>
            <a:endParaRPr lang="en-US" sz="2300" dirty="0"/>
          </a:p>
          <a:p>
            <a:pPr marL="0" indent="0">
              <a:buNone/>
            </a:pPr>
            <a:r>
              <a:rPr lang="en-US" sz="2300" b="1" dirty="0">
                <a:solidFill>
                  <a:srgbClr val="101828"/>
                </a:solidFill>
              </a:rPr>
              <a:t>к 1 декабря»</a:t>
            </a:r>
            <a:endParaRPr lang="en-US" sz="2300" dirty="0"/>
          </a:p>
        </p:txBody>
      </p:sp>
      <p:sp>
        <p:nvSpPr>
          <p:cNvPr id="8" name="Shape 6"/>
          <p:cNvSpPr/>
          <p:nvPr/>
        </p:nvSpPr>
        <p:spPr>
          <a:xfrm>
            <a:off x="960120" y="3547872"/>
            <a:ext cx="438912" cy="438912"/>
          </a:xfrm>
          <a:prstGeom prst="ellipse">
            <a:avLst/>
          </a:prstGeom>
          <a:solidFill>
            <a:srgbClr val="7700FF"/>
          </a:solidFill>
          <a:ln w="12700">
            <a:solidFill>
              <a:srgbClr val="7700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3598164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536192" y="358444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1D2939"/>
                </a:solidFill>
              </a:rPr>
              <a:t>Согласовать объём первой версии</a:t>
            </a:r>
            <a:endParaRPr lang="en-US" sz="1060" dirty="0"/>
          </a:p>
        </p:txBody>
      </p:sp>
      <p:sp>
        <p:nvSpPr>
          <p:cNvPr id="11" name="Shape 9"/>
          <p:cNvSpPr/>
          <p:nvPr/>
        </p:nvSpPr>
        <p:spPr>
          <a:xfrm>
            <a:off x="960120" y="4078224"/>
            <a:ext cx="438912" cy="438912"/>
          </a:xfrm>
          <a:prstGeom prst="ellipse">
            <a:avLst/>
          </a:prstGeom>
          <a:solidFill>
            <a:srgbClr val="7700FF"/>
          </a:solidFill>
          <a:ln w="12700">
            <a:solidFill>
              <a:srgbClr val="7700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4128516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536192" y="41148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1D2939"/>
                </a:solidFill>
              </a:rPr>
              <a:t>Разработать и протестировать</a:t>
            </a:r>
            <a:endParaRPr lang="en-US" sz="1060" dirty="0"/>
          </a:p>
        </p:txBody>
      </p:sp>
      <p:sp>
        <p:nvSpPr>
          <p:cNvPr id="14" name="Shape 12"/>
          <p:cNvSpPr/>
          <p:nvPr/>
        </p:nvSpPr>
        <p:spPr>
          <a:xfrm>
            <a:off x="960120" y="4608576"/>
            <a:ext cx="438912" cy="438912"/>
          </a:xfrm>
          <a:prstGeom prst="ellipse">
            <a:avLst/>
          </a:prstGeom>
          <a:solidFill>
            <a:srgbClr val="7700FF"/>
          </a:solidFill>
          <a:ln w="12700">
            <a:solidFill>
              <a:srgbClr val="7700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0120" y="4658868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536192" y="464515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1D2939"/>
                </a:solidFill>
              </a:rPr>
              <a:t>Пройти приёмку и публикацию</a:t>
            </a:r>
            <a:endParaRPr lang="en-US" sz="1060" dirty="0"/>
          </a:p>
        </p:txBody>
      </p:sp>
      <p:sp>
        <p:nvSpPr>
          <p:cNvPr id="17" name="Shape 15"/>
          <p:cNvSpPr/>
          <p:nvPr/>
        </p:nvSpPr>
        <p:spPr>
          <a:xfrm>
            <a:off x="960120" y="5138928"/>
            <a:ext cx="438912" cy="438912"/>
          </a:xfrm>
          <a:prstGeom prst="ellipse">
            <a:avLst/>
          </a:prstGeom>
          <a:solidFill>
            <a:srgbClr val="7700FF"/>
          </a:solidFill>
          <a:ln w="12700">
            <a:solidFill>
              <a:srgbClr val="7700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0120" y="5189220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536192" y="517550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1D2939"/>
                </a:solidFill>
              </a:rPr>
              <a:t>Передать в эксплуатацию</a:t>
            </a:r>
            <a:endParaRPr lang="en-US" sz="1060" dirty="0"/>
          </a:p>
        </p:txBody>
      </p:sp>
      <p:sp>
        <p:nvSpPr>
          <p:cNvPr id="20" name="Shape 18"/>
          <p:cNvSpPr/>
          <p:nvPr/>
        </p:nvSpPr>
        <p:spPr>
          <a:xfrm>
            <a:off x="6272784" y="1627632"/>
            <a:ext cx="5257800" cy="4480560"/>
          </a:xfrm>
          <a:prstGeom prst="roundRect">
            <a:avLst>
              <a:gd name="adj" fmla="val 1633"/>
            </a:avLst>
          </a:prstGeom>
          <a:solidFill>
            <a:srgbClr val="101828"/>
          </a:solidFill>
          <a:ln w="12700">
            <a:solidFill>
              <a:srgbClr val="101828"/>
            </a:solidFill>
            <a:prstDash val="solid"/>
          </a:ln>
          <a:effectLst>
            <a:outerShdw blurRad="25400" dist="50800" dir="2700000" algn="bl" rotWithShape="0">
              <a:srgbClr val="000000">
                <a:alpha val="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565392" y="1874520"/>
            <a:ext cx="1143000" cy="310896"/>
          </a:xfrm>
          <a:prstGeom prst="roundRect">
            <a:avLst>
              <a:gd name="adj" fmla="val 23529"/>
            </a:avLst>
          </a:prstGeom>
          <a:solidFill>
            <a:srgbClr val="FFF0EA"/>
          </a:solidFill>
          <a:ln w="12700">
            <a:solidFill>
              <a:srgbClr val="FFF0E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29400" y="1929384"/>
            <a:ext cx="10149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4F12"/>
                </a:solidFill>
              </a:rPr>
              <a:t>ПРОДУКТ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565392" y="2487168"/>
            <a:ext cx="42519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«Улучшать приложение,</a:t>
            </a:r>
            <a:endParaRPr lang="en-US" sz="2200" dirty="0"/>
          </a:p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чтобы люди им пользовались»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6601968" y="3547872"/>
            <a:ext cx="438912" cy="438912"/>
          </a:xfrm>
          <a:prstGeom prst="ellipse">
            <a:avLst/>
          </a:prstGeom>
          <a:solidFill>
            <a:srgbClr val="FF4F12"/>
          </a:solidFill>
          <a:ln w="12700">
            <a:solidFill>
              <a:srgbClr val="FF4F1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01968" y="3598164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→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178040" y="358444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D0D5DD"/>
                </a:solidFill>
              </a:rPr>
              <a:t>Изучать поведение и проблемы пользователей</a:t>
            </a:r>
            <a:endParaRPr lang="en-US" sz="1040" dirty="0"/>
          </a:p>
        </p:txBody>
      </p:sp>
      <p:sp>
        <p:nvSpPr>
          <p:cNvPr id="27" name="Shape 25"/>
          <p:cNvSpPr/>
          <p:nvPr/>
        </p:nvSpPr>
        <p:spPr>
          <a:xfrm>
            <a:off x="6601968" y="4078224"/>
            <a:ext cx="438912" cy="438912"/>
          </a:xfrm>
          <a:prstGeom prst="ellipse">
            <a:avLst/>
          </a:prstGeom>
          <a:solidFill>
            <a:srgbClr val="FF4F12"/>
          </a:solidFill>
          <a:ln w="12700">
            <a:solidFill>
              <a:srgbClr val="FF4F1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601968" y="4128516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→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178040" y="41148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D0D5DD"/>
                </a:solidFill>
              </a:rPr>
              <a:t>Проверять гипотезы</a:t>
            </a:r>
            <a:endParaRPr lang="en-US" sz="1040" dirty="0"/>
          </a:p>
        </p:txBody>
      </p:sp>
      <p:sp>
        <p:nvSpPr>
          <p:cNvPr id="30" name="Shape 28"/>
          <p:cNvSpPr/>
          <p:nvPr/>
        </p:nvSpPr>
        <p:spPr>
          <a:xfrm>
            <a:off x="6601968" y="4608576"/>
            <a:ext cx="438912" cy="438912"/>
          </a:xfrm>
          <a:prstGeom prst="ellipse">
            <a:avLst/>
          </a:prstGeom>
          <a:solidFill>
            <a:srgbClr val="FF4F12"/>
          </a:solidFill>
          <a:ln w="12700">
            <a:solidFill>
              <a:srgbClr val="FF4F1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01968" y="4658868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→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178040" y="464515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D0D5DD"/>
                </a:solidFill>
              </a:rPr>
              <a:t>Повышать активацию, удержание, конверсию</a:t>
            </a:r>
            <a:endParaRPr lang="en-US" sz="1040" dirty="0"/>
          </a:p>
        </p:txBody>
      </p:sp>
      <p:sp>
        <p:nvSpPr>
          <p:cNvPr id="33" name="Shape 31"/>
          <p:cNvSpPr/>
          <p:nvPr/>
        </p:nvSpPr>
        <p:spPr>
          <a:xfrm>
            <a:off x="6601968" y="5138928"/>
            <a:ext cx="438912" cy="438912"/>
          </a:xfrm>
          <a:prstGeom prst="ellipse">
            <a:avLst/>
          </a:prstGeom>
          <a:solidFill>
            <a:srgbClr val="FF4F12"/>
          </a:solidFill>
          <a:ln w="12700">
            <a:solidFill>
              <a:srgbClr val="FF4F1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601968" y="5189220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→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178040" y="517550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D0D5DD"/>
                </a:solidFill>
              </a:rPr>
              <a:t>Развивать продукт после каждого релиза</a:t>
            </a:r>
            <a:endParaRPr lang="en-US" sz="1040" dirty="0"/>
          </a:p>
        </p:txBody>
      </p:sp>
      <p:sp>
        <p:nvSpPr>
          <p:cNvPr id="3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48288" y="6446520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98A2B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66928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018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Роли: кто за что отвечает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12648" y="105156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67085"/>
                </a:solidFill>
              </a:rPr>
              <a:t>Проектный и продуктовый контуры могут работать вместе, но отвечают на разные вопросы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337560" cy="4160520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blurRad="25400" dist="50800" dir="2700000" algn="bl" rotWithShape="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965960"/>
            <a:ext cx="2880360" cy="310896"/>
          </a:xfrm>
          <a:prstGeom prst="roundRect">
            <a:avLst>
              <a:gd name="adj" fmla="val 23529"/>
            </a:avLst>
          </a:prstGeom>
          <a:solidFill>
            <a:srgbClr val="F1E8FF"/>
          </a:solidFill>
          <a:ln w="12700">
            <a:solidFill>
              <a:srgbClr val="F1E8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32688" y="2020824"/>
            <a:ext cx="27523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7700FF"/>
                </a:solidFill>
              </a:rPr>
              <a:t>Руководитель проекта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896112" y="2697480"/>
            <a:ext cx="438912" cy="438912"/>
          </a:xfrm>
          <a:prstGeom prst="ellipse">
            <a:avLst/>
          </a:prstGeom>
          <a:solidFill>
            <a:srgbClr val="7700FF"/>
          </a:solidFill>
          <a:ln w="12700">
            <a:solidFill>
              <a:srgbClr val="7700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2747772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481328" y="2734056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1D2939"/>
                </a:solidFill>
              </a:rPr>
              <a:t>Цель и границы проекта</a:t>
            </a:r>
            <a:endParaRPr lang="en-US" sz="1030" dirty="0"/>
          </a:p>
        </p:txBody>
      </p:sp>
      <p:sp>
        <p:nvSpPr>
          <p:cNvPr id="10" name="Shape 8"/>
          <p:cNvSpPr/>
          <p:nvPr/>
        </p:nvSpPr>
        <p:spPr>
          <a:xfrm>
            <a:off x="896112" y="3273552"/>
            <a:ext cx="438912" cy="438912"/>
          </a:xfrm>
          <a:prstGeom prst="ellipse">
            <a:avLst/>
          </a:prstGeom>
          <a:solidFill>
            <a:srgbClr val="7700FF"/>
          </a:solidFill>
          <a:ln w="12700">
            <a:solidFill>
              <a:srgbClr val="7700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" y="3323844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481328" y="3310128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1D2939"/>
                </a:solidFill>
              </a:rPr>
              <a:t>План, сроки, зависимости</a:t>
            </a:r>
            <a:endParaRPr lang="en-US" sz="1030" dirty="0"/>
          </a:p>
        </p:txBody>
      </p:sp>
      <p:sp>
        <p:nvSpPr>
          <p:cNvPr id="13" name="Shape 11"/>
          <p:cNvSpPr/>
          <p:nvPr/>
        </p:nvSpPr>
        <p:spPr>
          <a:xfrm>
            <a:off x="896112" y="3849624"/>
            <a:ext cx="438912" cy="438912"/>
          </a:xfrm>
          <a:prstGeom prst="ellipse">
            <a:avLst/>
          </a:prstGeom>
          <a:solidFill>
            <a:srgbClr val="7700FF"/>
          </a:solidFill>
          <a:ln w="12700">
            <a:solidFill>
              <a:srgbClr val="7700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96112" y="3899916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481328" y="3886200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1D2939"/>
                </a:solidFill>
              </a:rPr>
              <a:t>Бюджет и ресурсы</a:t>
            </a:r>
            <a:endParaRPr lang="en-US" sz="1030" dirty="0"/>
          </a:p>
        </p:txBody>
      </p:sp>
      <p:sp>
        <p:nvSpPr>
          <p:cNvPr id="16" name="Shape 14"/>
          <p:cNvSpPr/>
          <p:nvPr/>
        </p:nvSpPr>
        <p:spPr>
          <a:xfrm>
            <a:off x="896112" y="4425696"/>
            <a:ext cx="438912" cy="438912"/>
          </a:xfrm>
          <a:prstGeom prst="ellipse">
            <a:avLst/>
          </a:prstGeom>
          <a:solidFill>
            <a:srgbClr val="7700FF"/>
          </a:solidFill>
          <a:ln w="12700">
            <a:solidFill>
              <a:srgbClr val="7700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96112" y="4475988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481328" y="4462272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1D2939"/>
                </a:solidFill>
              </a:rPr>
              <a:t>Риски и изменения</a:t>
            </a:r>
            <a:endParaRPr lang="en-US" sz="1030" dirty="0"/>
          </a:p>
        </p:txBody>
      </p:sp>
      <p:sp>
        <p:nvSpPr>
          <p:cNvPr id="19" name="Shape 17"/>
          <p:cNvSpPr/>
          <p:nvPr/>
        </p:nvSpPr>
        <p:spPr>
          <a:xfrm>
            <a:off x="896112" y="5001768"/>
            <a:ext cx="438912" cy="438912"/>
          </a:xfrm>
          <a:prstGeom prst="ellipse">
            <a:avLst/>
          </a:prstGeom>
          <a:solidFill>
            <a:srgbClr val="7700FF"/>
          </a:solidFill>
          <a:ln w="12700">
            <a:solidFill>
              <a:srgbClr val="7700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96112" y="5052060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481328" y="5038344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1D2939"/>
                </a:solidFill>
              </a:rPr>
              <a:t>Коммуникации и приёмка</a:t>
            </a:r>
            <a:endParaRPr lang="en-US" sz="1030" dirty="0"/>
          </a:p>
        </p:txBody>
      </p:sp>
      <p:sp>
        <p:nvSpPr>
          <p:cNvPr id="22" name="Shape 20"/>
          <p:cNvSpPr/>
          <p:nvPr/>
        </p:nvSpPr>
        <p:spPr>
          <a:xfrm>
            <a:off x="4343400" y="1691640"/>
            <a:ext cx="3337560" cy="4160520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blurRad="25400" dist="50800" dir="2700000" algn="bl" rotWithShape="0">
              <a:srgbClr val="000000">
                <a:alpha val="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0" y="1965960"/>
            <a:ext cx="2880360" cy="310896"/>
          </a:xfrm>
          <a:prstGeom prst="roundRect">
            <a:avLst>
              <a:gd name="adj" fmla="val 23529"/>
            </a:avLst>
          </a:prstGeom>
          <a:solidFill>
            <a:srgbClr val="FFF0EA"/>
          </a:solidFill>
          <a:ln w="12700">
            <a:solidFill>
              <a:srgbClr val="FFF0E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36008" y="2020824"/>
            <a:ext cx="27523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4F12"/>
                </a:solidFill>
              </a:rPr>
              <a:t>Продуктовый менеджер / Product Owner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599432" y="2697480"/>
            <a:ext cx="438912" cy="438912"/>
          </a:xfrm>
          <a:prstGeom prst="ellipse">
            <a:avLst/>
          </a:prstGeom>
          <a:solidFill>
            <a:srgbClr val="FF4F12"/>
          </a:solidFill>
          <a:ln w="12700">
            <a:solidFill>
              <a:srgbClr val="FF4F1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99432" y="2747772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184648" y="2734056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1D2939"/>
                </a:solidFill>
              </a:rPr>
              <a:t>Проблемы пользователей</a:t>
            </a:r>
            <a:endParaRPr lang="en-US" sz="1030" dirty="0"/>
          </a:p>
        </p:txBody>
      </p:sp>
      <p:sp>
        <p:nvSpPr>
          <p:cNvPr id="28" name="Shape 26"/>
          <p:cNvSpPr/>
          <p:nvPr/>
        </p:nvSpPr>
        <p:spPr>
          <a:xfrm>
            <a:off x="4599432" y="3273552"/>
            <a:ext cx="438912" cy="438912"/>
          </a:xfrm>
          <a:prstGeom prst="ellipse">
            <a:avLst/>
          </a:prstGeom>
          <a:solidFill>
            <a:srgbClr val="FF4F12"/>
          </a:solidFill>
          <a:ln w="12700">
            <a:solidFill>
              <a:srgbClr val="FF4F1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99432" y="3323844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184648" y="3310128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1D2939"/>
                </a:solidFill>
              </a:rPr>
              <a:t>Ценностное предложение</a:t>
            </a:r>
            <a:endParaRPr lang="en-US" sz="1030" dirty="0"/>
          </a:p>
        </p:txBody>
      </p:sp>
      <p:sp>
        <p:nvSpPr>
          <p:cNvPr id="31" name="Shape 29"/>
          <p:cNvSpPr/>
          <p:nvPr/>
        </p:nvSpPr>
        <p:spPr>
          <a:xfrm>
            <a:off x="4599432" y="3849624"/>
            <a:ext cx="438912" cy="438912"/>
          </a:xfrm>
          <a:prstGeom prst="ellipse">
            <a:avLst/>
          </a:prstGeom>
          <a:solidFill>
            <a:srgbClr val="FF4F12"/>
          </a:solidFill>
          <a:ln w="12700">
            <a:solidFill>
              <a:srgbClr val="FF4F1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99432" y="3899916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184648" y="3886200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1D2939"/>
                </a:solidFill>
              </a:rPr>
              <a:t>Приоритеты backlog</a:t>
            </a:r>
            <a:endParaRPr lang="en-US" sz="1030" dirty="0"/>
          </a:p>
        </p:txBody>
      </p:sp>
      <p:sp>
        <p:nvSpPr>
          <p:cNvPr id="34" name="Shape 32"/>
          <p:cNvSpPr/>
          <p:nvPr/>
        </p:nvSpPr>
        <p:spPr>
          <a:xfrm>
            <a:off x="4599432" y="4425696"/>
            <a:ext cx="438912" cy="438912"/>
          </a:xfrm>
          <a:prstGeom prst="ellipse">
            <a:avLst/>
          </a:prstGeom>
          <a:solidFill>
            <a:srgbClr val="FF4F12"/>
          </a:solidFill>
          <a:ln w="12700">
            <a:solidFill>
              <a:srgbClr val="FF4F1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99432" y="4475988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184648" y="4462272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1D2939"/>
                </a:solidFill>
              </a:rPr>
              <a:t>Гипотезы и метрики</a:t>
            </a:r>
            <a:endParaRPr lang="en-US" sz="1030" dirty="0"/>
          </a:p>
        </p:txBody>
      </p:sp>
      <p:sp>
        <p:nvSpPr>
          <p:cNvPr id="37" name="Shape 35"/>
          <p:cNvSpPr/>
          <p:nvPr/>
        </p:nvSpPr>
        <p:spPr>
          <a:xfrm>
            <a:off x="4599432" y="5001768"/>
            <a:ext cx="438912" cy="438912"/>
          </a:xfrm>
          <a:prstGeom prst="ellipse">
            <a:avLst/>
          </a:prstGeom>
          <a:solidFill>
            <a:srgbClr val="FF4F12"/>
          </a:solidFill>
          <a:ln w="12700">
            <a:solidFill>
              <a:srgbClr val="FF4F1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99432" y="5052060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184648" y="5038344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1D2939"/>
                </a:solidFill>
              </a:rPr>
              <a:t>Направление развития продукта</a:t>
            </a:r>
            <a:endParaRPr lang="en-US" sz="1030" dirty="0"/>
          </a:p>
        </p:txBody>
      </p:sp>
      <p:sp>
        <p:nvSpPr>
          <p:cNvPr id="40" name="Shape 38"/>
          <p:cNvSpPr/>
          <p:nvPr/>
        </p:nvSpPr>
        <p:spPr>
          <a:xfrm>
            <a:off x="8046720" y="1691640"/>
            <a:ext cx="3337560" cy="4160520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blurRad="25400" dist="50800" dir="2700000" algn="bl" rotWithShape="0">
              <a:srgbClr val="000000">
                <a:alpha val="6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8275320" y="1965960"/>
            <a:ext cx="2880360" cy="310896"/>
          </a:xfrm>
          <a:prstGeom prst="roundRect">
            <a:avLst>
              <a:gd name="adj" fmla="val 23529"/>
            </a:avLst>
          </a:prstGeom>
          <a:solidFill>
            <a:srgbClr val="EAF4FF"/>
          </a:solidFill>
          <a:ln w="12700">
            <a:solidFill>
              <a:srgbClr val="EAF4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339328" y="2020824"/>
            <a:ext cx="27523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E90FA"/>
                </a:solidFill>
              </a:rPr>
              <a:t>Кросс-функциональная команда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8302752" y="2697480"/>
            <a:ext cx="438912" cy="438912"/>
          </a:xfrm>
          <a:prstGeom prst="ellipse">
            <a:avLst/>
          </a:prstGeom>
          <a:solidFill>
            <a:srgbClr val="2E90FA"/>
          </a:solidFill>
          <a:ln w="12700">
            <a:solidFill>
              <a:srgbClr val="2E90F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302752" y="2747772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8887968" y="2734056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1D2939"/>
                </a:solidFill>
              </a:rPr>
              <a:t>Аналитика и discovery</a:t>
            </a:r>
            <a:endParaRPr lang="en-US" sz="1030" dirty="0"/>
          </a:p>
        </p:txBody>
      </p:sp>
      <p:sp>
        <p:nvSpPr>
          <p:cNvPr id="46" name="Shape 44"/>
          <p:cNvSpPr/>
          <p:nvPr/>
        </p:nvSpPr>
        <p:spPr>
          <a:xfrm>
            <a:off x="8302752" y="3273552"/>
            <a:ext cx="438912" cy="438912"/>
          </a:xfrm>
          <a:prstGeom prst="ellipse">
            <a:avLst/>
          </a:prstGeom>
          <a:solidFill>
            <a:srgbClr val="2E90FA"/>
          </a:solidFill>
          <a:ln w="12700">
            <a:solidFill>
              <a:srgbClr val="2E90F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302752" y="3323844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8887968" y="3310128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1D2939"/>
                </a:solidFill>
              </a:rPr>
              <a:t>Дизайн решения</a:t>
            </a:r>
            <a:endParaRPr lang="en-US" sz="1030" dirty="0"/>
          </a:p>
        </p:txBody>
      </p:sp>
      <p:sp>
        <p:nvSpPr>
          <p:cNvPr id="49" name="Shape 47"/>
          <p:cNvSpPr/>
          <p:nvPr/>
        </p:nvSpPr>
        <p:spPr>
          <a:xfrm>
            <a:off x="8302752" y="3849624"/>
            <a:ext cx="438912" cy="438912"/>
          </a:xfrm>
          <a:prstGeom prst="ellipse">
            <a:avLst/>
          </a:prstGeom>
          <a:solidFill>
            <a:srgbClr val="2E90FA"/>
          </a:solidFill>
          <a:ln w="12700">
            <a:solidFill>
              <a:srgbClr val="2E90F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302752" y="3899916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8887968" y="3886200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1D2939"/>
                </a:solidFill>
              </a:rPr>
              <a:t>Разработка и тестирование</a:t>
            </a:r>
            <a:endParaRPr lang="en-US" sz="1030" dirty="0"/>
          </a:p>
        </p:txBody>
      </p:sp>
      <p:sp>
        <p:nvSpPr>
          <p:cNvPr id="52" name="Shape 50"/>
          <p:cNvSpPr/>
          <p:nvPr/>
        </p:nvSpPr>
        <p:spPr>
          <a:xfrm>
            <a:off x="8302752" y="4425696"/>
            <a:ext cx="438912" cy="438912"/>
          </a:xfrm>
          <a:prstGeom prst="ellipse">
            <a:avLst/>
          </a:prstGeom>
          <a:solidFill>
            <a:srgbClr val="2E90FA"/>
          </a:solidFill>
          <a:ln w="12700">
            <a:solidFill>
              <a:srgbClr val="2E90F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302752" y="4475988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8887968" y="4462272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1D2939"/>
                </a:solidFill>
              </a:rPr>
              <a:t>Эксплуатационная готовность</a:t>
            </a:r>
            <a:endParaRPr lang="en-US" sz="1030" dirty="0"/>
          </a:p>
        </p:txBody>
      </p:sp>
      <p:sp>
        <p:nvSpPr>
          <p:cNvPr id="55" name="Shape 53"/>
          <p:cNvSpPr/>
          <p:nvPr/>
        </p:nvSpPr>
        <p:spPr>
          <a:xfrm>
            <a:off x="8302752" y="5001768"/>
            <a:ext cx="438912" cy="438912"/>
          </a:xfrm>
          <a:prstGeom prst="ellipse">
            <a:avLst/>
          </a:prstGeom>
          <a:solidFill>
            <a:srgbClr val="2E90FA"/>
          </a:solidFill>
          <a:ln w="12700">
            <a:solidFill>
              <a:srgbClr val="2E90F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302752" y="5052060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8887968" y="5038344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1D2939"/>
                </a:solidFill>
              </a:rPr>
              <a:t>Обратная связь и улучшение</a:t>
            </a:r>
            <a:endParaRPr lang="en-US" sz="1030" dirty="0"/>
          </a:p>
        </p:txBody>
      </p:sp>
      <p:sp>
        <p:nvSpPr>
          <p:cNvPr id="58" name="Text 56"/>
          <p:cNvSpPr/>
          <p:nvPr/>
        </p:nvSpPr>
        <p:spPr>
          <a:xfrm>
            <a:off x="1005840" y="6053328"/>
            <a:ext cx="10149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344054"/>
                </a:solidFill>
              </a:rPr>
              <a:t>Название роли менее важно, чем явная ответственность: кто отвечает за достижение проектной цели, а кто — за продуктовую ценность и метрики.</a:t>
            </a:r>
            <a:endParaRPr lang="en-US" sz="1080" dirty="0"/>
          </a:p>
        </p:txBody>
      </p:sp>
      <p:sp>
        <p:nvSpPr>
          <p:cNvPr id="5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48288" y="6446520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98A2B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66928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018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Кейс 1. Где проект, а где продукт?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12648" y="105156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67085"/>
                </a:solidFill>
              </a:rPr>
              <a:t>Мобильное приложение банка — один объект, две управленческие логики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85800" y="1517904"/>
            <a:ext cx="3657600" cy="4526280"/>
          </a:xfrm>
          <a:prstGeom prst="roundRect">
            <a:avLst>
              <a:gd name="adj" fmla="val 2000"/>
            </a:avLst>
          </a:prstGeom>
          <a:solidFill>
            <a:srgbClr val="101828"/>
          </a:solidFill>
          <a:ln w="12700">
            <a:solidFill>
              <a:srgbClr val="101828"/>
            </a:solidFill>
            <a:prstDash val="solid"/>
          </a:ln>
          <a:effectLst>
            <a:outerShdw blurRad="25400" dist="50800" dir="2700000" algn="bl" rotWithShape="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1810512"/>
            <a:ext cx="1170432" cy="310896"/>
          </a:xfrm>
          <a:prstGeom prst="roundRect">
            <a:avLst>
              <a:gd name="adj" fmla="val 23529"/>
            </a:avLst>
          </a:prstGeom>
          <a:solidFill>
            <a:srgbClr val="FFF0EA"/>
          </a:solidFill>
          <a:ln w="12700">
            <a:solidFill>
              <a:srgbClr val="FF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4128" y="1865376"/>
            <a:ext cx="10424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4F12"/>
                </a:solidFill>
              </a:rPr>
              <a:t>СИТУАЦИЯ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960120" y="2359152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Банк развивает мобильное приложение.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60120" y="3200400"/>
            <a:ext cx="297180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40" dirty="0">
                <a:solidFill>
                  <a:srgbClr val="D0D5DD"/>
                </a:solidFill>
              </a:rPr>
              <a:t>В этом году нужно одновременно выпустить новый раздел инвестиций к 1 декабря и продолжать повышать удержание пользователей всего приложения.</a:t>
            </a:r>
            <a:endParaRPr lang="en-US" sz="1240" dirty="0"/>
          </a:p>
        </p:txBody>
      </p:sp>
      <p:sp>
        <p:nvSpPr>
          <p:cNvPr id="9" name="Text 7"/>
          <p:cNvSpPr/>
          <p:nvPr/>
        </p:nvSpPr>
        <p:spPr>
          <a:xfrm>
            <a:off x="960120" y="5010912"/>
            <a:ext cx="2971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80" b="1" dirty="0">
                <a:solidFill>
                  <a:srgbClr val="FFFFFF"/>
                </a:solidFill>
              </a:rPr>
              <a:t>Что здесь является проектом, а что — продуктовой работой?</a:t>
            </a:r>
            <a:endParaRPr lang="en-US" sz="1180" dirty="0"/>
          </a:p>
        </p:txBody>
      </p:sp>
      <p:sp>
        <p:nvSpPr>
          <p:cNvPr id="10" name="Shape 8"/>
          <p:cNvSpPr/>
          <p:nvPr/>
        </p:nvSpPr>
        <p:spPr>
          <a:xfrm>
            <a:off x="4663440" y="1517904"/>
            <a:ext cx="6830568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blurRad="25400" dist="50800" dir="2700000" algn="bl" rotWithShape="0">
              <a:srgbClr val="000000">
                <a:alpha val="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983480" y="184708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01828"/>
                </a:solidFill>
              </a:rPr>
              <a:t>Разнесите задачи по двум контурам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983480" y="2487168"/>
            <a:ext cx="2761488" cy="768096"/>
          </a:xfrm>
          <a:prstGeom prst="roundRect">
            <a:avLst>
              <a:gd name="adj" fmla="val 9524"/>
            </a:avLst>
          </a:prstGeom>
          <a:solidFill>
            <a:srgbClr val="F1E8FF"/>
          </a:solidFill>
          <a:ln w="12700">
            <a:solidFill>
              <a:srgbClr val="F1E8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120640" y="2651760"/>
            <a:ext cx="438912" cy="438912"/>
          </a:xfrm>
          <a:prstGeom prst="ellipse">
            <a:avLst/>
          </a:prstGeom>
          <a:solidFill>
            <a:srgbClr val="7700FF"/>
          </a:solidFill>
          <a:ln w="12700">
            <a:solidFill>
              <a:srgbClr val="7700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20640" y="2702052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A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678424" y="2633472"/>
            <a:ext cx="1874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1D2939"/>
                </a:solidFill>
              </a:rPr>
              <a:t>Запустить раздел инвестиций к фиксированной дате</a:t>
            </a:r>
            <a:endParaRPr lang="en-US" sz="980" dirty="0"/>
          </a:p>
        </p:txBody>
      </p:sp>
      <p:sp>
        <p:nvSpPr>
          <p:cNvPr id="16" name="Shape 14"/>
          <p:cNvSpPr/>
          <p:nvPr/>
        </p:nvSpPr>
        <p:spPr>
          <a:xfrm>
            <a:off x="8046720" y="2487168"/>
            <a:ext cx="2761488" cy="768096"/>
          </a:xfrm>
          <a:prstGeom prst="roundRect">
            <a:avLst>
              <a:gd name="adj" fmla="val 9524"/>
            </a:avLst>
          </a:prstGeom>
          <a:solidFill>
            <a:srgbClr val="FFF0EA"/>
          </a:solidFill>
          <a:ln w="12700">
            <a:solidFill>
              <a:srgbClr val="FFF0E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83880" y="2651760"/>
            <a:ext cx="438912" cy="438912"/>
          </a:xfrm>
          <a:prstGeom prst="ellipse">
            <a:avLst/>
          </a:prstGeom>
          <a:solidFill>
            <a:srgbClr val="FF4F12"/>
          </a:solidFill>
          <a:ln w="12700">
            <a:solidFill>
              <a:srgbClr val="FF4F1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183880" y="2702052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B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8741664" y="2633472"/>
            <a:ext cx="1874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1D2939"/>
                </a:solidFill>
              </a:rPr>
              <a:t>Увеличить 30-дневное удержание пользователей</a:t>
            </a:r>
            <a:endParaRPr lang="en-US" sz="980" dirty="0"/>
          </a:p>
        </p:txBody>
      </p:sp>
      <p:sp>
        <p:nvSpPr>
          <p:cNvPr id="20" name="Shape 18"/>
          <p:cNvSpPr/>
          <p:nvPr/>
        </p:nvSpPr>
        <p:spPr>
          <a:xfrm>
            <a:off x="4983480" y="3474720"/>
            <a:ext cx="2761488" cy="768096"/>
          </a:xfrm>
          <a:prstGeom prst="roundRect">
            <a:avLst>
              <a:gd name="adj" fmla="val 9524"/>
            </a:avLst>
          </a:prstGeom>
          <a:solidFill>
            <a:srgbClr val="F1E8FF"/>
          </a:solidFill>
          <a:ln w="12700">
            <a:solidFill>
              <a:srgbClr val="F1E8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120640" y="3639312"/>
            <a:ext cx="438912" cy="438912"/>
          </a:xfrm>
          <a:prstGeom prst="ellipse">
            <a:avLst/>
          </a:prstGeom>
          <a:solidFill>
            <a:srgbClr val="7700FF"/>
          </a:solidFill>
          <a:ln w="12700">
            <a:solidFill>
              <a:srgbClr val="7700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20640" y="3689604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C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678424" y="3621024"/>
            <a:ext cx="1874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1D2939"/>
                </a:solidFill>
              </a:rPr>
              <a:t>Пройти приёмку интеграций с брокерской платформой</a:t>
            </a:r>
            <a:endParaRPr lang="en-US" sz="980" dirty="0"/>
          </a:p>
        </p:txBody>
      </p:sp>
      <p:sp>
        <p:nvSpPr>
          <p:cNvPr id="24" name="Shape 22"/>
          <p:cNvSpPr/>
          <p:nvPr/>
        </p:nvSpPr>
        <p:spPr>
          <a:xfrm>
            <a:off x="8046720" y="3474720"/>
            <a:ext cx="2761488" cy="768096"/>
          </a:xfrm>
          <a:prstGeom prst="roundRect">
            <a:avLst>
              <a:gd name="adj" fmla="val 9524"/>
            </a:avLst>
          </a:prstGeom>
          <a:solidFill>
            <a:srgbClr val="FFF0EA"/>
          </a:solidFill>
          <a:ln w="12700">
            <a:solidFill>
              <a:srgbClr val="FFF0E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639312"/>
            <a:ext cx="438912" cy="438912"/>
          </a:xfrm>
          <a:prstGeom prst="ellipse">
            <a:avLst/>
          </a:prstGeom>
          <a:solidFill>
            <a:srgbClr val="FF4F12"/>
          </a:solidFill>
          <a:ln w="12700">
            <a:solidFill>
              <a:srgbClr val="FF4F1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183880" y="3689604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D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8741664" y="3621024"/>
            <a:ext cx="1874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1D2939"/>
                </a:solidFill>
              </a:rPr>
              <a:t>Проверять гипотезы по онбордингу каждый месяц</a:t>
            </a:r>
            <a:endParaRPr lang="en-US" sz="980" dirty="0"/>
          </a:p>
        </p:txBody>
      </p:sp>
      <p:sp>
        <p:nvSpPr>
          <p:cNvPr id="28" name="Shape 26"/>
          <p:cNvSpPr/>
          <p:nvPr/>
        </p:nvSpPr>
        <p:spPr>
          <a:xfrm>
            <a:off x="4983480" y="4462272"/>
            <a:ext cx="2761488" cy="768096"/>
          </a:xfrm>
          <a:prstGeom prst="roundRect">
            <a:avLst>
              <a:gd name="adj" fmla="val 9524"/>
            </a:avLst>
          </a:prstGeom>
          <a:solidFill>
            <a:srgbClr val="F1E8FF"/>
          </a:solidFill>
          <a:ln w="12700">
            <a:solidFill>
              <a:srgbClr val="F1E8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120640" y="4626864"/>
            <a:ext cx="438912" cy="438912"/>
          </a:xfrm>
          <a:prstGeom prst="ellipse">
            <a:avLst/>
          </a:prstGeom>
          <a:solidFill>
            <a:srgbClr val="7700FF"/>
          </a:solidFill>
          <a:ln w="12700">
            <a:solidFill>
              <a:srgbClr val="7700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120640" y="4677156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E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678424" y="4608576"/>
            <a:ext cx="1874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1D2939"/>
                </a:solidFill>
              </a:rPr>
              <a:t>Закрыть миграцию данных и передать решение в эксплуатацию</a:t>
            </a:r>
            <a:endParaRPr lang="en-US" sz="980" dirty="0"/>
          </a:p>
        </p:txBody>
      </p:sp>
      <p:sp>
        <p:nvSpPr>
          <p:cNvPr id="32" name="Shape 30"/>
          <p:cNvSpPr/>
          <p:nvPr/>
        </p:nvSpPr>
        <p:spPr>
          <a:xfrm>
            <a:off x="8046720" y="4462272"/>
            <a:ext cx="2761488" cy="768096"/>
          </a:xfrm>
          <a:prstGeom prst="roundRect">
            <a:avLst>
              <a:gd name="adj" fmla="val 9524"/>
            </a:avLst>
          </a:prstGeom>
          <a:solidFill>
            <a:srgbClr val="FFF0EA"/>
          </a:solidFill>
          <a:ln w="12700">
            <a:solidFill>
              <a:srgbClr val="FFF0E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183880" y="4626864"/>
            <a:ext cx="438912" cy="438912"/>
          </a:xfrm>
          <a:prstGeom prst="ellipse">
            <a:avLst/>
          </a:prstGeom>
          <a:solidFill>
            <a:srgbClr val="FF4F12"/>
          </a:solidFill>
          <a:ln w="12700">
            <a:solidFill>
              <a:srgbClr val="FF4F1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183880" y="4677156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F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8741664" y="4608576"/>
            <a:ext cx="1874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1D2939"/>
                </a:solidFill>
              </a:rPr>
              <a:t>Постоянно улучшать пользовательский путь на основе аналитики</a:t>
            </a:r>
            <a:endParaRPr lang="en-US" sz="980" dirty="0"/>
          </a:p>
        </p:txBody>
      </p:sp>
      <p:sp>
        <p:nvSpPr>
          <p:cNvPr id="36" name="Text 34"/>
          <p:cNvSpPr/>
          <p:nvPr/>
        </p:nvSpPr>
        <p:spPr>
          <a:xfrm>
            <a:off x="4965192" y="5532120"/>
            <a:ext cx="6172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667085"/>
                </a:solidFill>
              </a:rPr>
              <a:t>Дополнительно: какой результат можно «закрыть», а какая работа должна продолжаться после релиза?</a:t>
            </a:r>
            <a:endParaRPr lang="en-US" sz="1050" dirty="0"/>
          </a:p>
        </p:txBody>
      </p:sp>
      <p:sp>
        <p:nvSpPr>
          <p:cNvPr id="3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48288" y="6446520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98A2B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66928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 err="1">
                <a:solidFill>
                  <a:srgbClr val="1018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Кейс</a:t>
            </a:r>
            <a:r>
              <a:rPr lang="en-US" sz="2600" b="1" dirty="0">
                <a:solidFill>
                  <a:srgbClr val="1018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</a:t>
            </a:r>
            <a:r>
              <a:rPr lang="ru-RU" sz="2600" b="1" dirty="0">
                <a:solidFill>
                  <a:srgbClr val="1018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</a:t>
            </a:r>
            <a:r>
              <a:rPr lang="en-US" sz="2600" b="1" dirty="0">
                <a:solidFill>
                  <a:srgbClr val="1018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. Проект и продукт не конкурируют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12648" y="105156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67085"/>
                </a:solidFill>
              </a:rPr>
              <a:t>Разделите временную инициативу и долгоживущую ответственность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94944" y="1517904"/>
            <a:ext cx="1097280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blurRad="25400" dist="50800" dir="2700000" algn="bl" rotWithShape="0">
              <a:srgbClr val="000000">
                <a:alpha val="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60120" y="1874520"/>
            <a:ext cx="10378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1828"/>
                </a:solidFill>
              </a:rPr>
              <a:t>Компания развивает B2B-платформу. Для неё запускается отдельный проект миграции на новую архитектуру сроком 8 месяцев. После миграции продуктовая команда продолжит развивать платформу и отвечать за клиентские метрики.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94944" y="3136392"/>
            <a:ext cx="5230368" cy="2542032"/>
          </a:xfrm>
          <a:prstGeom prst="roundRect">
            <a:avLst>
              <a:gd name="adj" fmla="val 2878"/>
            </a:avLst>
          </a:prstGeom>
          <a:solidFill>
            <a:srgbClr val="F1E8FF"/>
          </a:solidFill>
          <a:ln w="12700">
            <a:solidFill>
              <a:srgbClr val="F1E8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7552" y="347472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7700FF"/>
                </a:solidFill>
              </a:rPr>
              <a:t>Проект миграции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87552" y="4133088"/>
            <a:ext cx="91440" cy="91440"/>
          </a:xfrm>
          <a:prstGeom prst="ellipse">
            <a:avLst/>
          </a:prstGeom>
          <a:solidFill>
            <a:srgbClr val="7700FF"/>
          </a:solidFill>
          <a:ln w="12700">
            <a:solidFill>
              <a:srgbClr val="7700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88720" y="4041648"/>
            <a:ext cx="4434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10" dirty="0">
                <a:solidFill>
                  <a:srgbClr val="1D2939"/>
                </a:solidFill>
              </a:rPr>
              <a:t>Какой конкретный результат должен быть получен?</a:t>
            </a:r>
            <a:endParaRPr lang="en-US" sz="1010" dirty="0"/>
          </a:p>
        </p:txBody>
      </p:sp>
      <p:sp>
        <p:nvSpPr>
          <p:cNvPr id="10" name="Shape 8"/>
          <p:cNvSpPr/>
          <p:nvPr/>
        </p:nvSpPr>
        <p:spPr>
          <a:xfrm>
            <a:off x="987552" y="4535424"/>
            <a:ext cx="91440" cy="91440"/>
          </a:xfrm>
          <a:prstGeom prst="ellipse">
            <a:avLst/>
          </a:prstGeom>
          <a:solidFill>
            <a:srgbClr val="7700FF"/>
          </a:solidFill>
          <a:ln w="12700">
            <a:solidFill>
              <a:srgbClr val="7700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88720" y="4443984"/>
            <a:ext cx="4434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10" dirty="0">
                <a:solidFill>
                  <a:srgbClr val="1D2939"/>
                </a:solidFill>
              </a:rPr>
              <a:t>Какие сроки, бюджет и зависимости?</a:t>
            </a:r>
            <a:endParaRPr lang="en-US" sz="1010" dirty="0"/>
          </a:p>
        </p:txBody>
      </p:sp>
      <p:sp>
        <p:nvSpPr>
          <p:cNvPr id="12" name="Shape 10"/>
          <p:cNvSpPr/>
          <p:nvPr/>
        </p:nvSpPr>
        <p:spPr>
          <a:xfrm>
            <a:off x="987552" y="4937760"/>
            <a:ext cx="91440" cy="91440"/>
          </a:xfrm>
          <a:prstGeom prst="ellipse">
            <a:avLst/>
          </a:prstGeom>
          <a:solidFill>
            <a:srgbClr val="7700FF"/>
          </a:solidFill>
          <a:ln w="12700">
            <a:solidFill>
              <a:srgbClr val="7700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88720" y="4846320"/>
            <a:ext cx="4434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10" dirty="0">
                <a:solidFill>
                  <a:srgbClr val="1D2939"/>
                </a:solidFill>
              </a:rPr>
              <a:t>Какие критерии приёмки?</a:t>
            </a:r>
            <a:endParaRPr lang="en-US" sz="1010" dirty="0"/>
          </a:p>
        </p:txBody>
      </p:sp>
      <p:sp>
        <p:nvSpPr>
          <p:cNvPr id="14" name="Shape 12"/>
          <p:cNvSpPr/>
          <p:nvPr/>
        </p:nvSpPr>
        <p:spPr>
          <a:xfrm>
            <a:off x="987552" y="5340096"/>
            <a:ext cx="91440" cy="91440"/>
          </a:xfrm>
          <a:prstGeom prst="ellipse">
            <a:avLst/>
          </a:prstGeom>
          <a:solidFill>
            <a:srgbClr val="7700FF"/>
          </a:solidFill>
          <a:ln w="12700">
            <a:solidFill>
              <a:srgbClr val="7700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88720" y="5248656"/>
            <a:ext cx="4434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10" dirty="0">
                <a:solidFill>
                  <a:srgbClr val="1D2939"/>
                </a:solidFill>
              </a:rPr>
              <a:t>Когда проект можно формально закрыть?</a:t>
            </a:r>
            <a:endParaRPr lang="en-US" sz="1010" dirty="0"/>
          </a:p>
        </p:txBody>
      </p:sp>
      <p:sp>
        <p:nvSpPr>
          <p:cNvPr id="16" name="Shape 14"/>
          <p:cNvSpPr/>
          <p:nvPr/>
        </p:nvSpPr>
        <p:spPr>
          <a:xfrm>
            <a:off x="6254496" y="3136392"/>
            <a:ext cx="5413248" cy="2542032"/>
          </a:xfrm>
          <a:prstGeom prst="roundRect">
            <a:avLst>
              <a:gd name="adj" fmla="val 2878"/>
            </a:avLst>
          </a:prstGeom>
          <a:solidFill>
            <a:srgbClr val="FFF0EA"/>
          </a:solidFill>
          <a:ln w="12700">
            <a:solidFill>
              <a:srgbClr val="FFF0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47104" y="347472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4F12"/>
                </a:solidFill>
              </a:rPr>
              <a:t>Продукт после миграции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6547104" y="4133088"/>
            <a:ext cx="91440" cy="91440"/>
          </a:xfrm>
          <a:prstGeom prst="ellipse">
            <a:avLst/>
          </a:prstGeom>
          <a:solidFill>
            <a:srgbClr val="FF4F12"/>
          </a:solidFill>
          <a:ln w="12700">
            <a:solidFill>
              <a:srgbClr val="FF4F1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48272" y="4041648"/>
            <a:ext cx="4434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10" dirty="0">
                <a:solidFill>
                  <a:srgbClr val="1D2939"/>
                </a:solidFill>
              </a:rPr>
              <a:t>Какие пользовательские проблемы остаются?</a:t>
            </a:r>
            <a:endParaRPr lang="en-US" sz="1010" dirty="0"/>
          </a:p>
        </p:txBody>
      </p:sp>
      <p:sp>
        <p:nvSpPr>
          <p:cNvPr id="20" name="Shape 18"/>
          <p:cNvSpPr/>
          <p:nvPr/>
        </p:nvSpPr>
        <p:spPr>
          <a:xfrm>
            <a:off x="6547104" y="4535424"/>
            <a:ext cx="91440" cy="91440"/>
          </a:xfrm>
          <a:prstGeom prst="ellipse">
            <a:avLst/>
          </a:prstGeom>
          <a:solidFill>
            <a:srgbClr val="FF4F12"/>
          </a:solidFill>
          <a:ln w="12700">
            <a:solidFill>
              <a:srgbClr val="FF4F1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48272" y="4443984"/>
            <a:ext cx="4434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10" dirty="0">
                <a:solidFill>
                  <a:srgbClr val="1D2939"/>
                </a:solidFill>
              </a:rPr>
              <a:t>Какие метрики продукт должен улучшать?</a:t>
            </a:r>
            <a:endParaRPr lang="en-US" sz="1010" dirty="0"/>
          </a:p>
        </p:txBody>
      </p:sp>
      <p:sp>
        <p:nvSpPr>
          <p:cNvPr id="22" name="Shape 20"/>
          <p:cNvSpPr/>
          <p:nvPr/>
        </p:nvSpPr>
        <p:spPr>
          <a:xfrm>
            <a:off x="6547104" y="4937760"/>
            <a:ext cx="91440" cy="91440"/>
          </a:xfrm>
          <a:prstGeom prst="ellipse">
            <a:avLst/>
          </a:prstGeom>
          <a:solidFill>
            <a:srgbClr val="FF4F12"/>
          </a:solidFill>
          <a:ln w="12700">
            <a:solidFill>
              <a:srgbClr val="FF4F1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48272" y="4846320"/>
            <a:ext cx="4434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10" dirty="0">
                <a:solidFill>
                  <a:srgbClr val="1D2939"/>
                </a:solidFill>
              </a:rPr>
              <a:t>Как будет меняться backlog после миграции?</a:t>
            </a:r>
            <a:endParaRPr lang="en-US" sz="1010" dirty="0"/>
          </a:p>
        </p:txBody>
      </p:sp>
      <p:sp>
        <p:nvSpPr>
          <p:cNvPr id="24" name="Shape 22"/>
          <p:cNvSpPr/>
          <p:nvPr/>
        </p:nvSpPr>
        <p:spPr>
          <a:xfrm>
            <a:off x="6547104" y="5340096"/>
            <a:ext cx="91440" cy="91440"/>
          </a:xfrm>
          <a:prstGeom prst="ellipse">
            <a:avLst/>
          </a:prstGeom>
          <a:solidFill>
            <a:srgbClr val="FF4F12"/>
          </a:solidFill>
          <a:ln w="12700">
            <a:solidFill>
              <a:srgbClr val="FF4F1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748272" y="5248656"/>
            <a:ext cx="4434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10" dirty="0">
                <a:solidFill>
                  <a:srgbClr val="1D2939"/>
                </a:solidFill>
              </a:rPr>
              <a:t>Кто остаётся владельцем ценности?</a:t>
            </a:r>
            <a:endParaRPr lang="en-US" sz="1010" dirty="0"/>
          </a:p>
        </p:txBody>
      </p:sp>
      <p:sp>
        <p:nvSpPr>
          <p:cNvPr id="26" name="Text 24"/>
          <p:cNvSpPr/>
          <p:nvPr/>
        </p:nvSpPr>
        <p:spPr>
          <a:xfrm>
            <a:off x="1005840" y="60807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01828"/>
                </a:solidFill>
              </a:rPr>
              <a:t>Сформулируйте по одному критерию успеха для проекта и для продукта — они должны быть разными.</a:t>
            </a:r>
            <a:endParaRPr lang="en-US" sz="110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48288" y="6446520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98A2B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66928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 err="1">
                <a:solidFill>
                  <a:srgbClr val="1018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Кейс</a:t>
            </a:r>
            <a:r>
              <a:rPr lang="en-US" sz="2600" b="1" dirty="0">
                <a:solidFill>
                  <a:srgbClr val="1018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</a:t>
            </a:r>
            <a:r>
              <a:rPr lang="ru-RU" sz="2600" b="1" dirty="0">
                <a:solidFill>
                  <a:srgbClr val="1018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</a:t>
            </a:r>
            <a:r>
              <a:rPr lang="en-US" sz="2600" b="1" dirty="0">
                <a:solidFill>
                  <a:srgbClr val="1018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. Кто за что отвечает?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12648" y="105156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67085"/>
                </a:solidFill>
              </a:rPr>
              <a:t>Не угадываем должность — определяем ответственность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3337560" cy="3182112"/>
          </a:xfrm>
          <a:prstGeom prst="roundRect">
            <a:avLst>
              <a:gd name="adj" fmla="val 2299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blurRad="25400" dist="50800" dir="2700000" algn="bl" rotWithShape="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1856232"/>
            <a:ext cx="2926080" cy="310896"/>
          </a:xfrm>
          <a:prstGeom prst="roundRect">
            <a:avLst>
              <a:gd name="adj" fmla="val 23529"/>
            </a:avLst>
          </a:prstGeom>
          <a:solidFill>
            <a:srgbClr val="F1E8FF"/>
          </a:solidFill>
          <a:ln w="12700">
            <a:solidFill>
              <a:srgbClr val="F1E8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05256" y="1911096"/>
            <a:ext cx="2798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7700FF"/>
                </a:solidFill>
              </a:rPr>
              <a:t>Руководитель проекта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877824" y="2587752"/>
            <a:ext cx="438912" cy="438912"/>
          </a:xfrm>
          <a:prstGeom prst="ellipse">
            <a:avLst/>
          </a:prstGeom>
          <a:solidFill>
            <a:srgbClr val="7700FF"/>
          </a:solidFill>
          <a:ln w="12700">
            <a:solidFill>
              <a:srgbClr val="7700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77824" y="2638044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✓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444752" y="2633472"/>
            <a:ext cx="2176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10" dirty="0">
                <a:solidFill>
                  <a:srgbClr val="1D2939"/>
                </a:solidFill>
              </a:rPr>
              <a:t>Сроки и зависимости</a:t>
            </a:r>
            <a:endParaRPr lang="en-US" sz="1010" dirty="0"/>
          </a:p>
        </p:txBody>
      </p:sp>
      <p:sp>
        <p:nvSpPr>
          <p:cNvPr id="10" name="Shape 8"/>
          <p:cNvSpPr/>
          <p:nvPr/>
        </p:nvSpPr>
        <p:spPr>
          <a:xfrm>
            <a:off x="877824" y="3099816"/>
            <a:ext cx="438912" cy="438912"/>
          </a:xfrm>
          <a:prstGeom prst="ellipse">
            <a:avLst/>
          </a:prstGeom>
          <a:solidFill>
            <a:srgbClr val="7700FF"/>
          </a:solidFill>
          <a:ln w="12700">
            <a:solidFill>
              <a:srgbClr val="7700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77824" y="3150108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✓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444752" y="3145536"/>
            <a:ext cx="2176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10" dirty="0">
                <a:solidFill>
                  <a:srgbClr val="1D2939"/>
                </a:solidFill>
              </a:rPr>
              <a:t>Риски проекта</a:t>
            </a:r>
            <a:endParaRPr lang="en-US" sz="1010" dirty="0"/>
          </a:p>
        </p:txBody>
      </p:sp>
      <p:sp>
        <p:nvSpPr>
          <p:cNvPr id="13" name="Shape 11"/>
          <p:cNvSpPr/>
          <p:nvPr/>
        </p:nvSpPr>
        <p:spPr>
          <a:xfrm>
            <a:off x="877824" y="3611880"/>
            <a:ext cx="438912" cy="438912"/>
          </a:xfrm>
          <a:prstGeom prst="ellipse">
            <a:avLst/>
          </a:prstGeom>
          <a:solidFill>
            <a:srgbClr val="7700FF"/>
          </a:solidFill>
          <a:ln w="12700">
            <a:solidFill>
              <a:srgbClr val="7700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77824" y="3662172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✓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444752" y="3657600"/>
            <a:ext cx="2176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10" dirty="0">
                <a:solidFill>
                  <a:srgbClr val="1D2939"/>
                </a:solidFill>
              </a:rPr>
              <a:t>План и ресурсы</a:t>
            </a:r>
            <a:endParaRPr lang="en-US" sz="1010" dirty="0"/>
          </a:p>
        </p:txBody>
      </p:sp>
      <p:sp>
        <p:nvSpPr>
          <p:cNvPr id="16" name="Shape 14"/>
          <p:cNvSpPr/>
          <p:nvPr/>
        </p:nvSpPr>
        <p:spPr>
          <a:xfrm>
            <a:off x="877824" y="4123944"/>
            <a:ext cx="438912" cy="438912"/>
          </a:xfrm>
          <a:prstGeom prst="ellipse">
            <a:avLst/>
          </a:prstGeom>
          <a:solidFill>
            <a:srgbClr val="7700FF"/>
          </a:solidFill>
          <a:ln w="12700">
            <a:solidFill>
              <a:srgbClr val="7700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77824" y="4174236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✓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1444752" y="4169664"/>
            <a:ext cx="2176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10" dirty="0">
                <a:solidFill>
                  <a:srgbClr val="1D2939"/>
                </a:solidFill>
              </a:rPr>
              <a:t>Приёмка / закрытие</a:t>
            </a:r>
            <a:endParaRPr lang="en-US" sz="1010" dirty="0"/>
          </a:p>
        </p:txBody>
      </p:sp>
      <p:sp>
        <p:nvSpPr>
          <p:cNvPr id="19" name="Shape 17"/>
          <p:cNvSpPr/>
          <p:nvPr/>
        </p:nvSpPr>
        <p:spPr>
          <a:xfrm>
            <a:off x="4343400" y="1600200"/>
            <a:ext cx="3337560" cy="3182112"/>
          </a:xfrm>
          <a:prstGeom prst="roundRect">
            <a:avLst>
              <a:gd name="adj" fmla="val 2299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blurRad="25400" dist="50800" dir="2700000" algn="bl" rotWithShape="0">
              <a:srgbClr val="000000">
                <a:alpha val="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44568" y="1856232"/>
            <a:ext cx="2926080" cy="310896"/>
          </a:xfrm>
          <a:prstGeom prst="roundRect">
            <a:avLst>
              <a:gd name="adj" fmla="val 23529"/>
            </a:avLst>
          </a:prstGeom>
          <a:solidFill>
            <a:srgbClr val="FFF0EA"/>
          </a:solidFill>
          <a:ln w="12700">
            <a:solidFill>
              <a:srgbClr val="FFF0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08576" y="1911096"/>
            <a:ext cx="2798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4F12"/>
                </a:solidFill>
              </a:rPr>
              <a:t>Product Manager / PO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581144" y="2587752"/>
            <a:ext cx="438912" cy="438912"/>
          </a:xfrm>
          <a:prstGeom prst="ellipse">
            <a:avLst/>
          </a:prstGeom>
          <a:solidFill>
            <a:srgbClr val="FF4F12"/>
          </a:solidFill>
          <a:ln w="12700">
            <a:solidFill>
              <a:srgbClr val="FF4F1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81144" y="2638044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✓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148072" y="2633472"/>
            <a:ext cx="2176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10" dirty="0">
                <a:solidFill>
                  <a:srgbClr val="1D2939"/>
                </a:solidFill>
              </a:rPr>
              <a:t>Проблемы пользователей</a:t>
            </a:r>
            <a:endParaRPr lang="en-US" sz="1010" dirty="0"/>
          </a:p>
        </p:txBody>
      </p:sp>
      <p:sp>
        <p:nvSpPr>
          <p:cNvPr id="25" name="Shape 23"/>
          <p:cNvSpPr/>
          <p:nvPr/>
        </p:nvSpPr>
        <p:spPr>
          <a:xfrm>
            <a:off x="4581144" y="3099816"/>
            <a:ext cx="438912" cy="438912"/>
          </a:xfrm>
          <a:prstGeom prst="ellipse">
            <a:avLst/>
          </a:prstGeom>
          <a:solidFill>
            <a:srgbClr val="FF4F12"/>
          </a:solidFill>
          <a:ln w="12700">
            <a:solidFill>
              <a:srgbClr val="FF4F1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81144" y="3150108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✓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148072" y="3145536"/>
            <a:ext cx="2176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10" dirty="0">
                <a:solidFill>
                  <a:srgbClr val="1D2939"/>
                </a:solidFill>
              </a:rPr>
              <a:t>Приоритет backlog</a:t>
            </a:r>
            <a:endParaRPr lang="en-US" sz="1010" dirty="0"/>
          </a:p>
        </p:txBody>
      </p:sp>
      <p:sp>
        <p:nvSpPr>
          <p:cNvPr id="28" name="Shape 26"/>
          <p:cNvSpPr/>
          <p:nvPr/>
        </p:nvSpPr>
        <p:spPr>
          <a:xfrm>
            <a:off x="4581144" y="3611880"/>
            <a:ext cx="438912" cy="438912"/>
          </a:xfrm>
          <a:prstGeom prst="ellipse">
            <a:avLst/>
          </a:prstGeom>
          <a:solidFill>
            <a:srgbClr val="FF4F12"/>
          </a:solidFill>
          <a:ln w="12700">
            <a:solidFill>
              <a:srgbClr val="FF4F1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81144" y="3662172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✓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148072" y="3657600"/>
            <a:ext cx="2176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10" dirty="0">
                <a:solidFill>
                  <a:srgbClr val="1D2939"/>
                </a:solidFill>
              </a:rPr>
              <a:t>Гипотезы и метрики</a:t>
            </a:r>
            <a:endParaRPr lang="en-US" sz="1010" dirty="0"/>
          </a:p>
        </p:txBody>
      </p:sp>
      <p:sp>
        <p:nvSpPr>
          <p:cNvPr id="31" name="Shape 29"/>
          <p:cNvSpPr/>
          <p:nvPr/>
        </p:nvSpPr>
        <p:spPr>
          <a:xfrm>
            <a:off x="4581144" y="4123944"/>
            <a:ext cx="438912" cy="438912"/>
          </a:xfrm>
          <a:prstGeom prst="ellipse">
            <a:avLst/>
          </a:prstGeom>
          <a:solidFill>
            <a:srgbClr val="FF4F12"/>
          </a:solidFill>
          <a:ln w="12700">
            <a:solidFill>
              <a:srgbClr val="FF4F1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81144" y="4174236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✓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148072" y="4169664"/>
            <a:ext cx="2176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10" dirty="0">
                <a:solidFill>
                  <a:srgbClr val="1D2939"/>
                </a:solidFill>
              </a:rPr>
              <a:t>Направление продукта</a:t>
            </a:r>
            <a:endParaRPr lang="en-US" sz="1010" dirty="0"/>
          </a:p>
        </p:txBody>
      </p:sp>
      <p:sp>
        <p:nvSpPr>
          <p:cNvPr id="34" name="Shape 32"/>
          <p:cNvSpPr/>
          <p:nvPr/>
        </p:nvSpPr>
        <p:spPr>
          <a:xfrm>
            <a:off x="8046720" y="1600200"/>
            <a:ext cx="3337560" cy="3182112"/>
          </a:xfrm>
          <a:prstGeom prst="roundRect">
            <a:avLst>
              <a:gd name="adj" fmla="val 2299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blurRad="25400" dist="50800" dir="2700000" algn="bl" rotWithShape="0">
              <a:srgbClr val="000000">
                <a:alpha val="6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8247888" y="1856232"/>
            <a:ext cx="2926080" cy="310896"/>
          </a:xfrm>
          <a:prstGeom prst="roundRect">
            <a:avLst>
              <a:gd name="adj" fmla="val 23529"/>
            </a:avLst>
          </a:prstGeom>
          <a:solidFill>
            <a:srgbClr val="EAF4FF"/>
          </a:solidFill>
          <a:ln w="12700">
            <a:solidFill>
              <a:srgbClr val="EAF4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311896" y="1911096"/>
            <a:ext cx="2798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E90FA"/>
                </a:solidFill>
              </a:rPr>
              <a:t>Кросс-функциональная команда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8284464" y="2587752"/>
            <a:ext cx="438912" cy="438912"/>
          </a:xfrm>
          <a:prstGeom prst="ellipse">
            <a:avLst/>
          </a:prstGeom>
          <a:solidFill>
            <a:srgbClr val="2E90FA"/>
          </a:solidFill>
          <a:ln w="12700">
            <a:solidFill>
              <a:srgbClr val="2E90F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284464" y="2638044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✓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8851392" y="2633472"/>
            <a:ext cx="2176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10" dirty="0">
                <a:solidFill>
                  <a:srgbClr val="1D2939"/>
                </a:solidFill>
              </a:rPr>
              <a:t>Аналитика и discovery</a:t>
            </a:r>
            <a:endParaRPr lang="en-US" sz="1010" dirty="0"/>
          </a:p>
        </p:txBody>
      </p:sp>
      <p:sp>
        <p:nvSpPr>
          <p:cNvPr id="40" name="Shape 38"/>
          <p:cNvSpPr/>
          <p:nvPr/>
        </p:nvSpPr>
        <p:spPr>
          <a:xfrm>
            <a:off x="8284464" y="3099816"/>
            <a:ext cx="438912" cy="438912"/>
          </a:xfrm>
          <a:prstGeom prst="ellipse">
            <a:avLst/>
          </a:prstGeom>
          <a:solidFill>
            <a:srgbClr val="2E90FA"/>
          </a:solidFill>
          <a:ln w="12700">
            <a:solidFill>
              <a:srgbClr val="2E90F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284464" y="3150108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✓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8851392" y="3145536"/>
            <a:ext cx="2176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10" dirty="0">
                <a:solidFill>
                  <a:srgbClr val="1D2939"/>
                </a:solidFill>
              </a:rPr>
              <a:t>Дизайн</a:t>
            </a:r>
            <a:endParaRPr lang="en-US" sz="1010" dirty="0"/>
          </a:p>
        </p:txBody>
      </p:sp>
      <p:sp>
        <p:nvSpPr>
          <p:cNvPr id="43" name="Shape 41"/>
          <p:cNvSpPr/>
          <p:nvPr/>
        </p:nvSpPr>
        <p:spPr>
          <a:xfrm>
            <a:off x="8284464" y="3611880"/>
            <a:ext cx="438912" cy="438912"/>
          </a:xfrm>
          <a:prstGeom prst="ellipse">
            <a:avLst/>
          </a:prstGeom>
          <a:solidFill>
            <a:srgbClr val="2E90FA"/>
          </a:solidFill>
          <a:ln w="12700">
            <a:solidFill>
              <a:srgbClr val="2E90F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284464" y="3662172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✓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8851392" y="3657600"/>
            <a:ext cx="2176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10" dirty="0">
                <a:solidFill>
                  <a:srgbClr val="1D2939"/>
                </a:solidFill>
              </a:rPr>
              <a:t>Разработка и тестирование</a:t>
            </a:r>
            <a:endParaRPr lang="en-US" sz="1010" dirty="0"/>
          </a:p>
        </p:txBody>
      </p:sp>
      <p:sp>
        <p:nvSpPr>
          <p:cNvPr id="46" name="Shape 44"/>
          <p:cNvSpPr/>
          <p:nvPr/>
        </p:nvSpPr>
        <p:spPr>
          <a:xfrm>
            <a:off x="8284464" y="4123944"/>
            <a:ext cx="438912" cy="438912"/>
          </a:xfrm>
          <a:prstGeom prst="ellipse">
            <a:avLst/>
          </a:prstGeom>
          <a:solidFill>
            <a:srgbClr val="2E90FA"/>
          </a:solidFill>
          <a:ln w="12700">
            <a:solidFill>
              <a:srgbClr val="2E90F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284464" y="4174236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✓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8851392" y="4169664"/>
            <a:ext cx="2176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10" dirty="0">
                <a:solidFill>
                  <a:srgbClr val="1D2939"/>
                </a:solidFill>
              </a:rPr>
              <a:t>Техническая готовность</a:t>
            </a:r>
            <a:endParaRPr lang="en-US" sz="1010" dirty="0"/>
          </a:p>
        </p:txBody>
      </p:sp>
      <p:sp>
        <p:nvSpPr>
          <p:cNvPr id="49" name="Shape 47"/>
          <p:cNvSpPr/>
          <p:nvPr/>
        </p:nvSpPr>
        <p:spPr>
          <a:xfrm>
            <a:off x="1024128" y="5074920"/>
            <a:ext cx="10104120" cy="987552"/>
          </a:xfrm>
          <a:prstGeom prst="roundRect">
            <a:avLst>
              <a:gd name="adj" fmla="val 7407"/>
            </a:avLst>
          </a:prstGeom>
          <a:solidFill>
            <a:srgbClr val="101828"/>
          </a:solidFill>
          <a:ln w="12700">
            <a:solidFill>
              <a:srgbClr val="101828"/>
            </a:solidFill>
            <a:prstDash val="solid"/>
          </a:ln>
          <a:effectLst>
            <a:outerShdw blurRad="25400" dist="50800" dir="2700000" algn="bl" rotWithShape="0">
              <a:srgbClr val="000000">
                <a:alpha val="6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1325880" y="5340096"/>
            <a:ext cx="9464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110" b="1" dirty="0">
                <a:solidFill>
                  <a:srgbClr val="FFFFFF"/>
                </a:solidFill>
              </a:rPr>
              <a:t>Конфликт: Product Manager хочет перенести релиз ради дополнительного исследования пользователей, а РП отвечает за обязательство выпустить функциональность к 1 декабря.</a:t>
            </a:r>
            <a:endParaRPr lang="en-US" sz="1110" dirty="0"/>
          </a:p>
        </p:txBody>
      </p:sp>
      <p:sp>
        <p:nvSpPr>
          <p:cNvPr id="51" name="Text 49"/>
          <p:cNvSpPr/>
          <p:nvPr/>
        </p:nvSpPr>
        <p:spPr>
          <a:xfrm>
            <a:off x="1417320" y="5724144"/>
            <a:ext cx="9281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D0D5DD"/>
                </a:solidFill>
              </a:rPr>
              <a:t>Вопрос: кто должен принять решение и какие данные нужны, чтобы оно не превратилось в спор ролей?</a:t>
            </a:r>
            <a:endParaRPr lang="en-US" sz="1020" dirty="0"/>
          </a:p>
        </p:txBody>
      </p:sp>
      <p:sp>
        <p:nvSpPr>
          <p:cNvPr id="5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48288" y="6446520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98A2B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2">
                <a:lumMod val="89000"/>
              </a:schemeClr>
            </a:gs>
            <a:gs pos="45256">
              <a:srgbClr val="395050"/>
            </a:gs>
            <a:gs pos="13000">
              <a:schemeClr val="accent2">
                <a:lumMod val="89000"/>
              </a:schemeClr>
            </a:gs>
            <a:gs pos="57000">
              <a:schemeClr val="accent2">
                <a:lumMod val="75000"/>
              </a:schemeClr>
            </a:gs>
            <a:gs pos="75000">
              <a:schemeClr val="accent2">
                <a:lumMod val="7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0"/>
            <a:ext cx="3931920" cy="3931920"/>
          </a:xfrm>
          <a:prstGeom prst="ellipse">
            <a:avLst/>
          </a:prstGeom>
          <a:solidFill>
            <a:srgbClr val="7700FF">
              <a:alpha val="92000"/>
            </a:srgbClr>
          </a:solidFill>
          <a:ln w="12700">
            <a:solidFill>
              <a:srgbClr val="7700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281160" y="3840480"/>
            <a:ext cx="2834640" cy="2834640"/>
          </a:xfrm>
          <a:prstGeom prst="ellipse">
            <a:avLst/>
          </a:prstGeom>
          <a:solidFill>
            <a:srgbClr val="FF4F12">
              <a:alpha val="96000"/>
            </a:srgbClr>
          </a:solidFill>
          <a:ln w="12700">
            <a:solidFill>
              <a:srgbClr val="FF4F12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949440" y="4389120"/>
            <a:ext cx="2103120" cy="2103120"/>
          </a:xfrm>
          <a:prstGeom prst="ellipse">
            <a:avLst/>
          </a:prstGeom>
          <a:solidFill>
            <a:srgbClr val="B76CFF">
              <a:alpha val="65000"/>
            </a:srgbClr>
          </a:solidFill>
          <a:ln w="12700">
            <a:solidFill>
              <a:srgbClr val="B76CFF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371600"/>
            <a:ext cx="62179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Agile</a:t>
            </a:r>
            <a:endParaRPr lang="en-US" sz="4400" dirty="0"/>
          </a:p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Manifesto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676656" y="3246120"/>
            <a:ext cx="5669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D0D5DD"/>
                </a:solidFill>
              </a:rPr>
              <a:t>4 ценности. 12 принципов. Один способ думать о разработке.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85800" y="4224528"/>
            <a:ext cx="1965960" cy="0"/>
          </a:xfrm>
          <a:prstGeom prst="line">
            <a:avLst/>
          </a:prstGeom>
          <a:noFill/>
          <a:ln w="38100">
            <a:solidFill>
              <a:srgbClr val="FF4F12"/>
            </a:solidFill>
            <a:prstDash val="solid"/>
            <a:headEnd type="none"/>
            <a:tailEnd type="none"/>
          </a:ln>
        </p:spPr>
      </p:sp>
      <p:sp>
        <p:nvSpPr>
          <p:cNvPr id="9" name="Text 7"/>
          <p:cNvSpPr/>
          <p:nvPr/>
        </p:nvSpPr>
        <p:spPr>
          <a:xfrm>
            <a:off x="685800" y="4480560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</a:rPr>
              <a:t>Не методология и не набор церемоний — система приоритетов для работы в условиях неопределённости.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85800" y="598932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8A2B3"/>
                </a:solidFill>
              </a:rPr>
              <a:t>2001 → сегодня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66928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018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Почему появился Agile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12648" y="105156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67085"/>
                </a:solidFill>
              </a:rPr>
              <a:t>Контекст важнее терминологии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94360" y="1554480"/>
            <a:ext cx="3657600" cy="3977640"/>
          </a:xfrm>
          <a:prstGeom prst="roundRect">
            <a:avLst>
              <a:gd name="adj" fmla="val 2000"/>
            </a:avLst>
          </a:prstGeom>
          <a:solidFill>
            <a:srgbClr val="101828"/>
          </a:solidFill>
          <a:ln w="12700">
            <a:solidFill>
              <a:srgbClr val="101828"/>
            </a:solidFill>
            <a:prstDash val="solid"/>
          </a:ln>
          <a:effectLst>
            <a:outerShdw blurRad="25400" dist="50800" dir="2700000" algn="bl" rotWithShape="0">
              <a:srgbClr val="000000">
                <a:alpha val="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938528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</a:rPr>
              <a:t>2001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914400" y="26517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Snowbird, Utah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24128" y="3246120"/>
            <a:ext cx="2788920" cy="1417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D0D5DD"/>
                </a:solidFill>
              </a:rPr>
              <a:t>17 практиков разработки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D0D5DD"/>
                </a:solidFill>
              </a:rPr>
              <a:t>3 дня обсуждений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D0D5DD"/>
                </a:solidFill>
              </a:rPr>
              <a:t>1 короткий манифест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1280160" y="4892040"/>
            <a:ext cx="2240280" cy="0"/>
          </a:xfrm>
          <a:prstGeom prst="line">
            <a:avLst/>
          </a:prstGeom>
          <a:noFill/>
          <a:ln w="38100">
            <a:solidFill>
              <a:srgbClr val="FF4F1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26280" y="1664208"/>
            <a:ext cx="6583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D2939"/>
                </a:solidFill>
              </a:rPr>
              <a:t>Общий запрос: уйти от тяжеловесной, документ-центричной разработки к более адаптивной.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572000" y="2852928"/>
            <a:ext cx="438912" cy="438912"/>
          </a:xfrm>
          <a:prstGeom prst="ellipse">
            <a:avLst/>
          </a:prstGeom>
          <a:solidFill>
            <a:srgbClr val="7700FF"/>
          </a:solidFill>
          <a:ln w="12700">
            <a:solidFill>
              <a:srgbClr val="7700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0" y="2903220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166360" y="288036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1828"/>
                </a:solidFill>
              </a:rPr>
              <a:t>Проблема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0" y="2862072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30" dirty="0">
                <a:solidFill>
                  <a:srgbClr val="667085"/>
                </a:solidFill>
              </a:rPr>
              <a:t>Требования меняются быстрее, чем завершается длинный цикл разработки.</a:t>
            </a:r>
            <a:endParaRPr lang="en-US" sz="1130" dirty="0"/>
          </a:p>
        </p:txBody>
      </p:sp>
      <p:sp>
        <p:nvSpPr>
          <p:cNvPr id="14" name="Shape 12"/>
          <p:cNvSpPr/>
          <p:nvPr/>
        </p:nvSpPr>
        <p:spPr>
          <a:xfrm>
            <a:off x="4572000" y="3767328"/>
            <a:ext cx="438912" cy="438912"/>
          </a:xfrm>
          <a:prstGeom prst="ellipse">
            <a:avLst/>
          </a:prstGeom>
          <a:solidFill>
            <a:srgbClr val="FF4F12"/>
          </a:solidFill>
          <a:ln w="12700">
            <a:solidFill>
              <a:srgbClr val="FF4F1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0" y="3817620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166360" y="379476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1828"/>
                </a:solidFill>
              </a:rPr>
              <a:t>Наблюдение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0" y="3776472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30" dirty="0">
                <a:solidFill>
                  <a:srgbClr val="667085"/>
                </a:solidFill>
              </a:rPr>
              <a:t>План полезен, но реальные знания о продукте появляются по ходу работы.</a:t>
            </a:r>
            <a:endParaRPr lang="en-US" sz="1130" dirty="0"/>
          </a:p>
        </p:txBody>
      </p:sp>
      <p:sp>
        <p:nvSpPr>
          <p:cNvPr id="18" name="Shape 16"/>
          <p:cNvSpPr/>
          <p:nvPr/>
        </p:nvSpPr>
        <p:spPr>
          <a:xfrm>
            <a:off x="4572000" y="4681728"/>
            <a:ext cx="438912" cy="438912"/>
          </a:xfrm>
          <a:prstGeom prst="ellipse">
            <a:avLst/>
          </a:prstGeom>
          <a:solidFill>
            <a:srgbClr val="2E90FA"/>
          </a:solidFill>
          <a:ln w="12700">
            <a:solidFill>
              <a:srgbClr val="2E90F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0" y="4732020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166360" y="470916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1828"/>
                </a:solidFill>
              </a:rPr>
              <a:t>Ответ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00800" y="4690872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30" dirty="0">
                <a:solidFill>
                  <a:srgbClr val="667085"/>
                </a:solidFill>
              </a:rPr>
              <a:t>Короткие циклы, частая обратная связь, работающий результат и сотрудничество.</a:t>
            </a:r>
            <a:endParaRPr lang="en-US" sz="1130" dirty="0"/>
          </a:p>
        </p:txBody>
      </p:sp>
      <p:sp>
        <p:nvSpPr>
          <p:cNvPr id="22" name="Text 20"/>
          <p:cNvSpPr/>
          <p:nvPr/>
        </p:nvSpPr>
        <p:spPr>
          <a:xfrm>
            <a:off x="594360" y="6446520"/>
            <a:ext cx="4389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98A2B3"/>
                </a:solidFill>
              </a:rPr>
              <a:t>Источник: agilemanifesto.org/history</a:t>
            </a:r>
            <a:endParaRPr lang="en-US" sz="7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48288" y="6446520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98A2B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66928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018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Четыре ценности Agile Manifesto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12648" y="105156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67085"/>
                </a:solidFill>
              </a:rPr>
              <a:t>Ключевое слово — «важнее», а не «вместо»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94360" y="1572768"/>
            <a:ext cx="5349240" cy="1901952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blurRad="25400" dist="50800" dir="2700000" algn="bl" rotWithShape="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50392" y="1783080"/>
            <a:ext cx="676656" cy="310896"/>
          </a:xfrm>
          <a:prstGeom prst="roundRect">
            <a:avLst>
              <a:gd name="adj" fmla="val 23529"/>
            </a:avLst>
          </a:prstGeom>
          <a:solidFill>
            <a:srgbClr val="F1E8FF"/>
          </a:solidFill>
          <a:ln w="12700">
            <a:solidFill>
              <a:srgbClr val="F1E8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23544" y="1837944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7700FF"/>
                </a:solidFill>
              </a:rPr>
              <a:t>01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850392" y="2231136"/>
            <a:ext cx="214884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01828"/>
                </a:solidFill>
              </a:rPr>
              <a:t>Люди и</a:t>
            </a:r>
            <a:endParaRPr lang="en-US" sz="1800" dirty="0"/>
          </a:p>
          <a:p>
            <a:pPr marL="0" indent="0">
              <a:buNone/>
            </a:pPr>
            <a:r>
              <a:rPr lang="en-US" sz="1800" b="1" dirty="0">
                <a:solidFill>
                  <a:srgbClr val="101828"/>
                </a:solidFill>
              </a:rPr>
              <a:t>взаимодействие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044952" y="2441448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7700FF"/>
                </a:solidFill>
              </a:rPr>
              <a:t>важнее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749040" y="2212848"/>
            <a:ext cx="0" cy="822960"/>
          </a:xfrm>
          <a:prstGeom prst="line">
            <a:avLst/>
          </a:prstGeom>
          <a:noFill/>
          <a:ln w="19050">
            <a:solidFill>
              <a:srgbClr val="E4E7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995928" y="2231136"/>
            <a:ext cx="16642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667085"/>
                </a:solidFill>
              </a:rPr>
              <a:t>процессов и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667085"/>
                </a:solidFill>
              </a:rPr>
              <a:t>инструментов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217920" y="1572768"/>
            <a:ext cx="5349240" cy="1901952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blurRad="25400" dist="50800" dir="2700000" algn="bl" rotWithShape="0">
              <a:srgbClr val="000000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73952" y="1783080"/>
            <a:ext cx="676656" cy="310896"/>
          </a:xfrm>
          <a:prstGeom prst="roundRect">
            <a:avLst>
              <a:gd name="adj" fmla="val 23529"/>
            </a:avLst>
          </a:prstGeom>
          <a:solidFill>
            <a:srgbClr val="FFF0EA"/>
          </a:solidFill>
          <a:ln w="12700">
            <a:solidFill>
              <a:srgbClr val="FFF0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47104" y="1837944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4F12"/>
                </a:solidFill>
              </a:rPr>
              <a:t>02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473952" y="2231136"/>
            <a:ext cx="214884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01828"/>
                </a:solidFill>
              </a:rPr>
              <a:t>Работающий</a:t>
            </a:r>
            <a:endParaRPr lang="en-US" sz="1800" dirty="0"/>
          </a:p>
          <a:p>
            <a:pPr marL="0" indent="0">
              <a:buNone/>
            </a:pPr>
            <a:r>
              <a:rPr lang="en-US" sz="1800" b="1" dirty="0">
                <a:solidFill>
                  <a:srgbClr val="101828"/>
                </a:solidFill>
              </a:rPr>
              <a:t>продукт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668512" y="2441448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4F12"/>
                </a:solidFill>
              </a:rPr>
              <a:t>важнее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9372600" y="2212848"/>
            <a:ext cx="0" cy="822960"/>
          </a:xfrm>
          <a:prstGeom prst="line">
            <a:avLst/>
          </a:prstGeom>
          <a:noFill/>
          <a:ln w="19050">
            <a:solidFill>
              <a:srgbClr val="E4E7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19488" y="2231136"/>
            <a:ext cx="16642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667085"/>
                </a:solidFill>
              </a:rPr>
              <a:t>исчерпывающей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667085"/>
                </a:solidFill>
              </a:rPr>
              <a:t>документации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94360" y="3813048"/>
            <a:ext cx="5349240" cy="1901952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blurRad="25400" dist="50800" dir="2700000" algn="bl" rotWithShape="0">
              <a:srgbClr val="000000">
                <a:alpha val="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50392" y="4023360"/>
            <a:ext cx="676656" cy="310896"/>
          </a:xfrm>
          <a:prstGeom prst="roundRect">
            <a:avLst>
              <a:gd name="adj" fmla="val 23529"/>
            </a:avLst>
          </a:prstGeom>
          <a:solidFill>
            <a:srgbClr val="EAF4FF"/>
          </a:solidFill>
          <a:ln w="12700">
            <a:solidFill>
              <a:srgbClr val="EAF4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23544" y="4078224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E90FA"/>
                </a:solidFill>
              </a:rPr>
              <a:t>03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850392" y="4471416"/>
            <a:ext cx="214884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01828"/>
                </a:solidFill>
              </a:rPr>
              <a:t>Сотрудничество</a:t>
            </a:r>
            <a:endParaRPr lang="en-US" sz="1800" dirty="0"/>
          </a:p>
          <a:p>
            <a:pPr marL="0" indent="0">
              <a:buNone/>
            </a:pPr>
            <a:r>
              <a:rPr lang="en-US" sz="1800" b="1" dirty="0">
                <a:solidFill>
                  <a:srgbClr val="101828"/>
                </a:solidFill>
              </a:rPr>
              <a:t>с заказчиком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3044952" y="4681728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E90FA"/>
                </a:solidFill>
              </a:rPr>
              <a:t>важнее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749040" y="4453128"/>
            <a:ext cx="0" cy="822960"/>
          </a:xfrm>
          <a:prstGeom prst="line">
            <a:avLst/>
          </a:prstGeom>
          <a:noFill/>
          <a:ln w="19050">
            <a:solidFill>
              <a:srgbClr val="E4E7E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995928" y="4471416"/>
            <a:ext cx="16642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667085"/>
                </a:solidFill>
              </a:rPr>
              <a:t>согласования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667085"/>
                </a:solidFill>
              </a:rPr>
              <a:t>условий контракта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217920" y="3813048"/>
            <a:ext cx="5349240" cy="1901952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blurRad="25400" dist="50800" dir="2700000" algn="bl" rotWithShape="0">
              <a:srgbClr val="000000">
                <a:alpha val="6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473952" y="4023360"/>
            <a:ext cx="676656" cy="310896"/>
          </a:xfrm>
          <a:prstGeom prst="roundRect">
            <a:avLst>
              <a:gd name="adj" fmla="val 23529"/>
            </a:avLst>
          </a:prstGeom>
          <a:solidFill>
            <a:srgbClr val="EAFBF3"/>
          </a:solidFill>
          <a:ln w="12700">
            <a:solidFill>
              <a:srgbClr val="EAFBF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47104" y="4078224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2B76A"/>
                </a:solidFill>
              </a:rPr>
              <a:t>04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473952" y="4471416"/>
            <a:ext cx="214884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01828"/>
                </a:solidFill>
              </a:rPr>
              <a:t>Готовность к</a:t>
            </a:r>
            <a:endParaRPr lang="en-US" sz="1800" dirty="0"/>
          </a:p>
          <a:p>
            <a:pPr marL="0" indent="0">
              <a:buNone/>
            </a:pPr>
            <a:r>
              <a:rPr lang="en-US" sz="1800" b="1" dirty="0">
                <a:solidFill>
                  <a:srgbClr val="101828"/>
                </a:solidFill>
              </a:rPr>
              <a:t>изменениям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8668512" y="4681728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2B76A"/>
                </a:solidFill>
              </a:rPr>
              <a:t>важнее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9372600" y="4453128"/>
            <a:ext cx="0" cy="822960"/>
          </a:xfrm>
          <a:prstGeom prst="line">
            <a:avLst/>
          </a:prstGeom>
          <a:noFill/>
          <a:ln w="19050">
            <a:solidFill>
              <a:srgbClr val="E4E7E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619488" y="4471416"/>
            <a:ext cx="16642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667085"/>
                </a:solidFill>
              </a:rPr>
              <a:t>следования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667085"/>
                </a:solidFill>
              </a:rPr>
              <a:t>первоначальному плану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143000" y="6053328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30" i="1" dirty="0">
                <a:solidFill>
                  <a:srgbClr val="344054"/>
                </a:solidFill>
              </a:rPr>
              <a:t>То есть, не отрицая важности того, что справа, мы всё-таки больше ценим то, что слева.</a:t>
            </a:r>
            <a:endParaRPr lang="en-US" sz="1130" dirty="0"/>
          </a:p>
        </p:txBody>
      </p:sp>
      <p:sp>
        <p:nvSpPr>
          <p:cNvPr id="33" name="Text 31"/>
          <p:cNvSpPr/>
          <p:nvPr/>
        </p:nvSpPr>
        <p:spPr>
          <a:xfrm>
            <a:off x="594360" y="6446520"/>
            <a:ext cx="4389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98A2B3"/>
                </a:solidFill>
              </a:rPr>
              <a:t>Источник: agilemanifesto.org/iso/ru/manifesto.html</a:t>
            </a:r>
            <a:endParaRPr lang="en-US" sz="720" dirty="0"/>
          </a:p>
        </p:txBody>
      </p:sp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48288" y="6446520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98A2B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66928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018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01. Люди и взаимодействие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94360" y="1417320"/>
            <a:ext cx="10972800" cy="1371600"/>
          </a:xfrm>
          <a:prstGeom prst="roundRect">
            <a:avLst>
              <a:gd name="adj" fmla="val 5333"/>
            </a:avLst>
          </a:prstGeom>
          <a:solidFill>
            <a:srgbClr val="F1E8FF"/>
          </a:solidFill>
          <a:ln w="12700">
            <a:solidFill>
              <a:srgbClr val="F1E8FF"/>
            </a:solidFill>
            <a:prstDash val="solid"/>
          </a:ln>
          <a:effectLst>
            <a:outerShdw blurRad="25400" dist="50800" dir="2700000" algn="bl" rotWithShape="0">
              <a:srgbClr val="000000">
                <a:alpha val="6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96112" y="1737360"/>
            <a:ext cx="4251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01828"/>
                </a:solidFill>
              </a:rPr>
              <a:t>Люди и взаимодействие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212080" y="1865376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700FF"/>
                </a:solidFill>
              </a:rPr>
              <a:t>важнее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73952" y="1737360"/>
            <a:ext cx="4434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dirty="0">
                <a:solidFill>
                  <a:srgbClr val="667085"/>
                </a:solidFill>
              </a:rPr>
              <a:t>процессов и инструментов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594360" y="3154680"/>
            <a:ext cx="3456432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blurRad="25400" dist="50800" dir="2700000" algn="bl" rotWithShape="0">
              <a:srgbClr val="000000">
                <a:alpha val="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22960" y="3410712"/>
            <a:ext cx="438912" cy="438912"/>
          </a:xfrm>
          <a:prstGeom prst="ellipse">
            <a:avLst/>
          </a:prstGeom>
          <a:solidFill>
            <a:srgbClr val="7700FF"/>
          </a:solidFill>
          <a:ln w="12700">
            <a:solidFill>
              <a:srgbClr val="7700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3461004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389888" y="3465576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1828"/>
                </a:solidFill>
              </a:rPr>
              <a:t>Что это значит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2960" y="4005072"/>
            <a:ext cx="2971800" cy="11430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667085"/>
                </a:solidFill>
              </a:rPr>
              <a:t>Процесс помогает, но не заменяет ответственность, доверие и прямое общение между людьми.</a:t>
            </a:r>
            <a:endParaRPr lang="en-US" sz="1120" dirty="0"/>
          </a:p>
        </p:txBody>
      </p:sp>
      <p:sp>
        <p:nvSpPr>
          <p:cNvPr id="12" name="Shape 10"/>
          <p:cNvSpPr/>
          <p:nvPr/>
        </p:nvSpPr>
        <p:spPr>
          <a:xfrm>
            <a:off x="4297680" y="3154680"/>
            <a:ext cx="3456432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blurRad="25400" dist="50800" dir="2700000" algn="bl" rotWithShape="0">
              <a:srgbClr val="000000">
                <a:alpha val="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26280" y="3410712"/>
            <a:ext cx="438912" cy="438912"/>
          </a:xfrm>
          <a:prstGeom prst="ellipse">
            <a:avLst/>
          </a:prstGeom>
          <a:solidFill>
            <a:srgbClr val="D92D20"/>
          </a:solidFill>
          <a:ln w="12700">
            <a:solidFill>
              <a:srgbClr val="D92D2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26280" y="3461004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!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93208" y="3465576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1828"/>
                </a:solidFill>
              </a:rPr>
              <a:t>Антипаттерн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26280" y="4005072"/>
            <a:ext cx="2971800" cy="11430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667085"/>
                </a:solidFill>
              </a:rPr>
              <a:t>«В </a:t>
            </a:r>
            <a:r>
              <a:rPr lang="ru-RU" sz="1120" dirty="0">
                <a:solidFill>
                  <a:srgbClr val="667085"/>
                </a:solidFill>
              </a:rPr>
              <a:t>системе</a:t>
            </a:r>
            <a:r>
              <a:rPr lang="en-US" sz="1120" dirty="0">
                <a:solidFill>
                  <a:srgbClr val="667085"/>
                </a:solidFill>
              </a:rPr>
              <a:t> всё написано» — и поэтому никто не разговаривает о рисках, допущениях и смысле задачи.</a:t>
            </a:r>
            <a:endParaRPr lang="en-US" sz="1120" dirty="0"/>
          </a:p>
        </p:txBody>
      </p:sp>
      <p:sp>
        <p:nvSpPr>
          <p:cNvPr id="17" name="Shape 15"/>
          <p:cNvSpPr/>
          <p:nvPr/>
        </p:nvSpPr>
        <p:spPr>
          <a:xfrm>
            <a:off x="8001000" y="3154680"/>
            <a:ext cx="3456432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blurRad="25400" dist="50800" dir="2700000" algn="bl" rotWithShape="0">
              <a:srgbClr val="000000">
                <a:alpha val="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229600" y="3410712"/>
            <a:ext cx="438912" cy="438912"/>
          </a:xfrm>
          <a:prstGeom prst="ellipse">
            <a:avLst/>
          </a:prstGeom>
          <a:solidFill>
            <a:srgbClr val="12B76A"/>
          </a:solidFill>
          <a:ln w="12700">
            <a:solidFill>
              <a:srgbClr val="12B76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0" y="3461004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→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796528" y="3465576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1828"/>
                </a:solidFill>
              </a:rPr>
              <a:t>Практический эффект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229600" y="4005072"/>
            <a:ext cx="2971800" cy="11430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667085"/>
                </a:solidFill>
              </a:rPr>
              <a:t>Команда быстрее снимает неопределённость, договаривается и принимает решения на месте.</a:t>
            </a:r>
            <a:endParaRPr lang="en-US" sz="1120" dirty="0"/>
          </a:p>
        </p:txBody>
      </p:sp>
      <p:sp>
        <p:nvSpPr>
          <p:cNvPr id="22" name="Text 20"/>
          <p:cNvSpPr/>
          <p:nvPr/>
        </p:nvSpPr>
        <p:spPr>
          <a:xfrm>
            <a:off x="594360" y="6446520"/>
            <a:ext cx="4389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98A2B3"/>
                </a:solidFill>
              </a:rPr>
              <a:t>Источник: Agile Manifesto, 2001</a:t>
            </a:r>
            <a:endParaRPr lang="en-US" sz="7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48288" y="6446520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98A2B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66928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018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02. Работающий продукт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94360" y="1417320"/>
            <a:ext cx="10972800" cy="1371600"/>
          </a:xfrm>
          <a:prstGeom prst="roundRect">
            <a:avLst>
              <a:gd name="adj" fmla="val 5333"/>
            </a:avLst>
          </a:prstGeom>
          <a:solidFill>
            <a:srgbClr val="FFF0EA"/>
          </a:solidFill>
          <a:ln w="12700">
            <a:solidFill>
              <a:srgbClr val="FFF0EA"/>
            </a:solidFill>
            <a:prstDash val="solid"/>
          </a:ln>
          <a:effectLst>
            <a:outerShdw blurRad="25400" dist="50800" dir="2700000" algn="bl" rotWithShape="0">
              <a:srgbClr val="000000">
                <a:alpha val="6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96112" y="1737360"/>
            <a:ext cx="4251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01828"/>
                </a:solidFill>
              </a:rPr>
              <a:t>Работающий продукт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212080" y="1865376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4F12"/>
                </a:solidFill>
              </a:rPr>
              <a:t>важнее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73952" y="1737360"/>
            <a:ext cx="4434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dirty="0">
                <a:solidFill>
                  <a:srgbClr val="667085"/>
                </a:solidFill>
              </a:rPr>
              <a:t>исчерпывающей документации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594360" y="3154680"/>
            <a:ext cx="3456432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blurRad="25400" dist="50800" dir="2700000" algn="bl" rotWithShape="0">
              <a:srgbClr val="000000">
                <a:alpha val="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22960" y="3410712"/>
            <a:ext cx="438912" cy="438912"/>
          </a:xfrm>
          <a:prstGeom prst="ellipse">
            <a:avLst/>
          </a:prstGeom>
          <a:solidFill>
            <a:srgbClr val="FF4F12"/>
          </a:solidFill>
          <a:ln w="12700">
            <a:solidFill>
              <a:srgbClr val="FF4F1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3461004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389888" y="3465576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1828"/>
                </a:solidFill>
              </a:rPr>
              <a:t>Что это значит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2960" y="4005072"/>
            <a:ext cx="2971800" cy="11430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667085"/>
                </a:solidFill>
              </a:rPr>
              <a:t>Ценность подтверждается работающим результатом, а не объёмом описаний, схем и отчётов.</a:t>
            </a:r>
            <a:endParaRPr lang="en-US" sz="1120" dirty="0"/>
          </a:p>
        </p:txBody>
      </p:sp>
      <p:sp>
        <p:nvSpPr>
          <p:cNvPr id="12" name="Shape 10"/>
          <p:cNvSpPr/>
          <p:nvPr/>
        </p:nvSpPr>
        <p:spPr>
          <a:xfrm>
            <a:off x="4297680" y="3154680"/>
            <a:ext cx="3456432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blurRad="25400" dist="50800" dir="2700000" algn="bl" rotWithShape="0">
              <a:srgbClr val="000000">
                <a:alpha val="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26280" y="3410712"/>
            <a:ext cx="438912" cy="438912"/>
          </a:xfrm>
          <a:prstGeom prst="ellipse">
            <a:avLst/>
          </a:prstGeom>
          <a:solidFill>
            <a:srgbClr val="D92D20"/>
          </a:solidFill>
          <a:ln w="12700">
            <a:solidFill>
              <a:srgbClr val="D92D2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26280" y="3461004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!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93208" y="3465576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1828"/>
                </a:solidFill>
              </a:rPr>
              <a:t>Антипаттерн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26280" y="4005072"/>
            <a:ext cx="2971800" cy="11430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667085"/>
                </a:solidFill>
              </a:rPr>
              <a:t>Документация идеальна, но пользователю нечего попробовать — обратная связь откладывается до конца.</a:t>
            </a:r>
            <a:endParaRPr lang="en-US" sz="1120" dirty="0"/>
          </a:p>
        </p:txBody>
      </p:sp>
      <p:sp>
        <p:nvSpPr>
          <p:cNvPr id="17" name="Shape 15"/>
          <p:cNvSpPr/>
          <p:nvPr/>
        </p:nvSpPr>
        <p:spPr>
          <a:xfrm>
            <a:off x="8001000" y="3154680"/>
            <a:ext cx="3456432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blurRad="25400" dist="50800" dir="2700000" algn="bl" rotWithShape="0">
              <a:srgbClr val="000000">
                <a:alpha val="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229600" y="3410712"/>
            <a:ext cx="438912" cy="438912"/>
          </a:xfrm>
          <a:prstGeom prst="ellipse">
            <a:avLst/>
          </a:prstGeom>
          <a:solidFill>
            <a:srgbClr val="12B76A"/>
          </a:solidFill>
          <a:ln w="12700">
            <a:solidFill>
              <a:srgbClr val="12B76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0" y="3461004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→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796528" y="3465576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1828"/>
                </a:solidFill>
              </a:rPr>
              <a:t>Практический эффект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229600" y="4005072"/>
            <a:ext cx="2971800" cy="11430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667085"/>
                </a:solidFill>
              </a:rPr>
              <a:t>Ранние инкременты показывают, что действительно работает, и снижают стоимость ошибки.</a:t>
            </a:r>
            <a:endParaRPr lang="en-US" sz="1120" dirty="0"/>
          </a:p>
        </p:txBody>
      </p:sp>
      <p:sp>
        <p:nvSpPr>
          <p:cNvPr id="22" name="Text 20"/>
          <p:cNvSpPr/>
          <p:nvPr/>
        </p:nvSpPr>
        <p:spPr>
          <a:xfrm>
            <a:off x="594360" y="6446520"/>
            <a:ext cx="4389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98A2B3"/>
                </a:solidFill>
              </a:rPr>
              <a:t>Источник: Agile Manifesto, 2001</a:t>
            </a:r>
            <a:endParaRPr lang="en-US" sz="7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48288" y="6446520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98A2B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66928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018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03. Сотрудничество с заказчиком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94360" y="1417320"/>
            <a:ext cx="10972800" cy="1371600"/>
          </a:xfrm>
          <a:prstGeom prst="roundRect">
            <a:avLst>
              <a:gd name="adj" fmla="val 5333"/>
            </a:avLst>
          </a:prstGeom>
          <a:solidFill>
            <a:srgbClr val="EAF4FF"/>
          </a:solidFill>
          <a:ln w="12700">
            <a:solidFill>
              <a:srgbClr val="EAF4FF"/>
            </a:solidFill>
            <a:prstDash val="solid"/>
          </a:ln>
          <a:effectLst>
            <a:outerShdw blurRad="25400" dist="50800" dir="2700000" algn="bl" rotWithShape="0">
              <a:srgbClr val="000000">
                <a:alpha val="6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96112" y="1737360"/>
            <a:ext cx="4251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01828"/>
                </a:solidFill>
              </a:rPr>
              <a:t>Сотрудничество с заказчиком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212080" y="1865376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90FA"/>
                </a:solidFill>
              </a:rPr>
              <a:t>важнее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73952" y="1737360"/>
            <a:ext cx="4434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dirty="0">
                <a:solidFill>
                  <a:srgbClr val="667085"/>
                </a:solidFill>
              </a:rPr>
              <a:t>согласования условий контракта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594360" y="3154680"/>
            <a:ext cx="3456432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blurRad="25400" dist="50800" dir="2700000" algn="bl" rotWithShape="0">
              <a:srgbClr val="000000">
                <a:alpha val="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22960" y="3410712"/>
            <a:ext cx="438912" cy="438912"/>
          </a:xfrm>
          <a:prstGeom prst="ellipse">
            <a:avLst/>
          </a:prstGeom>
          <a:solidFill>
            <a:srgbClr val="2E90FA"/>
          </a:solidFill>
          <a:ln w="12700">
            <a:solidFill>
              <a:srgbClr val="2E90F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3461004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389888" y="3465576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1828"/>
                </a:solidFill>
              </a:rPr>
              <a:t>Что это значит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2960" y="4005072"/>
            <a:ext cx="2971800" cy="11430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667085"/>
                </a:solidFill>
              </a:rPr>
              <a:t>Отношения с заказчиком — живой контур совместного поиска решения, а не только фиксация обязательств.</a:t>
            </a:r>
            <a:endParaRPr lang="en-US" sz="1120" dirty="0"/>
          </a:p>
        </p:txBody>
      </p:sp>
      <p:sp>
        <p:nvSpPr>
          <p:cNvPr id="12" name="Shape 10"/>
          <p:cNvSpPr/>
          <p:nvPr/>
        </p:nvSpPr>
        <p:spPr>
          <a:xfrm>
            <a:off x="4297680" y="3154680"/>
            <a:ext cx="3456432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blurRad="25400" dist="50800" dir="2700000" algn="bl" rotWithShape="0">
              <a:srgbClr val="000000">
                <a:alpha val="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26280" y="3410712"/>
            <a:ext cx="438912" cy="438912"/>
          </a:xfrm>
          <a:prstGeom prst="ellipse">
            <a:avLst/>
          </a:prstGeom>
          <a:solidFill>
            <a:srgbClr val="D92D20"/>
          </a:solidFill>
          <a:ln w="12700">
            <a:solidFill>
              <a:srgbClr val="D92D2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26280" y="3461004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!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93208" y="3465576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1828"/>
                </a:solidFill>
              </a:rPr>
              <a:t>Антипаттерн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26280" y="4005072"/>
            <a:ext cx="2971800" cy="11430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667085"/>
                </a:solidFill>
              </a:rPr>
              <a:t>Любое изменение превращается в спор «это не было написано в ТЗ», даже если ценность очевидна.</a:t>
            </a:r>
            <a:endParaRPr lang="en-US" sz="1120" dirty="0"/>
          </a:p>
        </p:txBody>
      </p:sp>
      <p:sp>
        <p:nvSpPr>
          <p:cNvPr id="17" name="Shape 15"/>
          <p:cNvSpPr/>
          <p:nvPr/>
        </p:nvSpPr>
        <p:spPr>
          <a:xfrm>
            <a:off x="8001000" y="3154680"/>
            <a:ext cx="3456432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blurRad="25400" dist="50800" dir="2700000" algn="bl" rotWithShape="0">
              <a:srgbClr val="000000">
                <a:alpha val="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229600" y="3410712"/>
            <a:ext cx="438912" cy="438912"/>
          </a:xfrm>
          <a:prstGeom prst="ellipse">
            <a:avLst/>
          </a:prstGeom>
          <a:solidFill>
            <a:srgbClr val="12B76A"/>
          </a:solidFill>
          <a:ln w="12700">
            <a:solidFill>
              <a:srgbClr val="12B76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0" y="3461004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→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796528" y="3465576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1828"/>
                </a:solidFill>
              </a:rPr>
              <a:t>Практический эффект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229600" y="4005072"/>
            <a:ext cx="2971800" cy="11430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667085"/>
                </a:solidFill>
              </a:rPr>
              <a:t>Регулярная синхронизация помогает корректировать приоритеты до того, как ошибка станет дорогой.</a:t>
            </a:r>
            <a:endParaRPr lang="en-US" sz="1120" dirty="0"/>
          </a:p>
        </p:txBody>
      </p:sp>
      <p:sp>
        <p:nvSpPr>
          <p:cNvPr id="22" name="Text 20"/>
          <p:cNvSpPr/>
          <p:nvPr/>
        </p:nvSpPr>
        <p:spPr>
          <a:xfrm>
            <a:off x="594360" y="6446520"/>
            <a:ext cx="4389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98A2B3"/>
                </a:solidFill>
              </a:rPr>
              <a:t>Источник: Agile Manifesto, 2001</a:t>
            </a:r>
            <a:endParaRPr lang="en-US" sz="7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48288" y="6446520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98A2B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66928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018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04. Готовность к изменениям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94360" y="1417320"/>
            <a:ext cx="10972800" cy="1371600"/>
          </a:xfrm>
          <a:prstGeom prst="roundRect">
            <a:avLst>
              <a:gd name="adj" fmla="val 5333"/>
            </a:avLst>
          </a:prstGeom>
          <a:solidFill>
            <a:srgbClr val="EAFBF3"/>
          </a:solidFill>
          <a:ln w="12700">
            <a:solidFill>
              <a:srgbClr val="EAFBF3"/>
            </a:solidFill>
            <a:prstDash val="solid"/>
          </a:ln>
          <a:effectLst>
            <a:outerShdw blurRad="25400" dist="50800" dir="2700000" algn="bl" rotWithShape="0">
              <a:srgbClr val="000000">
                <a:alpha val="6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96112" y="1737360"/>
            <a:ext cx="4251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01828"/>
                </a:solidFill>
              </a:rPr>
              <a:t>Готовность к изменениям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212080" y="1865376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2B76A"/>
                </a:solidFill>
              </a:rPr>
              <a:t>важнее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73952" y="1737360"/>
            <a:ext cx="4434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dirty="0">
                <a:solidFill>
                  <a:srgbClr val="667085"/>
                </a:solidFill>
              </a:rPr>
              <a:t>следования первоначальному плану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594360" y="3154680"/>
            <a:ext cx="3456432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blurRad="25400" dist="50800" dir="2700000" algn="bl" rotWithShape="0">
              <a:srgbClr val="000000">
                <a:alpha val="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22960" y="3410712"/>
            <a:ext cx="438912" cy="438912"/>
          </a:xfrm>
          <a:prstGeom prst="ellipse">
            <a:avLst/>
          </a:prstGeom>
          <a:solidFill>
            <a:srgbClr val="12B76A"/>
          </a:solidFill>
          <a:ln w="12700">
            <a:solidFill>
              <a:srgbClr val="12B76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3461004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389888" y="3465576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1828"/>
                </a:solidFill>
              </a:rPr>
              <a:t>Что это значит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2960" y="4005072"/>
            <a:ext cx="2971800" cy="11430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667085"/>
                </a:solidFill>
              </a:rPr>
              <a:t>План — гипотеза. Новые данные должны менять решение, если это повышает ценность результата.</a:t>
            </a:r>
            <a:endParaRPr lang="en-US" sz="1120" dirty="0"/>
          </a:p>
        </p:txBody>
      </p:sp>
      <p:sp>
        <p:nvSpPr>
          <p:cNvPr id="12" name="Shape 10"/>
          <p:cNvSpPr/>
          <p:nvPr/>
        </p:nvSpPr>
        <p:spPr>
          <a:xfrm>
            <a:off x="4297680" y="3154680"/>
            <a:ext cx="3456432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blurRad="25400" dist="50800" dir="2700000" algn="bl" rotWithShape="0">
              <a:srgbClr val="000000">
                <a:alpha val="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26280" y="3410712"/>
            <a:ext cx="438912" cy="438912"/>
          </a:xfrm>
          <a:prstGeom prst="ellipse">
            <a:avLst/>
          </a:prstGeom>
          <a:solidFill>
            <a:srgbClr val="D92D20"/>
          </a:solidFill>
          <a:ln w="12700">
            <a:solidFill>
              <a:srgbClr val="D92D2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26280" y="3461004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!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93208" y="3465576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1828"/>
                </a:solidFill>
              </a:rPr>
              <a:t>Антипаттерн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26280" y="4005072"/>
            <a:ext cx="2971800" cy="11430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667085"/>
                </a:solidFill>
              </a:rPr>
              <a:t>Команда продолжает делать устаревший объём только потому, что он был утверждён месяц назад.</a:t>
            </a:r>
            <a:endParaRPr lang="en-US" sz="1120" dirty="0"/>
          </a:p>
        </p:txBody>
      </p:sp>
      <p:sp>
        <p:nvSpPr>
          <p:cNvPr id="17" name="Shape 15"/>
          <p:cNvSpPr/>
          <p:nvPr/>
        </p:nvSpPr>
        <p:spPr>
          <a:xfrm>
            <a:off x="8001000" y="3154680"/>
            <a:ext cx="3456432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blurRad="25400" dist="50800" dir="2700000" algn="bl" rotWithShape="0">
              <a:srgbClr val="000000">
                <a:alpha val="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229600" y="3410712"/>
            <a:ext cx="438912" cy="438912"/>
          </a:xfrm>
          <a:prstGeom prst="ellipse">
            <a:avLst/>
          </a:prstGeom>
          <a:solidFill>
            <a:srgbClr val="12B76A"/>
          </a:solidFill>
          <a:ln w="12700">
            <a:solidFill>
              <a:srgbClr val="12B76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0" y="3461004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→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796528" y="3465576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1828"/>
                </a:solidFill>
              </a:rPr>
              <a:t>Практический эффект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229600" y="4005072"/>
            <a:ext cx="2971800" cy="11430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667085"/>
                </a:solidFill>
              </a:rPr>
              <a:t>Короткие циклы позволяют менять курс без полного перезапуска проекта.</a:t>
            </a:r>
            <a:endParaRPr lang="en-US" sz="1120" dirty="0"/>
          </a:p>
        </p:txBody>
      </p:sp>
      <p:sp>
        <p:nvSpPr>
          <p:cNvPr id="22" name="Text 20"/>
          <p:cNvSpPr/>
          <p:nvPr/>
        </p:nvSpPr>
        <p:spPr>
          <a:xfrm>
            <a:off x="594360" y="6446520"/>
            <a:ext cx="4389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98A2B3"/>
                </a:solidFill>
              </a:rPr>
              <a:t>Источник: Agile Manifesto, 2001</a:t>
            </a:r>
            <a:endParaRPr lang="en-US" sz="7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48288" y="6446520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98A2B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66928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018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Что на самом деле означает «важнее»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12648" y="105156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67085"/>
                </a:solidFill>
              </a:rPr>
              <a:t>Agile не выбрасывает правую часть — он меняет приоритет при конфликте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731520" y="1746504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101828"/>
                </a:solidFill>
              </a:rPr>
              <a:t>Люди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913632" y="1600200"/>
            <a:ext cx="4160520" cy="640080"/>
          </a:xfrm>
          <a:prstGeom prst="roundRect">
            <a:avLst>
              <a:gd name="adj" fmla="val 14286"/>
            </a:avLst>
          </a:prstGeom>
          <a:solidFill>
            <a:srgbClr val="ECE4FF"/>
          </a:solidFill>
          <a:ln w="12700">
            <a:solidFill>
              <a:srgbClr val="ECE4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913632" y="1600200"/>
            <a:ext cx="3063240" cy="640080"/>
          </a:xfrm>
          <a:prstGeom prst="roundRect">
            <a:avLst>
              <a:gd name="adj" fmla="val 14286"/>
            </a:avLst>
          </a:prstGeom>
          <a:solidFill>
            <a:srgbClr val="7700FF"/>
          </a:solidFill>
          <a:ln w="12700">
            <a:solidFill>
              <a:srgbClr val="7700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663440" y="1764792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приоритет при конфликте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8339328" y="1746504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67085"/>
                </a:solidFill>
              </a:rPr>
              <a:t>Процессы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31520" y="2779776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101828"/>
                </a:solidFill>
              </a:rPr>
              <a:t>Работающий результат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913632" y="2633472"/>
            <a:ext cx="4160520" cy="640080"/>
          </a:xfrm>
          <a:prstGeom prst="roundRect">
            <a:avLst>
              <a:gd name="adj" fmla="val 14286"/>
            </a:avLst>
          </a:prstGeom>
          <a:solidFill>
            <a:srgbClr val="ECE4FF"/>
          </a:solidFill>
          <a:ln w="12700">
            <a:solidFill>
              <a:srgbClr val="ECE4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913632" y="2633472"/>
            <a:ext cx="3200400" cy="640080"/>
          </a:xfrm>
          <a:prstGeom prst="roundRect">
            <a:avLst>
              <a:gd name="adj" fmla="val 14286"/>
            </a:avLst>
          </a:prstGeom>
          <a:solidFill>
            <a:srgbClr val="FF4F12"/>
          </a:solidFill>
          <a:ln w="12700">
            <a:solidFill>
              <a:srgbClr val="FF4F1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3440" y="2798064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приоритет при конфликте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8339328" y="2779776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67085"/>
                </a:solidFill>
              </a:rPr>
              <a:t>Документация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31520" y="381304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101828"/>
                </a:solidFill>
              </a:rPr>
              <a:t>Сотрудничество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913632" y="3666744"/>
            <a:ext cx="4160520" cy="640080"/>
          </a:xfrm>
          <a:prstGeom prst="roundRect">
            <a:avLst>
              <a:gd name="adj" fmla="val 14286"/>
            </a:avLst>
          </a:prstGeom>
          <a:solidFill>
            <a:srgbClr val="ECE4FF"/>
          </a:solidFill>
          <a:ln w="12700">
            <a:solidFill>
              <a:srgbClr val="ECE4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913632" y="3666744"/>
            <a:ext cx="2971800" cy="640080"/>
          </a:xfrm>
          <a:prstGeom prst="roundRect">
            <a:avLst>
              <a:gd name="adj" fmla="val 14286"/>
            </a:avLst>
          </a:prstGeom>
          <a:solidFill>
            <a:srgbClr val="2E90FA"/>
          </a:solidFill>
          <a:ln w="12700">
            <a:solidFill>
              <a:srgbClr val="2E90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63440" y="3831336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приоритет при конфликте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8339328" y="381304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67085"/>
                </a:solidFill>
              </a:rPr>
              <a:t>Контракт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31520" y="48463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101828"/>
                </a:solidFill>
              </a:rPr>
              <a:t>Изменение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913632" y="4700016"/>
            <a:ext cx="4160520" cy="640080"/>
          </a:xfrm>
          <a:prstGeom prst="roundRect">
            <a:avLst>
              <a:gd name="adj" fmla="val 14286"/>
            </a:avLst>
          </a:prstGeom>
          <a:solidFill>
            <a:srgbClr val="ECE4FF"/>
          </a:solidFill>
          <a:ln w="12700">
            <a:solidFill>
              <a:srgbClr val="ECE4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913632" y="4700016"/>
            <a:ext cx="3154680" cy="640080"/>
          </a:xfrm>
          <a:prstGeom prst="roundRect">
            <a:avLst>
              <a:gd name="adj" fmla="val 14286"/>
            </a:avLst>
          </a:prstGeom>
          <a:solidFill>
            <a:srgbClr val="12B76A"/>
          </a:solidFill>
          <a:ln w="12700">
            <a:solidFill>
              <a:srgbClr val="12B76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63440" y="4864608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приоритет при конфликте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8339328" y="484632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67085"/>
                </a:solidFill>
              </a:rPr>
              <a:t>План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1417320" y="5806440"/>
            <a:ext cx="9326880" cy="566928"/>
          </a:xfrm>
          <a:prstGeom prst="roundRect">
            <a:avLst>
              <a:gd name="adj" fmla="val 12903"/>
            </a:avLst>
          </a:prstGeom>
          <a:solidFill>
            <a:srgbClr val="101828"/>
          </a:solidFill>
          <a:ln w="12700">
            <a:solidFill>
              <a:srgbClr val="10182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691640" y="5961888"/>
            <a:ext cx="8778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Если «правая» часть помогает поставлять ценность — она нужна. Если начинает мешать — приоритет у «левой».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594360" y="6446520"/>
            <a:ext cx="4389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98A2B3"/>
                </a:solidFill>
              </a:rPr>
              <a:t>Источник: agilemanifesto.org/iso/ru/manifesto.html</a:t>
            </a:r>
            <a:endParaRPr lang="en-US" sz="72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48288" y="6446520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98A2B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66928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018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12 принципов — в четырёх смысловых блоках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12648" y="105156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67085"/>
                </a:solidFill>
              </a:rPr>
              <a:t>Можно запомнить не 12 формулировок, а четыре идеи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94360" y="1508760"/>
            <a:ext cx="5321808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blurRad="25400" dist="50800" dir="2700000" algn="bl" rotWithShape="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709928"/>
            <a:ext cx="804672" cy="310896"/>
          </a:xfrm>
          <a:prstGeom prst="roundRect">
            <a:avLst>
              <a:gd name="adj" fmla="val 23529"/>
            </a:avLst>
          </a:prstGeom>
          <a:solidFill>
            <a:srgbClr val="F1E8FF"/>
          </a:solidFill>
          <a:ln w="12700">
            <a:solidFill>
              <a:srgbClr val="F1E8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1764792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7700FF"/>
                </a:solidFill>
              </a:rPr>
              <a:t>01–03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783080" y="1746504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01828"/>
                </a:solidFill>
              </a:rPr>
              <a:t>Ценность для заказчика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2286000"/>
            <a:ext cx="4617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</a:rPr>
              <a:t>• Ранняя и регулярная поставка ценности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914400" y="2633472"/>
            <a:ext cx="4617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</a:rPr>
              <a:t>• Изменения допустимы даже поздно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914400" y="2980944"/>
            <a:ext cx="4617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</a:rPr>
              <a:t>• Поставляйте работающий продукт часто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217920" y="1508760"/>
            <a:ext cx="5321808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blurRad="25400" dist="50800" dir="2700000" algn="bl" rotWithShape="0">
              <a:srgbClr val="000000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46520" y="1709928"/>
            <a:ext cx="804672" cy="310896"/>
          </a:xfrm>
          <a:prstGeom prst="roundRect">
            <a:avLst>
              <a:gd name="adj" fmla="val 23529"/>
            </a:avLst>
          </a:prstGeom>
          <a:solidFill>
            <a:srgbClr val="EAF4FF"/>
          </a:solidFill>
          <a:ln w="12700">
            <a:solidFill>
              <a:srgbClr val="EAF4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19672" y="1764792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E90FA"/>
                </a:solidFill>
              </a:rPr>
              <a:t>04–06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7406640" y="1746504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01828"/>
                </a:solidFill>
              </a:rPr>
              <a:t>Люди и сотрудничество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537960" y="2286000"/>
            <a:ext cx="4617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</a:rPr>
              <a:t>• Бизнес и разработка работают вместе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537960" y="2633472"/>
            <a:ext cx="4617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</a:rPr>
              <a:t>• Опора на мотивированных профессионалов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537960" y="2980944"/>
            <a:ext cx="4617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</a:rPr>
              <a:t>• Прямое общение — самый эффективный канал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94360" y="3813048"/>
            <a:ext cx="5321808" cy="2121408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blurRad="25400" dist="50800" dir="2700000" algn="bl" rotWithShape="0">
              <a:srgbClr val="000000">
                <a:alpha val="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22960" y="4014216"/>
            <a:ext cx="804672" cy="310896"/>
          </a:xfrm>
          <a:prstGeom prst="roundRect">
            <a:avLst>
              <a:gd name="adj" fmla="val 23529"/>
            </a:avLst>
          </a:prstGeom>
          <a:solidFill>
            <a:srgbClr val="FFF0EA"/>
          </a:solidFill>
          <a:ln w="12700">
            <a:solidFill>
              <a:srgbClr val="FFF0E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96112" y="4069080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4F12"/>
                </a:solidFill>
              </a:rPr>
              <a:t>07–10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783080" y="4050792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01828"/>
                </a:solidFill>
              </a:rPr>
              <a:t>Качество и устойчивость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14400" y="4590288"/>
            <a:ext cx="4617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</a:rPr>
              <a:t>• Работающий продукт — мера прогресса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914400" y="4937760"/>
            <a:ext cx="4617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</a:rPr>
              <a:t>• Устойчивый темп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914400" y="5285232"/>
            <a:ext cx="4617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</a:rPr>
              <a:t>• Техническое совершенство и хороший дизайн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914400" y="5632704"/>
            <a:ext cx="4617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</a:rPr>
              <a:t>• Простота: не делать лишнее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217920" y="3813048"/>
            <a:ext cx="5321808" cy="2121408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blurRad="25400" dist="50800" dir="2700000" algn="bl" rotWithShape="0">
              <a:srgbClr val="000000">
                <a:alpha val="6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446520" y="4014216"/>
            <a:ext cx="804672" cy="310896"/>
          </a:xfrm>
          <a:prstGeom prst="roundRect">
            <a:avLst>
              <a:gd name="adj" fmla="val 23529"/>
            </a:avLst>
          </a:prstGeom>
          <a:solidFill>
            <a:srgbClr val="EAFBF3"/>
          </a:solidFill>
          <a:ln w="12700">
            <a:solidFill>
              <a:srgbClr val="EAFBF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19672" y="4069080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2B76A"/>
                </a:solidFill>
              </a:rPr>
              <a:t>11–12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7406640" y="4050792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01828"/>
                </a:solidFill>
              </a:rPr>
              <a:t>Самоорганизация и улучшение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6537960" y="4590288"/>
            <a:ext cx="4617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</a:rPr>
              <a:t>• Лучшие решения рождаются внутри команды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537960" y="4937760"/>
            <a:ext cx="4617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</a:rPr>
              <a:t>• Регулярная рефлексия и корректировка способа работы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594360" y="6446520"/>
            <a:ext cx="4389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98A2B3"/>
                </a:solidFill>
              </a:rPr>
              <a:t>Источник: agilemanifesto.org/iso/ru/principles.html</a:t>
            </a:r>
            <a:endParaRPr lang="en-US" sz="720" dirty="0"/>
          </a:p>
        </p:txBody>
      </p:sp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48288" y="6446520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98A2B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66928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018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Agile ≠ Scrum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12648" y="105156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67085"/>
                </a:solidFill>
              </a:rPr>
              <a:t>Манифест задаёт ценности; фреймворки и практики — способы их реализовать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731520" y="1920240"/>
            <a:ext cx="3154680" cy="2377440"/>
          </a:xfrm>
          <a:prstGeom prst="roundRect">
            <a:avLst>
              <a:gd name="adj" fmla="val 3077"/>
            </a:avLst>
          </a:prstGeom>
          <a:solidFill>
            <a:srgbClr val="F1E8FF"/>
          </a:solidFill>
          <a:ln w="12700">
            <a:solidFill>
              <a:srgbClr val="F1E8FF"/>
            </a:solidFill>
            <a:prstDash val="solid"/>
          </a:ln>
          <a:effectLst>
            <a:outerShdw blurRad="25400" dist="50800" dir="2700000" algn="bl" rotWithShape="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24128" y="2212848"/>
            <a:ext cx="109728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2267712"/>
            <a:ext cx="9509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7700FF"/>
                </a:solidFill>
              </a:rPr>
              <a:t>01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024128" y="2880360"/>
            <a:ext cx="2569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01828"/>
                </a:solidFill>
              </a:rPr>
              <a:t>AGILE MANIFESTO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51560" y="347472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667085"/>
                </a:solidFill>
              </a:rPr>
              <a:t>Ценности + принципы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069080" y="2743200"/>
            <a:ext cx="347472" cy="548640"/>
          </a:xfrm>
          <a:prstGeom prst="chevron">
            <a:avLst/>
          </a:prstGeom>
          <a:solidFill>
            <a:srgbClr val="C7D7FE"/>
          </a:solidFill>
          <a:ln w="12700">
            <a:solidFill>
              <a:srgbClr val="C7D7F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26280" y="1920240"/>
            <a:ext cx="3154680" cy="2377440"/>
          </a:xfrm>
          <a:prstGeom prst="roundRect">
            <a:avLst>
              <a:gd name="adj" fmla="val 3077"/>
            </a:avLst>
          </a:prstGeom>
          <a:solidFill>
            <a:srgbClr val="EAF4FF"/>
          </a:solidFill>
          <a:ln w="12700">
            <a:solidFill>
              <a:srgbClr val="EAF4FF"/>
            </a:solidFill>
            <a:prstDash val="solid"/>
          </a:ln>
          <a:effectLst>
            <a:outerShdw blurRad="25400" dist="50800" dir="2700000" algn="bl" rotWithShape="0">
              <a:srgbClr val="000000">
                <a:alpha val="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18888" y="2212848"/>
            <a:ext cx="109728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92040" y="2267712"/>
            <a:ext cx="9509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E90FA"/>
                </a:solidFill>
              </a:rPr>
              <a:t>02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818888" y="2880360"/>
            <a:ext cx="2569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01828"/>
                </a:solidFill>
              </a:rPr>
              <a:t>ФРЕЙМВОРКИ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846320" y="347472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667085"/>
                </a:solidFill>
              </a:rPr>
              <a:t>Scrum · Kanban · XP · другие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863840" y="2743200"/>
            <a:ext cx="347472" cy="548640"/>
          </a:xfrm>
          <a:prstGeom prst="chevron">
            <a:avLst/>
          </a:prstGeom>
          <a:solidFill>
            <a:srgbClr val="C7D7FE"/>
          </a:solidFill>
          <a:ln w="12700">
            <a:solidFill>
              <a:srgbClr val="C7D7F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21040" y="1920240"/>
            <a:ext cx="3154680" cy="2377440"/>
          </a:xfrm>
          <a:prstGeom prst="roundRect">
            <a:avLst>
              <a:gd name="adj" fmla="val 3077"/>
            </a:avLst>
          </a:prstGeom>
          <a:solidFill>
            <a:srgbClr val="FFF0EA"/>
          </a:solidFill>
          <a:ln w="12700">
            <a:solidFill>
              <a:srgbClr val="FFF0EA"/>
            </a:solidFill>
            <a:prstDash val="solid"/>
          </a:ln>
          <a:effectLst>
            <a:outerShdw blurRad="25400" dist="50800" dir="2700000" algn="bl" rotWithShape="0">
              <a:srgbClr val="000000">
                <a:alpha val="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613648" y="2212848"/>
            <a:ext cx="109728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0" y="2267712"/>
            <a:ext cx="9509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4F12"/>
                </a:solidFill>
              </a:rPr>
              <a:t>03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8613648" y="2880360"/>
            <a:ext cx="2569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01828"/>
                </a:solidFill>
              </a:rPr>
              <a:t>ПРАКТИКИ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641080" y="347472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667085"/>
                </a:solidFill>
              </a:rPr>
              <a:t>Review · CI/CD · Retro ·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188720" y="4937760"/>
            <a:ext cx="9829800" cy="960120"/>
          </a:xfrm>
          <a:prstGeom prst="roundRect">
            <a:avLst>
              <a:gd name="adj" fmla="val 7619"/>
            </a:avLst>
          </a:prstGeom>
          <a:solidFill>
            <a:srgbClr val="101828"/>
          </a:solidFill>
          <a:ln w="12700">
            <a:solidFill>
              <a:srgbClr val="10182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54480" y="5257800"/>
            <a:ext cx="9098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Команда может проводить Daily и Sprint Review — и всё равно быть не Agile, если не умеет быстро учиться и менять курс.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48288" y="6446520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98A2B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66928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018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Как меняется логика проекта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12648" y="105156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67085"/>
                </a:solidFill>
              </a:rPr>
              <a:t>Не «сначала всё спланировать», а «короткий цикл → результат → обратная связь → корректировка»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85800" y="16002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67085"/>
                </a:solidFill>
              </a:rPr>
              <a:t>Длинный цикл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057400" y="1481328"/>
            <a:ext cx="1371600" cy="566928"/>
          </a:xfrm>
          <a:prstGeom prst="roundRect">
            <a:avLst>
              <a:gd name="adj" fmla="val 12903"/>
            </a:avLst>
          </a:prstGeom>
          <a:solidFill>
            <a:srgbClr val="EAECF0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130552" y="1664208"/>
            <a:ext cx="1225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344054"/>
                </a:solidFill>
              </a:rPr>
              <a:t>Требования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483864" y="1627632"/>
            <a:ext cx="201168" cy="274320"/>
          </a:xfrm>
          <a:prstGeom prst="chevron">
            <a:avLst/>
          </a:prstGeom>
          <a:solidFill>
            <a:srgbClr val="D0D5DD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776472" y="1481328"/>
            <a:ext cx="1371600" cy="566928"/>
          </a:xfrm>
          <a:prstGeom prst="roundRect">
            <a:avLst>
              <a:gd name="adj" fmla="val 12903"/>
            </a:avLst>
          </a:prstGeom>
          <a:solidFill>
            <a:srgbClr val="EAECF0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9624" y="1664208"/>
            <a:ext cx="1225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344054"/>
                </a:solidFill>
              </a:rPr>
              <a:t>Дизайн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202936" y="1627632"/>
            <a:ext cx="201168" cy="274320"/>
          </a:xfrm>
          <a:prstGeom prst="chevron">
            <a:avLst/>
          </a:prstGeom>
          <a:solidFill>
            <a:srgbClr val="D0D5DD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95544" y="1481328"/>
            <a:ext cx="1371600" cy="566928"/>
          </a:xfrm>
          <a:prstGeom prst="roundRect">
            <a:avLst>
              <a:gd name="adj" fmla="val 12903"/>
            </a:avLst>
          </a:prstGeom>
          <a:solidFill>
            <a:srgbClr val="EAECF0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568696" y="1664208"/>
            <a:ext cx="1225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344054"/>
                </a:solidFill>
              </a:rPr>
              <a:t>Разработка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922008" y="1627632"/>
            <a:ext cx="201168" cy="274320"/>
          </a:xfrm>
          <a:prstGeom prst="chevron">
            <a:avLst/>
          </a:prstGeom>
          <a:solidFill>
            <a:srgbClr val="D0D5DD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214616" y="1481328"/>
            <a:ext cx="1371600" cy="566928"/>
          </a:xfrm>
          <a:prstGeom prst="roundRect">
            <a:avLst>
              <a:gd name="adj" fmla="val 12903"/>
            </a:avLst>
          </a:prstGeom>
          <a:solidFill>
            <a:srgbClr val="EAECF0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287768" y="1664208"/>
            <a:ext cx="1225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344054"/>
                </a:solidFill>
              </a:rPr>
              <a:t>Тест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8641080" y="1627632"/>
            <a:ext cx="201168" cy="274320"/>
          </a:xfrm>
          <a:prstGeom prst="chevron">
            <a:avLst/>
          </a:prstGeom>
          <a:solidFill>
            <a:srgbClr val="D0D5DD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933688" y="1481328"/>
            <a:ext cx="1371600" cy="566928"/>
          </a:xfrm>
          <a:prstGeom prst="roundRect">
            <a:avLst>
              <a:gd name="adj" fmla="val 12903"/>
            </a:avLst>
          </a:prstGeom>
          <a:solidFill>
            <a:srgbClr val="EAECF0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006840" y="1664208"/>
            <a:ext cx="1225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344054"/>
                </a:solidFill>
              </a:rPr>
              <a:t>Релиз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9784080" y="2130552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D92D20"/>
                </a:solidFill>
              </a:rPr>
              <a:t>обратная связь поздно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85800" y="290779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1828"/>
                </a:solidFill>
              </a:rPr>
              <a:t>Agile-цикл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011680" y="2743200"/>
            <a:ext cx="1874520" cy="21031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blurRad="25400" dist="50800" dir="2700000" algn="bl" rotWithShape="0">
              <a:srgbClr val="000000">
                <a:alpha val="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267712" y="2971800"/>
            <a:ext cx="658368" cy="310896"/>
          </a:xfrm>
          <a:prstGeom prst="roundRect">
            <a:avLst>
              <a:gd name="adj" fmla="val 23529"/>
            </a:avLst>
          </a:prstGeom>
          <a:solidFill>
            <a:srgbClr val="F1E8FF"/>
          </a:solidFill>
          <a:ln w="12700">
            <a:solidFill>
              <a:srgbClr val="F1E8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340864" y="3026664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7700FF"/>
                </a:solidFill>
              </a:rPr>
              <a:t>Ит. 1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2267712" y="3584448"/>
            <a:ext cx="13533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1828"/>
                </a:solidFill>
              </a:rPr>
              <a:t>Сделали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101828"/>
                </a:solidFill>
              </a:rPr>
              <a:t>минимум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2240280" y="4407408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667085"/>
                </a:solidFill>
              </a:rPr>
              <a:t>Показали пользователю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950208" y="3547872"/>
            <a:ext cx="274320" cy="475488"/>
          </a:xfrm>
          <a:prstGeom prst="chevron">
            <a:avLst/>
          </a:prstGeom>
          <a:solidFill>
            <a:srgbClr val="C7D7FE"/>
          </a:solidFill>
          <a:ln w="12700">
            <a:solidFill>
              <a:srgbClr val="C7D7F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297680" y="2743200"/>
            <a:ext cx="1874520" cy="21031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blurRad="25400" dist="50800" dir="2700000" algn="bl" rotWithShape="0">
              <a:srgbClr val="000000">
                <a:alpha val="6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553712" y="2971800"/>
            <a:ext cx="658368" cy="310896"/>
          </a:xfrm>
          <a:prstGeom prst="roundRect">
            <a:avLst>
              <a:gd name="adj" fmla="val 23529"/>
            </a:avLst>
          </a:prstGeom>
          <a:solidFill>
            <a:srgbClr val="EAF4FF"/>
          </a:solidFill>
          <a:ln w="12700">
            <a:solidFill>
              <a:srgbClr val="EAF4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26864" y="3026664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E90FA"/>
                </a:solidFill>
              </a:rPr>
              <a:t>Ит. 2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553712" y="3584448"/>
            <a:ext cx="13533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1828"/>
                </a:solidFill>
              </a:rPr>
              <a:t>Проверили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101828"/>
                </a:solidFill>
              </a:rPr>
              <a:t>гипотезу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4526280" y="4407408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667085"/>
                </a:solidFill>
              </a:rPr>
              <a:t>Собрали обратную связь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236208" y="3547872"/>
            <a:ext cx="274320" cy="475488"/>
          </a:xfrm>
          <a:prstGeom prst="chevron">
            <a:avLst/>
          </a:prstGeom>
          <a:solidFill>
            <a:srgbClr val="C7D7FE"/>
          </a:solidFill>
          <a:ln w="12700">
            <a:solidFill>
              <a:srgbClr val="C7D7F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583680" y="2743200"/>
            <a:ext cx="1874520" cy="21031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blurRad="25400" dist="50800" dir="2700000" algn="bl" rotWithShape="0">
              <a:srgbClr val="000000">
                <a:alpha val="6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839712" y="2971800"/>
            <a:ext cx="658368" cy="310896"/>
          </a:xfrm>
          <a:prstGeom prst="roundRect">
            <a:avLst>
              <a:gd name="adj" fmla="val 23529"/>
            </a:avLst>
          </a:prstGeom>
          <a:solidFill>
            <a:srgbClr val="FFF0EA"/>
          </a:solidFill>
          <a:ln w="12700">
            <a:solidFill>
              <a:srgbClr val="FFF0E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912864" y="3026664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4F12"/>
                </a:solidFill>
              </a:rPr>
              <a:t>Ит. 3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839712" y="3584448"/>
            <a:ext cx="13533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1828"/>
                </a:solidFill>
              </a:rPr>
              <a:t>Уточнили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101828"/>
                </a:solidFill>
              </a:rPr>
              <a:t>приоритет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6812280" y="4407408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667085"/>
                </a:solidFill>
              </a:rPr>
              <a:t>Изменили backlog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8522208" y="3547872"/>
            <a:ext cx="274320" cy="475488"/>
          </a:xfrm>
          <a:prstGeom prst="chevron">
            <a:avLst/>
          </a:prstGeom>
          <a:solidFill>
            <a:srgbClr val="C7D7FE"/>
          </a:solidFill>
          <a:ln w="12700">
            <a:solidFill>
              <a:srgbClr val="C7D7FE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869680" y="2743200"/>
            <a:ext cx="1874520" cy="21031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blurRad="25400" dist="50800" dir="2700000" algn="bl" rotWithShape="0">
              <a:srgbClr val="000000">
                <a:alpha val="6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9125712" y="2971800"/>
            <a:ext cx="658368" cy="310896"/>
          </a:xfrm>
          <a:prstGeom prst="roundRect">
            <a:avLst>
              <a:gd name="adj" fmla="val 23529"/>
            </a:avLst>
          </a:prstGeom>
          <a:solidFill>
            <a:srgbClr val="EAFBF3"/>
          </a:solidFill>
          <a:ln w="12700">
            <a:solidFill>
              <a:srgbClr val="EAFBF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198864" y="3026664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2B76A"/>
                </a:solidFill>
              </a:rPr>
              <a:t>Ит. 4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9125712" y="3584448"/>
            <a:ext cx="13533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1828"/>
                </a:solidFill>
              </a:rPr>
              <a:t>Усилили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101828"/>
                </a:solidFill>
              </a:rPr>
              <a:t>решение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9098280" y="4407408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667085"/>
                </a:solidFill>
              </a:rPr>
              <a:t>Поставили следующий инкремент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 rot="1200000">
            <a:off x="8641080" y="4617720"/>
            <a:ext cx="1097280" cy="1097280"/>
          </a:xfrm>
          <a:prstGeom prst="arc">
            <a:avLst/>
          </a:prstGeom>
          <a:solidFill>
            <a:srgbClr val="12B76A">
              <a:alpha val="0"/>
            </a:srgbClr>
          </a:solidFill>
          <a:ln w="25400">
            <a:solidFill>
              <a:srgbClr val="12B76A"/>
            </a:solidFill>
            <a:prstDash val="solid"/>
            <a:tailEnd type="triangle"/>
          </a:ln>
        </p:spPr>
      </p:sp>
      <p:sp>
        <p:nvSpPr>
          <p:cNvPr id="45" name="Text 43"/>
          <p:cNvSpPr/>
          <p:nvPr/>
        </p:nvSpPr>
        <p:spPr>
          <a:xfrm>
            <a:off x="7498080" y="553212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2B76A"/>
                </a:solidFill>
              </a:rPr>
              <a:t>Учимся по ходу работы</a:t>
            </a:r>
            <a:endParaRPr lang="en-US" sz="1100" dirty="0"/>
          </a:p>
        </p:txBody>
      </p:sp>
      <p:sp>
        <p:nvSpPr>
          <p:cNvPr id="4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48288" y="6446520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98A2B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66928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018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Как выглядит Agile-команда на практике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12648" y="105156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67085"/>
                </a:solidFill>
              </a:rPr>
              <a:t>Не по количеству церемоний, а по поведению системы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749808" y="1508760"/>
            <a:ext cx="438912" cy="438912"/>
          </a:xfrm>
          <a:prstGeom prst="ellipse">
            <a:avLst/>
          </a:prstGeom>
          <a:solidFill>
            <a:srgbClr val="7700FF"/>
          </a:solidFill>
          <a:ln w="12700">
            <a:solidFill>
              <a:srgbClr val="7700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559052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389888" y="1517904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101828"/>
                </a:solidFill>
              </a:rPr>
              <a:t>Результат виден часто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709160" y="1499616"/>
            <a:ext cx="6217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667085"/>
                </a:solidFill>
              </a:rPr>
              <a:t>Есть короткий ритм поставки или демонстрации работающего результата.</a:t>
            </a:r>
            <a:endParaRPr lang="en-US" sz="1080" dirty="0"/>
          </a:p>
        </p:txBody>
      </p:sp>
      <p:sp>
        <p:nvSpPr>
          <p:cNvPr id="8" name="Shape 6"/>
          <p:cNvSpPr/>
          <p:nvPr/>
        </p:nvSpPr>
        <p:spPr>
          <a:xfrm>
            <a:off x="1389888" y="2093976"/>
            <a:ext cx="9601200" cy="0"/>
          </a:xfrm>
          <a:prstGeom prst="line">
            <a:avLst/>
          </a:prstGeom>
          <a:noFill/>
          <a:ln w="12700">
            <a:solidFill>
              <a:srgbClr val="E4E7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49808" y="2423160"/>
            <a:ext cx="438912" cy="438912"/>
          </a:xfrm>
          <a:prstGeom prst="ellipse">
            <a:avLst/>
          </a:prstGeom>
          <a:solidFill>
            <a:srgbClr val="2E90FA"/>
          </a:solidFill>
          <a:ln w="12700">
            <a:solidFill>
              <a:srgbClr val="2E90F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" y="2473452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389888" y="2432304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101828"/>
                </a:solidFill>
              </a:rPr>
              <a:t>Обратная связь влияет на backlog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709160" y="2414016"/>
            <a:ext cx="6217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667085"/>
                </a:solidFill>
              </a:rPr>
              <a:t>После review или разговора с пользователем приоритеты действительно меняются.</a:t>
            </a:r>
            <a:endParaRPr lang="en-US" sz="1080" dirty="0"/>
          </a:p>
        </p:txBody>
      </p:sp>
      <p:sp>
        <p:nvSpPr>
          <p:cNvPr id="13" name="Shape 11"/>
          <p:cNvSpPr/>
          <p:nvPr/>
        </p:nvSpPr>
        <p:spPr>
          <a:xfrm>
            <a:off x="1389888" y="3008376"/>
            <a:ext cx="9601200" cy="0"/>
          </a:xfrm>
          <a:prstGeom prst="line">
            <a:avLst/>
          </a:prstGeom>
          <a:noFill/>
          <a:ln w="12700">
            <a:solidFill>
              <a:srgbClr val="E4E7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49808" y="3337560"/>
            <a:ext cx="438912" cy="438912"/>
          </a:xfrm>
          <a:prstGeom prst="ellipse">
            <a:avLst/>
          </a:prstGeom>
          <a:solidFill>
            <a:srgbClr val="FF4F12"/>
          </a:solidFill>
          <a:ln w="12700">
            <a:solidFill>
              <a:srgbClr val="FF4F1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9808" y="3387852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389888" y="3346704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101828"/>
                </a:solidFill>
              </a:rPr>
              <a:t>Риски обсуждаются рано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4709160" y="3328416"/>
            <a:ext cx="6217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667085"/>
                </a:solidFill>
              </a:rPr>
              <a:t>Проблемы не прячутся до статуса — команда быстро поднимает неопределённость.</a:t>
            </a:r>
            <a:endParaRPr lang="en-US" sz="1080" dirty="0"/>
          </a:p>
        </p:txBody>
      </p:sp>
      <p:sp>
        <p:nvSpPr>
          <p:cNvPr id="18" name="Shape 16"/>
          <p:cNvSpPr/>
          <p:nvPr/>
        </p:nvSpPr>
        <p:spPr>
          <a:xfrm>
            <a:off x="1389888" y="3922776"/>
            <a:ext cx="9601200" cy="0"/>
          </a:xfrm>
          <a:prstGeom prst="line">
            <a:avLst/>
          </a:prstGeom>
          <a:noFill/>
          <a:ln w="12700">
            <a:solidFill>
              <a:srgbClr val="E4E7E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49808" y="4251960"/>
            <a:ext cx="438912" cy="438912"/>
          </a:xfrm>
          <a:prstGeom prst="ellipse">
            <a:avLst/>
          </a:prstGeom>
          <a:solidFill>
            <a:srgbClr val="12B76A"/>
          </a:solidFill>
          <a:ln w="12700">
            <a:solidFill>
              <a:srgbClr val="12B76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9808" y="4302252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389888" y="4261104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101828"/>
                </a:solidFill>
              </a:rPr>
              <a:t>Качество не откладывается «на потом»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4709160" y="4242816"/>
            <a:ext cx="6217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667085"/>
                </a:solidFill>
              </a:rPr>
              <a:t>Тестирование, архитектура, автоматизация и техдолг встроены в поток работы.</a:t>
            </a:r>
            <a:endParaRPr lang="en-US" sz="1080" dirty="0"/>
          </a:p>
        </p:txBody>
      </p:sp>
      <p:sp>
        <p:nvSpPr>
          <p:cNvPr id="23" name="Shape 21"/>
          <p:cNvSpPr/>
          <p:nvPr/>
        </p:nvSpPr>
        <p:spPr>
          <a:xfrm>
            <a:off x="1389888" y="4837176"/>
            <a:ext cx="9601200" cy="0"/>
          </a:xfrm>
          <a:prstGeom prst="line">
            <a:avLst/>
          </a:prstGeom>
          <a:noFill/>
          <a:ln w="12700">
            <a:solidFill>
              <a:srgbClr val="E4E7E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49808" y="5166360"/>
            <a:ext cx="438912" cy="438912"/>
          </a:xfrm>
          <a:prstGeom prst="ellipse">
            <a:avLst/>
          </a:prstGeom>
          <a:solidFill>
            <a:srgbClr val="9B51E0"/>
          </a:solidFill>
          <a:ln w="12700">
            <a:solidFill>
              <a:srgbClr val="9B51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9808" y="5216652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389888" y="5175504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101828"/>
                </a:solidFill>
              </a:rPr>
              <a:t>Команда улучшает сам способ работы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4709160" y="5157216"/>
            <a:ext cx="6217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667085"/>
                </a:solidFill>
              </a:rPr>
              <a:t>Ретроспектива приводит к конкретным экспериментам и изменениям.</a:t>
            </a:r>
            <a:endParaRPr lang="en-US" sz="1080" dirty="0"/>
          </a:p>
        </p:txBody>
      </p:sp>
      <p:sp>
        <p:nvSpPr>
          <p:cNvPr id="28" name="Shape 26"/>
          <p:cNvSpPr/>
          <p:nvPr/>
        </p:nvSpPr>
        <p:spPr>
          <a:xfrm>
            <a:off x="1188720" y="5989320"/>
            <a:ext cx="9784080" cy="438912"/>
          </a:xfrm>
          <a:prstGeom prst="roundRect">
            <a:avLst>
              <a:gd name="adj" fmla="val 16667"/>
            </a:avLst>
          </a:prstGeom>
          <a:solidFill>
            <a:srgbClr val="101828"/>
          </a:solidFill>
          <a:ln w="12700">
            <a:solidFill>
              <a:srgbClr val="10182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463040" y="6099048"/>
            <a:ext cx="9235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FFFFFF"/>
                </a:solidFill>
              </a:rPr>
              <a:t>Если практика не улучшает обратную связь, ценность или адаптацию — возможно, это просто ритуал.</a:t>
            </a:r>
            <a:endParaRPr lang="en-US" sz="108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48288" y="6446520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98A2B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66928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018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Где здесь Agile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12648" y="105156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67085"/>
                </a:solidFill>
              </a:rPr>
              <a:t>Agile хорошо поддерживает продуктовую разработку, но сам по себе не превращает проект в продукт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731520" y="1691640"/>
            <a:ext cx="3063240" cy="338328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blurRad="25400" dist="50800" dir="2700000" algn="bl" rotWithShape="0">
              <a:srgbClr val="000000">
                <a:alpha val="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234440" y="208483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7700FF"/>
                </a:solidFill>
              </a:rPr>
              <a:t>ПРОЕКТ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143000" y="2880360"/>
            <a:ext cx="2240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344054"/>
                </a:solidFill>
              </a:rPr>
              <a:t>Может выполняться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344054"/>
                </a:solidFill>
              </a:rPr>
              <a:t>каскадно, итеративно,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344054"/>
                </a:solidFill>
              </a:rPr>
              <a:t>Agile или гибридно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995928" y="2834640"/>
            <a:ext cx="548640" cy="731520"/>
          </a:xfrm>
          <a:prstGeom prst="chevron">
            <a:avLst/>
          </a:prstGeom>
          <a:solidFill>
            <a:srgbClr val="C7D7FE"/>
          </a:solidFill>
          <a:ln w="12700">
            <a:solidFill>
              <a:srgbClr val="C7D7F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800600" y="1691640"/>
            <a:ext cx="3063240" cy="3383280"/>
          </a:xfrm>
          <a:prstGeom prst="roundRect">
            <a:avLst>
              <a:gd name="adj" fmla="val 2388"/>
            </a:avLst>
          </a:prstGeom>
          <a:solidFill>
            <a:srgbClr val="F1E8FF"/>
          </a:solidFill>
          <a:ln w="12700">
            <a:solidFill>
              <a:srgbClr val="F1E8FF"/>
            </a:solidFill>
            <a:prstDash val="solid"/>
          </a:ln>
          <a:effectLst>
            <a:outerShdw blurRad="25400" dist="50800" dir="2700000" algn="bl" rotWithShape="0">
              <a:srgbClr val="000000">
                <a:alpha val="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303520" y="2084832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7700FF"/>
                </a:solidFill>
              </a:rPr>
              <a:t>AGILE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5193792" y="274320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20" dirty="0">
                <a:solidFill>
                  <a:srgbClr val="344054"/>
                </a:solidFill>
              </a:rPr>
              <a:t>Ценности и принципы</a:t>
            </a:r>
            <a:endParaRPr lang="en-US" sz="1320" dirty="0"/>
          </a:p>
          <a:p>
            <a:pPr marL="0" indent="0" algn="ctr">
              <a:buNone/>
            </a:pPr>
            <a:r>
              <a:rPr lang="en-US" sz="1320" dirty="0">
                <a:solidFill>
                  <a:srgbClr val="344054"/>
                </a:solidFill>
              </a:rPr>
              <a:t>адаптивной работы:</a:t>
            </a:r>
            <a:endParaRPr lang="en-US" sz="1320" dirty="0"/>
          </a:p>
          <a:p>
            <a:pPr marL="0" indent="0" algn="ctr">
              <a:buNone/>
            </a:pPr>
            <a:r>
              <a:rPr lang="en-US" sz="1320" dirty="0">
                <a:solidFill>
                  <a:srgbClr val="344054"/>
                </a:solidFill>
              </a:rPr>
              <a:t>короткие циклы, feedback,</a:t>
            </a:r>
            <a:endParaRPr lang="en-US" sz="1320" dirty="0"/>
          </a:p>
          <a:p>
            <a:pPr marL="0" indent="0" algn="ctr">
              <a:buNone/>
            </a:pPr>
            <a:r>
              <a:rPr lang="en-US" sz="1320" dirty="0">
                <a:solidFill>
                  <a:srgbClr val="344054"/>
                </a:solidFill>
              </a:rPr>
              <a:t>готовность к изменениям</a:t>
            </a:r>
            <a:endParaRPr lang="en-US" sz="1320" dirty="0"/>
          </a:p>
        </p:txBody>
      </p:sp>
      <p:sp>
        <p:nvSpPr>
          <p:cNvPr id="11" name="Shape 9"/>
          <p:cNvSpPr/>
          <p:nvPr/>
        </p:nvSpPr>
        <p:spPr>
          <a:xfrm>
            <a:off x="8065008" y="2834640"/>
            <a:ext cx="548640" cy="731520"/>
          </a:xfrm>
          <a:prstGeom prst="chevron">
            <a:avLst/>
          </a:prstGeom>
          <a:solidFill>
            <a:srgbClr val="FFD6C6"/>
          </a:solidFill>
          <a:ln w="12700">
            <a:solidFill>
              <a:srgbClr val="FFD6C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869680" y="1691640"/>
            <a:ext cx="2606040" cy="3383280"/>
          </a:xfrm>
          <a:prstGeom prst="roundRect">
            <a:avLst>
              <a:gd name="adj" fmla="val 2807"/>
            </a:avLst>
          </a:prstGeom>
          <a:solidFill>
            <a:srgbClr val="FFF0EA"/>
          </a:solidFill>
          <a:ln w="12700">
            <a:solidFill>
              <a:srgbClr val="FFF0EA"/>
            </a:solidFill>
            <a:prstDash val="solid"/>
          </a:ln>
          <a:effectLst>
            <a:outerShdw blurRad="25400" dist="50800" dir="2700000" algn="bl" rotWithShape="0">
              <a:srgbClr val="000000">
                <a:alpha val="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9281160" y="2084832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4F12"/>
                </a:solidFill>
              </a:rPr>
              <a:t>ПРОДУКТ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9189720" y="2651760"/>
            <a:ext cx="1965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344054"/>
                </a:solidFill>
              </a:rPr>
              <a:t>Долгоживущая система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344054"/>
                </a:solidFill>
              </a:rPr>
              <a:t>создания ценности,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344054"/>
                </a:solidFill>
              </a:rPr>
              <a:t>где Agile часто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344054"/>
                </a:solidFill>
              </a:rPr>
              <a:t>становится естественным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344054"/>
                </a:solidFill>
              </a:rPr>
              <a:t>способом работы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1371600" y="5486400"/>
            <a:ext cx="9464040" cy="621792"/>
          </a:xfrm>
          <a:prstGeom prst="roundRect">
            <a:avLst>
              <a:gd name="adj" fmla="val 11765"/>
            </a:avLst>
          </a:prstGeom>
          <a:solidFill>
            <a:srgbClr val="101828"/>
          </a:solidFill>
          <a:ln w="12700">
            <a:solidFill>
              <a:srgbClr val="10182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691640" y="5650992"/>
            <a:ext cx="8869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 algn="ctr">
              <a:buNone/>
            </a:pPr>
            <a:r>
              <a:rPr lang="en-US" sz="1090" b="1" dirty="0">
                <a:solidFill>
                  <a:srgbClr val="FFFFFF"/>
                </a:solidFill>
              </a:rPr>
              <a:t>Agile отвечает на вопрос «как адаптивно работать». Продуктовый подход — «что развивать и зачем». Проектный — «как достичь конкретного результата».</a:t>
            </a:r>
            <a:endParaRPr lang="en-US" sz="1090" dirty="0"/>
          </a:p>
        </p:txBody>
      </p:sp>
      <p:sp>
        <p:nvSpPr>
          <p:cNvPr id="17" name="Text 15"/>
          <p:cNvSpPr/>
          <p:nvPr/>
        </p:nvSpPr>
        <p:spPr>
          <a:xfrm>
            <a:off x="594360" y="6446520"/>
            <a:ext cx="5669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98A2B3"/>
                </a:solidFill>
              </a:rPr>
              <a:t>Источник: Agile Manifesto, 2001</a:t>
            </a:r>
            <a:endParaRPr lang="en-US" sz="7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48288" y="6446520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98A2B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7700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ВОПРОСЫ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018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Четыре ценности: что бы вы выбрали в конфликте?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76072" y="1234440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В каждой ситуации обе стороны нужны. Вопрос — чему отдать приоритет прямо сейчас.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58368" y="1837944"/>
            <a:ext cx="475488" cy="475488"/>
          </a:xfrm>
          <a:prstGeom prst="ellipse">
            <a:avLst/>
          </a:prstGeom>
          <a:solidFill>
            <a:srgbClr val="7700FF"/>
          </a:solidFill>
          <a:ln w="12700">
            <a:solidFill>
              <a:srgbClr val="7700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947672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307592" y="1783080"/>
            <a:ext cx="4754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101828"/>
                </a:solidFill>
              </a:rPr>
              <a:t>Команда спорит о шаблоне отчёта, но блокирующая проблема не решается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63640" y="1801368"/>
            <a:ext cx="2148840" cy="347472"/>
          </a:xfrm>
          <a:prstGeom prst="roundRect">
            <a:avLst>
              <a:gd name="adj" fmla="val 21053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36792" y="1879092"/>
            <a:ext cx="20025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Процесс и инструменты</a:t>
            </a:r>
            <a:endParaRPr lang="en-US" sz="920" dirty="0"/>
          </a:p>
        </p:txBody>
      </p:sp>
      <p:sp>
        <p:nvSpPr>
          <p:cNvPr id="10" name="Text 8"/>
          <p:cNvSpPr/>
          <p:nvPr/>
        </p:nvSpPr>
        <p:spPr>
          <a:xfrm>
            <a:off x="8485632" y="1883664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7085"/>
                </a:solidFill>
              </a:rPr>
              <a:t>или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8942832" y="1801368"/>
            <a:ext cx="2331720" cy="347472"/>
          </a:xfrm>
          <a:prstGeom prst="roundRect">
            <a:avLst>
              <a:gd name="adj" fmla="val 21053"/>
            </a:avLst>
          </a:prstGeom>
          <a:solidFill>
            <a:srgbClr val="F1E8FF"/>
          </a:solidFill>
          <a:ln w="12700">
            <a:solidFill>
              <a:srgbClr val="F1E8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015984" y="1879092"/>
            <a:ext cx="21854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7700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Люди и взаимодействие</a:t>
            </a:r>
            <a:endParaRPr lang="en-US" sz="920" dirty="0"/>
          </a:p>
        </p:txBody>
      </p:sp>
      <p:sp>
        <p:nvSpPr>
          <p:cNvPr id="13" name="Shape 11"/>
          <p:cNvSpPr/>
          <p:nvPr/>
        </p:nvSpPr>
        <p:spPr>
          <a:xfrm>
            <a:off x="658368" y="2798064"/>
            <a:ext cx="475488" cy="475488"/>
          </a:xfrm>
          <a:prstGeom prst="ellipse">
            <a:avLst/>
          </a:prstGeom>
          <a:solidFill>
            <a:srgbClr val="FF4F12"/>
          </a:solidFill>
          <a:ln w="12700">
            <a:solidFill>
              <a:srgbClr val="FF4F1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" y="2907792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307592" y="2743200"/>
            <a:ext cx="4754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101828"/>
                </a:solidFill>
              </a:rPr>
              <a:t>Документация идеальна, но пользователь не может выполнить ключевую операцию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63640" y="2761488"/>
            <a:ext cx="2148840" cy="347472"/>
          </a:xfrm>
          <a:prstGeom prst="roundRect">
            <a:avLst>
              <a:gd name="adj" fmla="val 21053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36792" y="2839212"/>
            <a:ext cx="20025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Исчерпывающая документация</a:t>
            </a:r>
            <a:endParaRPr lang="en-US" sz="920" dirty="0"/>
          </a:p>
        </p:txBody>
      </p:sp>
      <p:sp>
        <p:nvSpPr>
          <p:cNvPr id="18" name="Text 16"/>
          <p:cNvSpPr/>
          <p:nvPr/>
        </p:nvSpPr>
        <p:spPr>
          <a:xfrm>
            <a:off x="8485632" y="2843784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7085"/>
                </a:solidFill>
              </a:rPr>
              <a:t>или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8942832" y="2761488"/>
            <a:ext cx="2331720" cy="347472"/>
          </a:xfrm>
          <a:prstGeom prst="roundRect">
            <a:avLst>
              <a:gd name="adj" fmla="val 21053"/>
            </a:avLst>
          </a:prstGeom>
          <a:solidFill>
            <a:srgbClr val="FFF0EA"/>
          </a:solidFill>
          <a:ln w="12700">
            <a:solidFill>
              <a:srgbClr val="FFF0E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015984" y="2839212"/>
            <a:ext cx="21854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F4F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Работающий продукт</a:t>
            </a:r>
            <a:endParaRPr lang="en-US" sz="920" dirty="0"/>
          </a:p>
        </p:txBody>
      </p:sp>
      <p:sp>
        <p:nvSpPr>
          <p:cNvPr id="21" name="Shape 19"/>
          <p:cNvSpPr/>
          <p:nvPr/>
        </p:nvSpPr>
        <p:spPr>
          <a:xfrm>
            <a:off x="658368" y="3758184"/>
            <a:ext cx="475488" cy="475488"/>
          </a:xfrm>
          <a:prstGeom prst="ellipse">
            <a:avLst/>
          </a:prstGeom>
          <a:solidFill>
            <a:srgbClr val="2E90FA"/>
          </a:solidFill>
          <a:ln w="12700">
            <a:solidFill>
              <a:srgbClr val="2E90F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8368" y="3867912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307592" y="3703320"/>
            <a:ext cx="4754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101828"/>
                </a:solidFill>
              </a:rPr>
              <a:t>Формально контракт соблюдён, но заказчик говорит, что решение не закрывает задачу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263640" y="3721608"/>
            <a:ext cx="2148840" cy="347472"/>
          </a:xfrm>
          <a:prstGeom prst="roundRect">
            <a:avLst>
              <a:gd name="adj" fmla="val 21053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36792" y="3799332"/>
            <a:ext cx="20025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Условия контракта</a:t>
            </a:r>
            <a:endParaRPr lang="en-US" sz="920" dirty="0"/>
          </a:p>
        </p:txBody>
      </p:sp>
      <p:sp>
        <p:nvSpPr>
          <p:cNvPr id="26" name="Text 24"/>
          <p:cNvSpPr/>
          <p:nvPr/>
        </p:nvSpPr>
        <p:spPr>
          <a:xfrm>
            <a:off x="8485632" y="3803904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7085"/>
                </a:solidFill>
              </a:rPr>
              <a:t>или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8942832" y="3721608"/>
            <a:ext cx="2331720" cy="347472"/>
          </a:xfrm>
          <a:prstGeom prst="roundRect">
            <a:avLst>
              <a:gd name="adj" fmla="val 21053"/>
            </a:avLst>
          </a:prstGeom>
          <a:solidFill>
            <a:srgbClr val="EAF4FF"/>
          </a:solidFill>
          <a:ln w="12700">
            <a:solidFill>
              <a:srgbClr val="EAF4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015984" y="3799332"/>
            <a:ext cx="21854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2E90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Сотрудничество с заказчиком</a:t>
            </a:r>
            <a:endParaRPr lang="en-US" sz="920" dirty="0"/>
          </a:p>
        </p:txBody>
      </p:sp>
      <p:sp>
        <p:nvSpPr>
          <p:cNvPr id="29" name="Shape 27"/>
          <p:cNvSpPr/>
          <p:nvPr/>
        </p:nvSpPr>
        <p:spPr>
          <a:xfrm>
            <a:off x="658368" y="4718304"/>
            <a:ext cx="475488" cy="475488"/>
          </a:xfrm>
          <a:prstGeom prst="ellipse">
            <a:avLst/>
          </a:prstGeom>
          <a:solidFill>
            <a:srgbClr val="12B76A"/>
          </a:solidFill>
          <a:ln w="12700">
            <a:solidFill>
              <a:srgbClr val="12B76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8368" y="4828032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307592" y="4663440"/>
            <a:ext cx="4754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101828"/>
                </a:solidFill>
              </a:rPr>
              <a:t>План утверждён 4 месяца назад, а рынок и требования уже изменились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6263640" y="4681728"/>
            <a:ext cx="2148840" cy="347472"/>
          </a:xfrm>
          <a:prstGeom prst="roundRect">
            <a:avLst>
              <a:gd name="adj" fmla="val 21053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36792" y="4759452"/>
            <a:ext cx="20025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Следование плану</a:t>
            </a:r>
            <a:endParaRPr lang="en-US" sz="920" dirty="0"/>
          </a:p>
        </p:txBody>
      </p:sp>
      <p:sp>
        <p:nvSpPr>
          <p:cNvPr id="34" name="Text 32"/>
          <p:cNvSpPr/>
          <p:nvPr/>
        </p:nvSpPr>
        <p:spPr>
          <a:xfrm>
            <a:off x="8485632" y="4764024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7085"/>
                </a:solidFill>
              </a:rPr>
              <a:t>или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8942832" y="4681728"/>
            <a:ext cx="2331720" cy="347472"/>
          </a:xfrm>
          <a:prstGeom prst="roundRect">
            <a:avLst>
              <a:gd name="adj" fmla="val 21053"/>
            </a:avLst>
          </a:prstGeom>
          <a:solidFill>
            <a:srgbClr val="EAFBF3"/>
          </a:solidFill>
          <a:ln w="12700">
            <a:solidFill>
              <a:srgbClr val="EAFBF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015984" y="4759452"/>
            <a:ext cx="21854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12B7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Готовность к изменениям</a:t>
            </a:r>
            <a:endParaRPr lang="en-US" sz="920" dirty="0"/>
          </a:p>
        </p:txBody>
      </p:sp>
      <p:sp>
        <p:nvSpPr>
          <p:cNvPr id="37" name="Shape 35"/>
          <p:cNvSpPr/>
          <p:nvPr/>
        </p:nvSpPr>
        <p:spPr>
          <a:xfrm>
            <a:off x="576072" y="5797296"/>
            <a:ext cx="10972800" cy="457200"/>
          </a:xfrm>
          <a:prstGeom prst="roundRect">
            <a:avLst>
              <a:gd name="adj" fmla="val 14000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86384" y="5943600"/>
            <a:ext cx="10515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667085"/>
                </a:solidFill>
              </a:rPr>
              <a:t>Задача: выберите приоритет и назовите, что нельзя «выбросить» из второй части ценности.</a:t>
            </a:r>
            <a:endParaRPr lang="en-US" sz="1020" dirty="0"/>
          </a:p>
        </p:txBody>
      </p:sp>
      <p:sp>
        <p:nvSpPr>
          <p:cNvPr id="3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43737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98A2B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7700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КЕЙС 01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018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«Мы всё согласовали. Почему заказчик опять меняет требования?»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76072" y="1234440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Проект: новый личный кабинет для корпоративных клиентов.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58368" y="1764792"/>
            <a:ext cx="4709160" cy="3639312"/>
          </a:xfrm>
          <a:prstGeom prst="roundRect">
            <a:avLst>
              <a:gd name="adj" fmla="val 2010"/>
            </a:avLst>
          </a:prstGeom>
          <a:solidFill>
            <a:srgbClr val="FFF0EA"/>
          </a:solidFill>
          <a:ln w="13970">
            <a:solidFill>
              <a:srgbClr val="FFD3C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20116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4F12"/>
                </a:solidFill>
              </a:rPr>
              <a:t>Ситуация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60120" y="2487168"/>
            <a:ext cx="4005072" cy="2331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D2939"/>
                </a:solidFill>
              </a:rPr>
              <a:t>• требования зафиксировали 5 месяцев назад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D2939"/>
                </a:solidFill>
              </a:rPr>
              <a:t>• команда реализовала 70% объёма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D2939"/>
                </a:solidFill>
              </a:rPr>
              <a:t>• первая демонстрация заказчику состоялась только сейчас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D2939"/>
                </a:solidFill>
              </a:rPr>
              <a:t>• после демо заказчик просит изменить ключевой сценарий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D2939"/>
                </a:solidFill>
              </a:rPr>
              <a:t>• РП отвечает: «Это вне согласованного ТЗ»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687568" y="1764792"/>
            <a:ext cx="553212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3970">
            <a:solidFill>
              <a:srgbClr val="E4E7EC"/>
            </a:solidFill>
            <a:prstDash val="solid"/>
          </a:ln>
          <a:effectLst>
            <a:outerShdw blurRad="12700" dist="50800" dir="2700000" algn="bl" rotWithShape="0">
              <a:srgbClr val="D0D5DD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687568" y="1764792"/>
            <a:ext cx="64008" cy="1005840"/>
          </a:xfrm>
          <a:prstGeom prst="rect">
            <a:avLst/>
          </a:prstGeom>
          <a:solidFill>
            <a:srgbClr val="7700FF"/>
          </a:solidFill>
          <a:ln w="12700">
            <a:solidFill>
              <a:srgbClr val="7700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888736" y="1947672"/>
            <a:ext cx="384048" cy="384048"/>
          </a:xfrm>
          <a:prstGeom prst="ellipse">
            <a:avLst/>
          </a:prstGeom>
          <a:solidFill>
            <a:srgbClr val="7700FF"/>
          </a:solidFill>
          <a:ln w="12700">
            <a:solidFill>
              <a:srgbClr val="7700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88736" y="2011680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0" y="1965960"/>
            <a:ext cx="4617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1828"/>
                </a:solidFill>
              </a:rPr>
              <a:t>Вопрос 1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943600" y="2459736"/>
            <a:ext cx="5029200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10" dirty="0">
                <a:solidFill>
                  <a:srgbClr val="1D2939"/>
                </a:solidFill>
              </a:rPr>
              <a:t>Какая проблема здесь важнее самого факта изменения требований?</a:t>
            </a:r>
            <a:endParaRPr lang="en-US" sz="1110" dirty="0"/>
          </a:p>
        </p:txBody>
      </p:sp>
      <p:sp>
        <p:nvSpPr>
          <p:cNvPr id="14" name="Shape 12"/>
          <p:cNvSpPr/>
          <p:nvPr/>
        </p:nvSpPr>
        <p:spPr>
          <a:xfrm>
            <a:off x="5687568" y="2944368"/>
            <a:ext cx="553212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3970">
            <a:solidFill>
              <a:srgbClr val="E4E7EC"/>
            </a:solidFill>
            <a:prstDash val="solid"/>
          </a:ln>
          <a:effectLst>
            <a:outerShdw blurRad="12700" dist="50800" dir="2700000" algn="bl" rotWithShape="0">
              <a:srgbClr val="D0D5DD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687568" y="2944368"/>
            <a:ext cx="64008" cy="1005840"/>
          </a:xfrm>
          <a:prstGeom prst="rect">
            <a:avLst/>
          </a:prstGeom>
          <a:solidFill>
            <a:srgbClr val="2E90FA"/>
          </a:solidFill>
          <a:ln w="12700">
            <a:solidFill>
              <a:srgbClr val="2E90F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888736" y="3127248"/>
            <a:ext cx="384048" cy="384048"/>
          </a:xfrm>
          <a:prstGeom prst="ellipse">
            <a:avLst/>
          </a:prstGeom>
          <a:solidFill>
            <a:srgbClr val="2E90FA"/>
          </a:solidFill>
          <a:ln w="12700">
            <a:solidFill>
              <a:srgbClr val="2E90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88736" y="3191256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00800" y="3145536"/>
            <a:ext cx="4617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1828"/>
                </a:solidFill>
              </a:rPr>
              <a:t>Вопрос 2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943600" y="3639312"/>
            <a:ext cx="5029200" cy="1737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10" dirty="0">
                <a:solidFill>
                  <a:srgbClr val="1D2939"/>
                </a:solidFill>
              </a:rPr>
              <a:t>Какие ценности и принципы Agile здесь нарушены?</a:t>
            </a:r>
            <a:endParaRPr lang="en-US" sz="1110" dirty="0"/>
          </a:p>
        </p:txBody>
      </p:sp>
      <p:sp>
        <p:nvSpPr>
          <p:cNvPr id="20" name="Shape 18"/>
          <p:cNvSpPr/>
          <p:nvPr/>
        </p:nvSpPr>
        <p:spPr>
          <a:xfrm>
            <a:off x="5687568" y="4123944"/>
            <a:ext cx="553212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3970">
            <a:solidFill>
              <a:srgbClr val="E4E7EC"/>
            </a:solidFill>
            <a:prstDash val="solid"/>
          </a:ln>
          <a:effectLst>
            <a:outerShdw blurRad="12700" dist="50800" dir="2700000" algn="bl" rotWithShape="0">
              <a:srgbClr val="D0D5DD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687568" y="4123944"/>
            <a:ext cx="64008" cy="1005840"/>
          </a:xfrm>
          <a:prstGeom prst="rect">
            <a:avLst/>
          </a:prstGeom>
          <a:solidFill>
            <a:srgbClr val="12B76A"/>
          </a:solidFill>
          <a:ln w="12700">
            <a:solidFill>
              <a:srgbClr val="12B76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888736" y="4306824"/>
            <a:ext cx="384048" cy="384048"/>
          </a:xfrm>
          <a:prstGeom prst="ellipse">
            <a:avLst/>
          </a:prstGeom>
          <a:solidFill>
            <a:srgbClr val="12B76A"/>
          </a:solidFill>
          <a:ln w="12700">
            <a:solidFill>
              <a:srgbClr val="12B76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888736" y="4370832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400800" y="4325112"/>
            <a:ext cx="4617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1828"/>
                </a:solidFill>
              </a:rPr>
              <a:t>Вопрос 3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943600" y="4754880"/>
            <a:ext cx="5029200" cy="1737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10" dirty="0">
                <a:solidFill>
                  <a:srgbClr val="1D2939"/>
                </a:solidFill>
              </a:rPr>
              <a:t>Как перестроить работу, чтобы такие изменения обходились дешевле?</a:t>
            </a:r>
            <a:endParaRPr lang="en-US" sz="1110" dirty="0"/>
          </a:p>
        </p:txBody>
      </p:sp>
      <p:sp>
        <p:nvSpPr>
          <p:cNvPr id="26" name="Shape 24"/>
          <p:cNvSpPr/>
          <p:nvPr/>
        </p:nvSpPr>
        <p:spPr>
          <a:xfrm>
            <a:off x="576072" y="5797296"/>
            <a:ext cx="10972800" cy="457200"/>
          </a:xfrm>
          <a:prstGeom prst="roundRect">
            <a:avLst>
              <a:gd name="adj" fmla="val 14000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86384" y="5943600"/>
            <a:ext cx="10515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667085"/>
                </a:solidFill>
              </a:rPr>
              <a:t>Не отвечайте «просто делать Agile». Назовите 2–3 конкретных изменения процесса работы.</a:t>
            </a:r>
            <a:endParaRPr lang="en-US" sz="102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43737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98A2B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83880" y="169332"/>
            <a:ext cx="3793631" cy="3808307"/>
          </a:xfrm>
          <a:prstGeom prst="ellipse">
            <a:avLst/>
          </a:prstGeom>
          <a:solidFill>
            <a:srgbClr val="7700FF">
              <a:alpha val="94000"/>
            </a:srgbClr>
          </a:solidFill>
          <a:ln w="12700">
            <a:solidFill>
              <a:srgbClr val="7700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281160" y="3977640"/>
            <a:ext cx="2696351" cy="2603782"/>
          </a:xfrm>
          <a:prstGeom prst="ellipse">
            <a:avLst/>
          </a:prstGeom>
          <a:solidFill>
            <a:srgbClr val="FF4F12">
              <a:alpha val="97000"/>
            </a:srgbClr>
          </a:solidFill>
          <a:ln w="12700">
            <a:solidFill>
              <a:srgbClr val="FF4F12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417320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Agile vs Waterfall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676656" y="2423160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D0D5DD"/>
                </a:solidFill>
              </a:rPr>
              <a:t>Два подхода к управлению разработкой — и разные способы работать с неопределённостью.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85800" y="3703320"/>
            <a:ext cx="1965960" cy="0"/>
          </a:xfrm>
          <a:prstGeom prst="line">
            <a:avLst/>
          </a:prstGeom>
          <a:noFill/>
          <a:ln w="38100">
            <a:solidFill>
              <a:srgbClr val="FF4F1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3995928"/>
            <a:ext cx="6217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Не вопрос «что лучше», а вопрос — какой подход подходит к конкретной ситуации.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85800" y="598932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8A2B3"/>
                </a:solidFill>
              </a:rPr>
              <a:t>Учебная презентация</a:t>
            </a:r>
            <a:endParaRPr lang="en-US" sz="1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66928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018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Сначала — важное уточнение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12648" y="105156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67085"/>
                </a:solidFill>
              </a:rPr>
              <a:t>Сравнение удобное, но термины находятся немного на разных уровнях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85800" y="1600200"/>
            <a:ext cx="5212080" cy="4160520"/>
          </a:xfrm>
          <a:prstGeom prst="roundRect">
            <a:avLst>
              <a:gd name="adj" fmla="val 1758"/>
            </a:avLst>
          </a:prstGeom>
          <a:solidFill>
            <a:srgbClr val="F1E8FF"/>
          </a:solidFill>
          <a:ln w="12700">
            <a:solidFill>
              <a:srgbClr val="F1E8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1874520"/>
            <a:ext cx="96012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4128" y="1929384"/>
            <a:ext cx="8321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7700FF"/>
                </a:solidFill>
              </a:rPr>
              <a:t>AGILE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960120" y="2487168"/>
            <a:ext cx="4343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01828"/>
                </a:solidFill>
              </a:rPr>
              <a:t>Ценности и принципы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60120" y="3108960"/>
            <a:ext cx="42976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344054"/>
                </a:solidFill>
              </a:rPr>
              <a:t>Agile задаёт способ мыслить и принимать решения при высокой неопределённости. Scrum, Kanban и XP — уже конкретные практики и фреймворки.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60120" y="4828032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80" b="1" dirty="0">
                <a:solidFill>
                  <a:srgbClr val="7700FF"/>
                </a:solidFill>
              </a:rPr>
              <a:t>Ключевой принцип: короткий цикл → обратная связь → адаптация.</a:t>
            </a:r>
            <a:endParaRPr lang="en-US" sz="1180" dirty="0"/>
          </a:p>
        </p:txBody>
      </p:sp>
      <p:sp>
        <p:nvSpPr>
          <p:cNvPr id="10" name="Shape 8"/>
          <p:cNvSpPr/>
          <p:nvPr/>
        </p:nvSpPr>
        <p:spPr>
          <a:xfrm>
            <a:off x="6291072" y="1600200"/>
            <a:ext cx="5212080" cy="4160520"/>
          </a:xfrm>
          <a:prstGeom prst="roundRect">
            <a:avLst>
              <a:gd name="adj" fmla="val 1758"/>
            </a:avLst>
          </a:prstGeom>
          <a:solidFill>
            <a:srgbClr val="FFF0EA"/>
          </a:solidFill>
          <a:ln w="12700">
            <a:solidFill>
              <a:srgbClr val="FFF0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65392" y="1874520"/>
            <a:ext cx="132588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29400" y="1929384"/>
            <a:ext cx="11978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4F12"/>
                </a:solidFill>
              </a:rPr>
              <a:t>WATERFALL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565392" y="2487168"/>
            <a:ext cx="4343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01828"/>
                </a:solidFill>
              </a:rPr>
              <a:t>Последовательный жизненный цикл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565392" y="3108960"/>
            <a:ext cx="42976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344054"/>
                </a:solidFill>
              </a:rPr>
              <a:t>Работа проходит через заранее определённые стадии. Основные требования и план стараются зафиксировать до начала реализации.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565392" y="4828032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80" b="1" dirty="0">
                <a:solidFill>
                  <a:srgbClr val="FF4F12"/>
                </a:solidFill>
              </a:rPr>
              <a:t>Ключевой принцип: спланировать → выполнить → передать результат.</a:t>
            </a:r>
            <a:endParaRPr lang="en-US" sz="11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48288" y="6446520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98A2B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66928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018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Как выглядит работа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12648" y="105156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67085"/>
                </a:solidFill>
              </a:rPr>
              <a:t>Waterfall движется по стадиям, Agile — короткими итерациями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85800" y="169164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4F12"/>
                </a:solidFill>
              </a:rPr>
              <a:t>WATERFALL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85800" y="2084832"/>
            <a:ext cx="1737360" cy="1005840"/>
          </a:xfrm>
          <a:prstGeom prst="roundRect">
            <a:avLst>
              <a:gd name="adj" fmla="val 7273"/>
            </a:avLst>
          </a:prstGeom>
          <a:solidFill>
            <a:srgbClr val="FFF0EA"/>
          </a:solidFill>
          <a:ln w="12700">
            <a:solidFill>
              <a:srgbClr val="FF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40487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FF4F12"/>
                </a:solidFill>
              </a:rPr>
              <a:t>Требования</a:t>
            </a:r>
            <a:endParaRPr lang="en-US" sz="1120" dirty="0"/>
          </a:p>
        </p:txBody>
      </p:sp>
      <p:sp>
        <p:nvSpPr>
          <p:cNvPr id="7" name="Shape 5"/>
          <p:cNvSpPr/>
          <p:nvPr/>
        </p:nvSpPr>
        <p:spPr>
          <a:xfrm>
            <a:off x="2496312" y="2331720"/>
            <a:ext cx="292608" cy="502920"/>
          </a:xfrm>
          <a:prstGeom prst="chevron">
            <a:avLst/>
          </a:prstGeom>
          <a:solidFill>
            <a:srgbClr val="D0D5DD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926080" y="2084832"/>
            <a:ext cx="1737360" cy="1005840"/>
          </a:xfrm>
          <a:prstGeom prst="roundRect">
            <a:avLst>
              <a:gd name="adj" fmla="val 7273"/>
            </a:avLst>
          </a:prstGeom>
          <a:solidFill>
            <a:srgbClr val="FFF0EA"/>
          </a:solidFill>
          <a:ln w="12700">
            <a:solidFill>
              <a:srgbClr val="FFF0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063240" y="240487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FF4F12"/>
                </a:solidFill>
              </a:rPr>
              <a:t>Проектирование</a:t>
            </a:r>
            <a:endParaRPr lang="en-US" sz="1120" dirty="0"/>
          </a:p>
        </p:txBody>
      </p:sp>
      <p:sp>
        <p:nvSpPr>
          <p:cNvPr id="10" name="Shape 8"/>
          <p:cNvSpPr/>
          <p:nvPr/>
        </p:nvSpPr>
        <p:spPr>
          <a:xfrm>
            <a:off x="4736592" y="2331720"/>
            <a:ext cx="292608" cy="502920"/>
          </a:xfrm>
          <a:prstGeom prst="chevron">
            <a:avLst/>
          </a:prstGeom>
          <a:solidFill>
            <a:srgbClr val="D0D5DD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66360" y="2084832"/>
            <a:ext cx="1737360" cy="1005840"/>
          </a:xfrm>
          <a:prstGeom prst="roundRect">
            <a:avLst>
              <a:gd name="adj" fmla="val 7273"/>
            </a:avLst>
          </a:prstGeom>
          <a:solidFill>
            <a:srgbClr val="FFF0EA"/>
          </a:solidFill>
          <a:ln w="12700">
            <a:solidFill>
              <a:srgbClr val="FFF0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03520" y="240487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FF4F12"/>
                </a:solidFill>
              </a:rPr>
              <a:t>Разработка</a:t>
            </a:r>
            <a:endParaRPr lang="en-US" sz="1120" dirty="0"/>
          </a:p>
        </p:txBody>
      </p:sp>
      <p:sp>
        <p:nvSpPr>
          <p:cNvPr id="13" name="Shape 11"/>
          <p:cNvSpPr/>
          <p:nvPr/>
        </p:nvSpPr>
        <p:spPr>
          <a:xfrm>
            <a:off x="6976872" y="2331720"/>
            <a:ext cx="292608" cy="502920"/>
          </a:xfrm>
          <a:prstGeom prst="chevron">
            <a:avLst/>
          </a:prstGeom>
          <a:solidFill>
            <a:srgbClr val="D0D5DD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406640" y="2084832"/>
            <a:ext cx="1737360" cy="1005840"/>
          </a:xfrm>
          <a:prstGeom prst="roundRect">
            <a:avLst>
              <a:gd name="adj" fmla="val 7273"/>
            </a:avLst>
          </a:prstGeom>
          <a:solidFill>
            <a:srgbClr val="FFF0EA"/>
          </a:solidFill>
          <a:ln w="12700">
            <a:solidFill>
              <a:srgbClr val="FFF0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543800" y="240487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FF4F12"/>
                </a:solidFill>
              </a:rPr>
              <a:t>Тестирование</a:t>
            </a:r>
            <a:endParaRPr lang="en-US" sz="1120" dirty="0"/>
          </a:p>
        </p:txBody>
      </p:sp>
      <p:sp>
        <p:nvSpPr>
          <p:cNvPr id="16" name="Shape 14"/>
          <p:cNvSpPr/>
          <p:nvPr/>
        </p:nvSpPr>
        <p:spPr>
          <a:xfrm>
            <a:off x="9217152" y="2331720"/>
            <a:ext cx="292608" cy="502920"/>
          </a:xfrm>
          <a:prstGeom prst="chevron">
            <a:avLst/>
          </a:prstGeom>
          <a:solidFill>
            <a:srgbClr val="D0D5DD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646920" y="2084832"/>
            <a:ext cx="1737360" cy="1005840"/>
          </a:xfrm>
          <a:prstGeom prst="roundRect">
            <a:avLst>
              <a:gd name="adj" fmla="val 7273"/>
            </a:avLst>
          </a:prstGeom>
          <a:solidFill>
            <a:srgbClr val="FFF0EA"/>
          </a:solidFill>
          <a:ln w="12700">
            <a:solidFill>
              <a:srgbClr val="FFF0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784080" y="240487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FF4F12"/>
                </a:solidFill>
              </a:rPr>
              <a:t>Ввод</a:t>
            </a:r>
            <a:endParaRPr lang="en-US" sz="1120" dirty="0"/>
          </a:p>
        </p:txBody>
      </p:sp>
      <p:sp>
        <p:nvSpPr>
          <p:cNvPr id="19" name="Text 17"/>
          <p:cNvSpPr/>
          <p:nvPr/>
        </p:nvSpPr>
        <p:spPr>
          <a:xfrm>
            <a:off x="777240" y="3401568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67085"/>
                </a:solidFill>
              </a:rPr>
              <a:t>Ценность обычно становится полностью видна ближе к концу цепочки.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85800" y="400507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700FF"/>
                </a:solidFill>
              </a:rPr>
              <a:t>AGILE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22960" y="4407408"/>
            <a:ext cx="2148840" cy="1115568"/>
          </a:xfrm>
          <a:prstGeom prst="roundRect">
            <a:avLst>
              <a:gd name="adj" fmla="val 6557"/>
            </a:avLst>
          </a:prstGeom>
          <a:solidFill>
            <a:srgbClr val="F1E8FF"/>
          </a:solidFill>
          <a:ln w="12700">
            <a:solidFill>
              <a:srgbClr val="F1E8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24128" y="4599432"/>
            <a:ext cx="804672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88136" y="4654296"/>
            <a:ext cx="6766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7700FF"/>
                </a:solidFill>
              </a:rPr>
              <a:t>1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1024128" y="504748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7700FF"/>
                </a:solidFill>
              </a:rPr>
              <a:t>Работающий минимум</a:t>
            </a:r>
            <a:endParaRPr lang="en-US" sz="1080" dirty="0"/>
          </a:p>
        </p:txBody>
      </p:sp>
      <p:sp>
        <p:nvSpPr>
          <p:cNvPr id="25" name="Shape 23"/>
          <p:cNvSpPr/>
          <p:nvPr/>
        </p:nvSpPr>
        <p:spPr>
          <a:xfrm>
            <a:off x="3035808" y="4718304"/>
            <a:ext cx="310896" cy="493776"/>
          </a:xfrm>
          <a:prstGeom prst="chevron">
            <a:avLst/>
          </a:prstGeom>
          <a:solidFill>
            <a:srgbClr val="C7D7FE"/>
          </a:solidFill>
          <a:ln w="12700">
            <a:solidFill>
              <a:srgbClr val="C7D7F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566160" y="4407408"/>
            <a:ext cx="2148840" cy="1115568"/>
          </a:xfrm>
          <a:prstGeom prst="roundRect">
            <a:avLst>
              <a:gd name="adj" fmla="val 6557"/>
            </a:avLst>
          </a:prstGeom>
          <a:solidFill>
            <a:srgbClr val="EAF4FF"/>
          </a:solidFill>
          <a:ln w="12700">
            <a:solidFill>
              <a:srgbClr val="EAF4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767328" y="4599432"/>
            <a:ext cx="804672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831336" y="4654296"/>
            <a:ext cx="6766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E90FA"/>
                </a:solidFill>
              </a:rPr>
              <a:t>2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3767328" y="504748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2E90FA"/>
                </a:solidFill>
              </a:rPr>
              <a:t>Обратная связь</a:t>
            </a:r>
            <a:endParaRPr lang="en-US" sz="1080" dirty="0"/>
          </a:p>
        </p:txBody>
      </p:sp>
      <p:sp>
        <p:nvSpPr>
          <p:cNvPr id="30" name="Shape 28"/>
          <p:cNvSpPr/>
          <p:nvPr/>
        </p:nvSpPr>
        <p:spPr>
          <a:xfrm>
            <a:off x="5779008" y="4718304"/>
            <a:ext cx="310896" cy="493776"/>
          </a:xfrm>
          <a:prstGeom prst="chevron">
            <a:avLst/>
          </a:prstGeom>
          <a:solidFill>
            <a:srgbClr val="C7D7FE"/>
          </a:solidFill>
          <a:ln w="12700">
            <a:solidFill>
              <a:srgbClr val="C7D7F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309360" y="4407408"/>
            <a:ext cx="2148840" cy="1115568"/>
          </a:xfrm>
          <a:prstGeom prst="roundRect">
            <a:avLst>
              <a:gd name="adj" fmla="val 6557"/>
            </a:avLst>
          </a:prstGeom>
          <a:solidFill>
            <a:srgbClr val="FFF0EA"/>
          </a:solidFill>
          <a:ln w="12700">
            <a:solidFill>
              <a:srgbClr val="FFF0E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510528" y="4599432"/>
            <a:ext cx="804672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574536" y="4654296"/>
            <a:ext cx="6766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4F12"/>
                </a:solidFill>
              </a:rPr>
              <a:t>3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510528" y="504748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FF4F12"/>
                </a:solidFill>
              </a:rPr>
              <a:t>Уточнение</a:t>
            </a:r>
            <a:endParaRPr lang="en-US" sz="1080" dirty="0"/>
          </a:p>
        </p:txBody>
      </p:sp>
      <p:sp>
        <p:nvSpPr>
          <p:cNvPr id="35" name="Shape 33"/>
          <p:cNvSpPr/>
          <p:nvPr/>
        </p:nvSpPr>
        <p:spPr>
          <a:xfrm>
            <a:off x="8522208" y="4718304"/>
            <a:ext cx="310896" cy="493776"/>
          </a:xfrm>
          <a:prstGeom prst="chevron">
            <a:avLst/>
          </a:prstGeom>
          <a:solidFill>
            <a:srgbClr val="C7D7FE"/>
          </a:solidFill>
          <a:ln w="12700">
            <a:solidFill>
              <a:srgbClr val="C7D7F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052560" y="4407408"/>
            <a:ext cx="2148840" cy="1115568"/>
          </a:xfrm>
          <a:prstGeom prst="roundRect">
            <a:avLst>
              <a:gd name="adj" fmla="val 6557"/>
            </a:avLst>
          </a:prstGeom>
          <a:solidFill>
            <a:srgbClr val="EAFBF3"/>
          </a:solidFill>
          <a:ln w="12700">
            <a:solidFill>
              <a:srgbClr val="EAFBF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253728" y="4599432"/>
            <a:ext cx="804672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317736" y="4654296"/>
            <a:ext cx="6766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2B76A"/>
                </a:solidFill>
              </a:rPr>
              <a:t>4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9253728" y="504748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12B76A"/>
                </a:solidFill>
              </a:rPr>
              <a:t>Следующий инкремент</a:t>
            </a:r>
            <a:endParaRPr lang="en-US" sz="1080" dirty="0"/>
          </a:p>
        </p:txBody>
      </p:sp>
      <p:sp>
        <p:nvSpPr>
          <p:cNvPr id="40" name="Text 38"/>
          <p:cNvSpPr/>
          <p:nvPr/>
        </p:nvSpPr>
        <p:spPr>
          <a:xfrm>
            <a:off x="777240" y="5870448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67085"/>
                </a:solidFill>
              </a:rPr>
              <a:t>Ценность и обратная связь появляются уже после первых итераций.</a:t>
            </a:r>
            <a:endParaRPr lang="en-US" sz="1100" dirty="0"/>
          </a:p>
        </p:txBody>
      </p:sp>
      <p:sp>
        <p:nvSpPr>
          <p:cNvPr id="4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48288" y="6446520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98A2B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66928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018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Главные отличия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12648" y="105156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67085"/>
                </a:solidFill>
              </a:rPr>
              <a:t>Не в количестве встреч, а в способе планировать, поставлять и реагировать на изменения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94360" y="1481328"/>
            <a:ext cx="11000232" cy="4846320"/>
          </a:xfrm>
          <a:prstGeom prst="roundRect">
            <a:avLst>
              <a:gd name="adj" fmla="val 1509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blurRad="25400" dist="50800" dir="2700000" algn="bl" rotWithShape="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94360" y="1481328"/>
            <a:ext cx="11000232" cy="594360"/>
          </a:xfrm>
          <a:prstGeom prst="rect">
            <a:avLst/>
          </a:prstGeom>
          <a:solidFill>
            <a:srgbClr val="101828"/>
          </a:solidFill>
          <a:ln w="12700">
            <a:solidFill>
              <a:srgbClr val="10182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664208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Критерий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154680" y="1664208"/>
            <a:ext cx="2971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Waterfall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748272" y="1664208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Agile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03504" y="2075688"/>
            <a:ext cx="10981944" cy="603504"/>
          </a:xfrm>
          <a:prstGeom prst="rect">
            <a:avLst/>
          </a:prstGeom>
          <a:solidFill>
            <a:srgbClr val="FAFAFB"/>
          </a:solidFill>
          <a:ln w="12700">
            <a:solidFill>
              <a:srgbClr val="FAFAF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22402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70" b="1" dirty="0">
                <a:solidFill>
                  <a:srgbClr val="344054"/>
                </a:solidFill>
              </a:rPr>
              <a:t>Планирование</a:t>
            </a:r>
            <a:endParaRPr lang="en-US" sz="1070" dirty="0"/>
          </a:p>
        </p:txBody>
      </p:sp>
      <p:sp>
        <p:nvSpPr>
          <p:cNvPr id="11" name="Text 9"/>
          <p:cNvSpPr/>
          <p:nvPr/>
        </p:nvSpPr>
        <p:spPr>
          <a:xfrm>
            <a:off x="3154680" y="2203704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10" dirty="0">
                <a:solidFill>
                  <a:srgbClr val="1D2939"/>
                </a:solidFill>
              </a:rPr>
              <a:t>Детальное заранее</a:t>
            </a:r>
            <a:endParaRPr lang="en-US" sz="1010" dirty="0"/>
          </a:p>
        </p:txBody>
      </p:sp>
      <p:sp>
        <p:nvSpPr>
          <p:cNvPr id="12" name="Text 10"/>
          <p:cNvSpPr/>
          <p:nvPr/>
        </p:nvSpPr>
        <p:spPr>
          <a:xfrm>
            <a:off x="6748272" y="2203704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10" dirty="0">
                <a:solidFill>
                  <a:srgbClr val="1D2939"/>
                </a:solidFill>
              </a:rPr>
              <a:t>Постепенное уточнение</a:t>
            </a:r>
            <a:endParaRPr lang="en-US" sz="1010" dirty="0"/>
          </a:p>
        </p:txBody>
      </p:sp>
      <p:sp>
        <p:nvSpPr>
          <p:cNvPr id="13" name="Text 11"/>
          <p:cNvSpPr/>
          <p:nvPr/>
        </p:nvSpPr>
        <p:spPr>
          <a:xfrm>
            <a:off x="868680" y="284378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70" b="1" dirty="0">
                <a:solidFill>
                  <a:srgbClr val="344054"/>
                </a:solidFill>
              </a:rPr>
              <a:t>Требования</a:t>
            </a:r>
            <a:endParaRPr lang="en-US" sz="1070" dirty="0"/>
          </a:p>
        </p:txBody>
      </p:sp>
      <p:sp>
        <p:nvSpPr>
          <p:cNvPr id="14" name="Text 12"/>
          <p:cNvSpPr/>
          <p:nvPr/>
        </p:nvSpPr>
        <p:spPr>
          <a:xfrm>
            <a:off x="3154680" y="2807208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10" dirty="0">
                <a:solidFill>
                  <a:srgbClr val="1D2939"/>
                </a:solidFill>
              </a:rPr>
              <a:t>Стараются стабилизировать на старте</a:t>
            </a:r>
            <a:endParaRPr lang="en-US" sz="1010" dirty="0"/>
          </a:p>
        </p:txBody>
      </p:sp>
      <p:sp>
        <p:nvSpPr>
          <p:cNvPr id="15" name="Text 13"/>
          <p:cNvSpPr/>
          <p:nvPr/>
        </p:nvSpPr>
        <p:spPr>
          <a:xfrm>
            <a:off x="6748272" y="280720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10" dirty="0">
                <a:solidFill>
                  <a:srgbClr val="1D2939"/>
                </a:solidFill>
              </a:rPr>
              <a:t>Могут меняться по обратной связи</a:t>
            </a:r>
            <a:endParaRPr lang="en-US" sz="1010" dirty="0"/>
          </a:p>
        </p:txBody>
      </p:sp>
      <p:sp>
        <p:nvSpPr>
          <p:cNvPr id="16" name="Shape 14"/>
          <p:cNvSpPr/>
          <p:nvPr/>
        </p:nvSpPr>
        <p:spPr>
          <a:xfrm>
            <a:off x="603504" y="3282696"/>
            <a:ext cx="10981944" cy="603504"/>
          </a:xfrm>
          <a:prstGeom prst="rect">
            <a:avLst/>
          </a:prstGeom>
          <a:solidFill>
            <a:srgbClr val="FAFAFB"/>
          </a:solidFill>
          <a:ln w="12700">
            <a:solidFill>
              <a:srgbClr val="FAFAF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344728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70" b="1" dirty="0">
                <a:solidFill>
                  <a:srgbClr val="344054"/>
                </a:solidFill>
              </a:rPr>
              <a:t>Поставка</a:t>
            </a:r>
            <a:endParaRPr lang="en-US" sz="1070" dirty="0"/>
          </a:p>
        </p:txBody>
      </p:sp>
      <p:sp>
        <p:nvSpPr>
          <p:cNvPr id="18" name="Text 16"/>
          <p:cNvSpPr/>
          <p:nvPr/>
        </p:nvSpPr>
        <p:spPr>
          <a:xfrm>
            <a:off x="3154680" y="3410712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10" dirty="0">
                <a:solidFill>
                  <a:srgbClr val="1D2939"/>
                </a:solidFill>
              </a:rPr>
              <a:t>Крупный результат в конце этапа / проекта</a:t>
            </a:r>
            <a:endParaRPr lang="en-US" sz="1010" dirty="0"/>
          </a:p>
        </p:txBody>
      </p:sp>
      <p:sp>
        <p:nvSpPr>
          <p:cNvPr id="19" name="Text 17"/>
          <p:cNvSpPr/>
          <p:nvPr/>
        </p:nvSpPr>
        <p:spPr>
          <a:xfrm>
            <a:off x="6748272" y="341071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10" dirty="0">
                <a:solidFill>
                  <a:srgbClr val="1D2939"/>
                </a:solidFill>
              </a:rPr>
              <a:t>Малые инкременты регулярно</a:t>
            </a:r>
            <a:endParaRPr lang="en-US" sz="1010" dirty="0"/>
          </a:p>
        </p:txBody>
      </p:sp>
      <p:sp>
        <p:nvSpPr>
          <p:cNvPr id="20" name="Text 18"/>
          <p:cNvSpPr/>
          <p:nvPr/>
        </p:nvSpPr>
        <p:spPr>
          <a:xfrm>
            <a:off x="868680" y="405079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70" b="1" dirty="0">
                <a:solidFill>
                  <a:srgbClr val="344054"/>
                </a:solidFill>
              </a:rPr>
              <a:t>Обратная связь</a:t>
            </a:r>
            <a:endParaRPr lang="en-US" sz="1070" dirty="0"/>
          </a:p>
        </p:txBody>
      </p:sp>
      <p:sp>
        <p:nvSpPr>
          <p:cNvPr id="21" name="Text 19"/>
          <p:cNvSpPr/>
          <p:nvPr/>
        </p:nvSpPr>
        <p:spPr>
          <a:xfrm>
            <a:off x="3154680" y="4014216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10" dirty="0">
                <a:solidFill>
                  <a:srgbClr val="1D2939"/>
                </a:solidFill>
              </a:rPr>
              <a:t>Чаще позже</a:t>
            </a:r>
            <a:endParaRPr lang="en-US" sz="1010" dirty="0"/>
          </a:p>
        </p:txBody>
      </p:sp>
      <p:sp>
        <p:nvSpPr>
          <p:cNvPr id="22" name="Text 20"/>
          <p:cNvSpPr/>
          <p:nvPr/>
        </p:nvSpPr>
        <p:spPr>
          <a:xfrm>
            <a:off x="6748272" y="4014216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10" dirty="0">
                <a:solidFill>
                  <a:srgbClr val="1D2939"/>
                </a:solidFill>
              </a:rPr>
              <a:t>Как можно раньше и чаще</a:t>
            </a:r>
            <a:endParaRPr lang="en-US" sz="1010" dirty="0"/>
          </a:p>
        </p:txBody>
      </p:sp>
      <p:sp>
        <p:nvSpPr>
          <p:cNvPr id="23" name="Shape 21"/>
          <p:cNvSpPr/>
          <p:nvPr/>
        </p:nvSpPr>
        <p:spPr>
          <a:xfrm>
            <a:off x="603504" y="4489704"/>
            <a:ext cx="10981944" cy="603504"/>
          </a:xfrm>
          <a:prstGeom prst="rect">
            <a:avLst/>
          </a:prstGeom>
          <a:solidFill>
            <a:srgbClr val="FAFAFB"/>
          </a:solidFill>
          <a:ln w="12700">
            <a:solidFill>
              <a:srgbClr val="FAFAF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68680" y="4654296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70" b="1" dirty="0">
                <a:solidFill>
                  <a:srgbClr val="344054"/>
                </a:solidFill>
              </a:rPr>
              <a:t>Изменения</a:t>
            </a:r>
            <a:endParaRPr lang="en-US" sz="1070" dirty="0"/>
          </a:p>
        </p:txBody>
      </p:sp>
      <p:sp>
        <p:nvSpPr>
          <p:cNvPr id="25" name="Text 23"/>
          <p:cNvSpPr/>
          <p:nvPr/>
        </p:nvSpPr>
        <p:spPr>
          <a:xfrm>
            <a:off x="3154680" y="461772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10" dirty="0">
                <a:solidFill>
                  <a:srgbClr val="1D2939"/>
                </a:solidFill>
              </a:rPr>
              <a:t>Проходят через формальное управление изменениями</a:t>
            </a:r>
            <a:endParaRPr lang="en-US" sz="1010" dirty="0"/>
          </a:p>
        </p:txBody>
      </p:sp>
      <p:sp>
        <p:nvSpPr>
          <p:cNvPr id="26" name="Text 24"/>
          <p:cNvSpPr/>
          <p:nvPr/>
        </p:nvSpPr>
        <p:spPr>
          <a:xfrm>
            <a:off x="6748272" y="46177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10" dirty="0">
                <a:solidFill>
                  <a:srgbClr val="1D2939"/>
                </a:solidFill>
              </a:rPr>
              <a:t>Ожидаемая часть процесса</a:t>
            </a:r>
            <a:endParaRPr lang="en-US" sz="1010" dirty="0"/>
          </a:p>
        </p:txBody>
      </p:sp>
      <p:sp>
        <p:nvSpPr>
          <p:cNvPr id="27" name="Text 25"/>
          <p:cNvSpPr/>
          <p:nvPr/>
        </p:nvSpPr>
        <p:spPr>
          <a:xfrm>
            <a:off x="868680" y="52578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70" b="1" dirty="0">
                <a:solidFill>
                  <a:srgbClr val="344054"/>
                </a:solidFill>
              </a:rPr>
              <a:t>Тестирование</a:t>
            </a:r>
            <a:endParaRPr lang="en-US" sz="1070" dirty="0"/>
          </a:p>
        </p:txBody>
      </p:sp>
      <p:sp>
        <p:nvSpPr>
          <p:cNvPr id="28" name="Text 26"/>
          <p:cNvSpPr/>
          <p:nvPr/>
        </p:nvSpPr>
        <p:spPr>
          <a:xfrm>
            <a:off x="3154680" y="5221224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10" dirty="0">
                <a:solidFill>
                  <a:srgbClr val="1D2939"/>
                </a:solidFill>
              </a:rPr>
              <a:t>Часто отдельная стадия</a:t>
            </a:r>
            <a:endParaRPr lang="en-US" sz="1010" dirty="0"/>
          </a:p>
        </p:txBody>
      </p:sp>
      <p:sp>
        <p:nvSpPr>
          <p:cNvPr id="29" name="Text 27"/>
          <p:cNvSpPr/>
          <p:nvPr/>
        </p:nvSpPr>
        <p:spPr>
          <a:xfrm>
            <a:off x="6748272" y="5221224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10" dirty="0">
                <a:solidFill>
                  <a:srgbClr val="1D2939"/>
                </a:solidFill>
              </a:rPr>
              <a:t>Встроено в каждую итерацию</a:t>
            </a:r>
            <a:endParaRPr lang="en-US" sz="1010" dirty="0"/>
          </a:p>
        </p:txBody>
      </p:sp>
      <p:sp>
        <p:nvSpPr>
          <p:cNvPr id="30" name="Shape 28"/>
          <p:cNvSpPr/>
          <p:nvPr/>
        </p:nvSpPr>
        <p:spPr>
          <a:xfrm>
            <a:off x="603504" y="5696712"/>
            <a:ext cx="10981944" cy="603504"/>
          </a:xfrm>
          <a:prstGeom prst="rect">
            <a:avLst/>
          </a:prstGeom>
          <a:solidFill>
            <a:srgbClr val="FAFAFB"/>
          </a:solidFill>
          <a:ln w="12700">
            <a:solidFill>
              <a:srgbClr val="FAFAF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68680" y="586130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70" b="1" dirty="0">
                <a:solidFill>
                  <a:srgbClr val="344054"/>
                </a:solidFill>
              </a:rPr>
              <a:t>Риски</a:t>
            </a:r>
            <a:endParaRPr lang="en-US" sz="1070" dirty="0"/>
          </a:p>
        </p:txBody>
      </p:sp>
      <p:sp>
        <p:nvSpPr>
          <p:cNvPr id="32" name="Text 30"/>
          <p:cNvSpPr/>
          <p:nvPr/>
        </p:nvSpPr>
        <p:spPr>
          <a:xfrm>
            <a:off x="3154680" y="5824728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10" dirty="0">
                <a:solidFill>
                  <a:srgbClr val="1D2939"/>
                </a:solidFill>
              </a:rPr>
              <a:t>Снижаются через детальное планирование</a:t>
            </a:r>
            <a:endParaRPr lang="en-US" sz="1010" dirty="0"/>
          </a:p>
        </p:txBody>
      </p:sp>
      <p:sp>
        <p:nvSpPr>
          <p:cNvPr id="33" name="Text 31"/>
          <p:cNvSpPr/>
          <p:nvPr/>
        </p:nvSpPr>
        <p:spPr>
          <a:xfrm>
            <a:off x="6748272" y="582472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10" dirty="0">
                <a:solidFill>
                  <a:srgbClr val="1D2939"/>
                </a:solidFill>
              </a:rPr>
              <a:t>Снижаются через ранние проверки гипотез</a:t>
            </a:r>
            <a:endParaRPr lang="en-US" sz="1010" dirty="0"/>
          </a:p>
        </p:txBody>
      </p:sp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48288" y="6446520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98A2B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66928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018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Когда какой подход особенно уместен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12648" y="105156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67085"/>
                </a:solidFill>
              </a:rPr>
              <a:t>Выбор зависит от стабильности требований, рисков и стоимости изменений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85800" y="1627632"/>
            <a:ext cx="5257800" cy="4526280"/>
          </a:xfrm>
          <a:prstGeom prst="roundRect">
            <a:avLst>
              <a:gd name="adj" fmla="val 1616"/>
            </a:avLst>
          </a:prstGeom>
          <a:solidFill>
            <a:srgbClr val="FFF0EA"/>
          </a:solidFill>
          <a:ln w="12700">
            <a:solidFill>
              <a:srgbClr val="FFF0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1938528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4F12"/>
                </a:solidFill>
              </a:rPr>
              <a:t>Waterfall удобнее, когда…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987552" y="2724912"/>
            <a:ext cx="438912" cy="438912"/>
          </a:xfrm>
          <a:prstGeom prst="ellipse">
            <a:avLst/>
          </a:prstGeom>
          <a:solidFill>
            <a:srgbClr val="FF4F12"/>
          </a:solidFill>
          <a:ln w="12700">
            <a:solidFill>
              <a:srgbClr val="FF4F1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7552" y="2775204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572768" y="2761488"/>
            <a:ext cx="3794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D2939"/>
                </a:solidFill>
              </a:rPr>
              <a:t>Требования хорошо известны и редко меняются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987552" y="3282696"/>
            <a:ext cx="438912" cy="438912"/>
          </a:xfrm>
          <a:prstGeom prst="ellipse">
            <a:avLst/>
          </a:prstGeom>
          <a:solidFill>
            <a:srgbClr val="FF4F12"/>
          </a:solidFill>
          <a:ln w="12700">
            <a:solidFill>
              <a:srgbClr val="FF4F1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7552" y="3332988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572768" y="3319272"/>
            <a:ext cx="3794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D2939"/>
                </a:solidFill>
              </a:rPr>
              <a:t>Есть жёсткая нормативная или контрактная последовательность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987552" y="3840480"/>
            <a:ext cx="438912" cy="438912"/>
          </a:xfrm>
          <a:prstGeom prst="ellipse">
            <a:avLst/>
          </a:prstGeom>
          <a:solidFill>
            <a:srgbClr val="FF4F12"/>
          </a:solidFill>
          <a:ln w="12700">
            <a:solidFill>
              <a:srgbClr val="FF4F1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87552" y="3890772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572768" y="3877056"/>
            <a:ext cx="3794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D2939"/>
                </a:solidFill>
              </a:rPr>
              <a:t>Стоимость поздних изменений очень высока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987552" y="4398264"/>
            <a:ext cx="438912" cy="438912"/>
          </a:xfrm>
          <a:prstGeom prst="ellipse">
            <a:avLst/>
          </a:prstGeom>
          <a:solidFill>
            <a:srgbClr val="FF4F12"/>
          </a:solidFill>
          <a:ln w="12700">
            <a:solidFill>
              <a:srgbClr val="FF4F1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87552" y="4448556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572768" y="4434840"/>
            <a:ext cx="3794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D2939"/>
                </a:solidFill>
              </a:rPr>
              <a:t>Результат можно подробно специфицировать заранее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987552" y="4956048"/>
            <a:ext cx="438912" cy="438912"/>
          </a:xfrm>
          <a:prstGeom prst="ellipse">
            <a:avLst/>
          </a:prstGeom>
          <a:solidFill>
            <a:srgbClr val="FF4F12"/>
          </a:solidFill>
          <a:ln w="12700">
            <a:solidFill>
              <a:srgbClr val="FF4F1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87552" y="5006340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572768" y="4992624"/>
            <a:ext cx="3794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D2939"/>
                </a:solidFill>
              </a:rPr>
              <a:t>Приёмка строится вокруг фиксированного объёма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245352" y="1627632"/>
            <a:ext cx="5257800" cy="4526280"/>
          </a:xfrm>
          <a:prstGeom prst="roundRect">
            <a:avLst>
              <a:gd name="adj" fmla="val 1616"/>
            </a:avLst>
          </a:prstGeom>
          <a:solidFill>
            <a:srgbClr val="F1E8FF"/>
          </a:solidFill>
          <a:ln w="12700">
            <a:solidFill>
              <a:srgbClr val="F1E8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19672" y="1938528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7700FF"/>
                </a:solidFill>
              </a:rPr>
              <a:t>Agile удобнее, когда…</a:t>
            </a:r>
            <a:endParaRPr lang="en-US" sz="2100" dirty="0"/>
          </a:p>
        </p:txBody>
      </p:sp>
      <p:sp>
        <p:nvSpPr>
          <p:cNvPr id="23" name="Shape 21"/>
          <p:cNvSpPr/>
          <p:nvPr/>
        </p:nvSpPr>
        <p:spPr>
          <a:xfrm>
            <a:off x="6547104" y="2724912"/>
            <a:ext cx="438912" cy="438912"/>
          </a:xfrm>
          <a:prstGeom prst="ellipse">
            <a:avLst/>
          </a:prstGeom>
          <a:solidFill>
            <a:srgbClr val="7700FF"/>
          </a:solidFill>
          <a:ln w="12700">
            <a:solidFill>
              <a:srgbClr val="7700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47104" y="2775204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→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132320" y="2761488"/>
            <a:ext cx="3794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D2939"/>
                </a:solidFill>
              </a:rPr>
              <a:t>Требования будут уточняться по ходу работы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547104" y="3282696"/>
            <a:ext cx="438912" cy="438912"/>
          </a:xfrm>
          <a:prstGeom prst="ellipse">
            <a:avLst/>
          </a:prstGeom>
          <a:solidFill>
            <a:srgbClr val="7700FF"/>
          </a:solidFill>
          <a:ln w="12700">
            <a:solidFill>
              <a:srgbClr val="7700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47104" y="3332988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→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132320" y="3319272"/>
            <a:ext cx="3794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D2939"/>
                </a:solidFill>
              </a:rPr>
              <a:t>Нужно быстро проверить гипотезу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547104" y="3840480"/>
            <a:ext cx="438912" cy="438912"/>
          </a:xfrm>
          <a:prstGeom prst="ellipse">
            <a:avLst/>
          </a:prstGeom>
          <a:solidFill>
            <a:srgbClr val="7700FF"/>
          </a:solidFill>
          <a:ln w="12700">
            <a:solidFill>
              <a:srgbClr val="7700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47104" y="3890772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→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132320" y="3877056"/>
            <a:ext cx="3794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D2939"/>
                </a:solidFill>
              </a:rPr>
              <a:t>Пользовательская обратная связь критична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547104" y="4398264"/>
            <a:ext cx="438912" cy="438912"/>
          </a:xfrm>
          <a:prstGeom prst="ellipse">
            <a:avLst/>
          </a:prstGeom>
          <a:solidFill>
            <a:srgbClr val="7700FF"/>
          </a:solidFill>
          <a:ln w="12700">
            <a:solidFill>
              <a:srgbClr val="7700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547104" y="4448556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→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132320" y="4434840"/>
            <a:ext cx="3794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D2939"/>
                </a:solidFill>
              </a:rPr>
              <a:t>Можно выпускать результат небольшими частями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547104" y="4956048"/>
            <a:ext cx="438912" cy="438912"/>
          </a:xfrm>
          <a:prstGeom prst="ellipse">
            <a:avLst/>
          </a:prstGeom>
          <a:solidFill>
            <a:srgbClr val="7700FF"/>
          </a:solidFill>
          <a:ln w="12700">
            <a:solidFill>
              <a:srgbClr val="7700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547104" y="5006340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→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132320" y="4992624"/>
            <a:ext cx="3794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D2939"/>
                </a:solidFill>
              </a:rPr>
              <a:t>Высока неопределённость решения или рынка</a:t>
            </a:r>
            <a:endParaRPr lang="en-US" sz="1050" dirty="0"/>
          </a:p>
        </p:txBody>
      </p:sp>
      <p:sp>
        <p:nvSpPr>
          <p:cNvPr id="3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48288" y="6446520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98A2B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66928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018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На практике часто работает гибрид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12648" y="105156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67085"/>
                </a:solidFill>
              </a:rPr>
              <a:t>Предсказуемость на верхнем уровне + адаптивность внутри разработки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822960" y="1627632"/>
            <a:ext cx="1056132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blurRad="25400" dist="50800" dir="2700000" algn="bl" rotWithShape="0">
              <a:srgbClr val="000000">
                <a:alpha val="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143000" y="19659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4F12"/>
                </a:solidFill>
              </a:rPr>
              <a:t>Фиксируем на уровне проекта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092440" y="196596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7700FF"/>
                </a:solidFill>
              </a:rPr>
              <a:t>Адаптируем внутри команды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143000" y="2615184"/>
            <a:ext cx="1325880" cy="310896"/>
          </a:xfrm>
          <a:prstGeom prst="roundRect">
            <a:avLst>
              <a:gd name="adj" fmla="val 23529"/>
            </a:avLst>
          </a:prstGeom>
          <a:solidFill>
            <a:srgbClr val="FFF0EA"/>
          </a:solidFill>
          <a:ln w="12700">
            <a:solidFill>
              <a:srgbClr val="FFF0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07008" y="2670048"/>
            <a:ext cx="11978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4F12"/>
                </a:solidFill>
              </a:rPr>
              <a:t>Бюджет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715768" y="2615184"/>
            <a:ext cx="1325880" cy="310896"/>
          </a:xfrm>
          <a:prstGeom prst="roundRect">
            <a:avLst>
              <a:gd name="adj" fmla="val 23529"/>
            </a:avLst>
          </a:prstGeom>
          <a:solidFill>
            <a:srgbClr val="FFF0EA"/>
          </a:solidFill>
          <a:ln w="12700">
            <a:solidFill>
              <a:srgbClr val="FFF0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79776" y="2670048"/>
            <a:ext cx="11978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4F12"/>
                </a:solidFill>
              </a:rPr>
              <a:t>Контрольные точки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288536" y="2615184"/>
            <a:ext cx="1325880" cy="310896"/>
          </a:xfrm>
          <a:prstGeom prst="roundRect">
            <a:avLst>
              <a:gd name="adj" fmla="val 23529"/>
            </a:avLst>
          </a:prstGeom>
          <a:solidFill>
            <a:srgbClr val="FFF0EA"/>
          </a:solidFill>
          <a:ln w="12700">
            <a:solidFill>
              <a:srgbClr val="FFF0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52544" y="2670048"/>
            <a:ext cx="11978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4F12"/>
                </a:solidFill>
              </a:rPr>
              <a:t>Обязательные требования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861304" y="2615184"/>
            <a:ext cx="1325880" cy="310896"/>
          </a:xfrm>
          <a:prstGeom prst="roundRect">
            <a:avLst>
              <a:gd name="adj" fmla="val 23529"/>
            </a:avLst>
          </a:prstGeom>
          <a:solidFill>
            <a:srgbClr val="FFF0EA"/>
          </a:solidFill>
          <a:ln w="12700">
            <a:solidFill>
              <a:srgbClr val="FFF0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25312" y="2670048"/>
            <a:ext cx="11978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4F12"/>
                </a:solidFill>
              </a:rPr>
              <a:t>Срок ввода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1280160" y="3429000"/>
            <a:ext cx="9372600" cy="0"/>
          </a:xfrm>
          <a:prstGeom prst="line">
            <a:avLst/>
          </a:prstGeom>
          <a:noFill/>
          <a:ln w="25400">
            <a:solidFill>
              <a:srgbClr val="E4E7E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88720" y="3840480"/>
            <a:ext cx="1965960" cy="960120"/>
          </a:xfrm>
          <a:prstGeom prst="roundRect">
            <a:avLst>
              <a:gd name="adj" fmla="val 7619"/>
            </a:avLst>
          </a:prstGeom>
          <a:solidFill>
            <a:srgbClr val="F1E8FF"/>
          </a:solidFill>
          <a:ln w="12700">
            <a:solidFill>
              <a:srgbClr val="F1E8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53312" y="416966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30" b="1" dirty="0">
                <a:solidFill>
                  <a:srgbClr val="7700FF"/>
                </a:solidFill>
              </a:rPr>
              <a:t>Backlog</a:t>
            </a:r>
            <a:endParaRPr lang="en-US" sz="1130" dirty="0"/>
          </a:p>
        </p:txBody>
      </p:sp>
      <p:sp>
        <p:nvSpPr>
          <p:cNvPr id="18" name="Shape 16"/>
          <p:cNvSpPr/>
          <p:nvPr/>
        </p:nvSpPr>
        <p:spPr>
          <a:xfrm>
            <a:off x="3200400" y="4096512"/>
            <a:ext cx="292608" cy="457200"/>
          </a:xfrm>
          <a:prstGeom prst="chevron">
            <a:avLst/>
          </a:prstGeom>
          <a:solidFill>
            <a:srgbClr val="D0D5DD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749040" y="3840480"/>
            <a:ext cx="1965960" cy="960120"/>
          </a:xfrm>
          <a:prstGeom prst="roundRect">
            <a:avLst>
              <a:gd name="adj" fmla="val 7619"/>
            </a:avLst>
          </a:prstGeom>
          <a:solidFill>
            <a:srgbClr val="EAF4FF"/>
          </a:solidFill>
          <a:ln w="12700">
            <a:solidFill>
              <a:srgbClr val="EAF4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913632" y="416966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30" b="1" dirty="0">
                <a:solidFill>
                  <a:srgbClr val="2E90FA"/>
                </a:solidFill>
              </a:rPr>
              <a:t>Итерация</a:t>
            </a:r>
            <a:endParaRPr lang="en-US" sz="1130" dirty="0"/>
          </a:p>
        </p:txBody>
      </p:sp>
      <p:sp>
        <p:nvSpPr>
          <p:cNvPr id="21" name="Shape 19"/>
          <p:cNvSpPr/>
          <p:nvPr/>
        </p:nvSpPr>
        <p:spPr>
          <a:xfrm>
            <a:off x="5760720" y="4096512"/>
            <a:ext cx="292608" cy="457200"/>
          </a:xfrm>
          <a:prstGeom prst="chevron">
            <a:avLst/>
          </a:prstGeom>
          <a:solidFill>
            <a:srgbClr val="D0D5DD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309360" y="3840480"/>
            <a:ext cx="1965960" cy="960120"/>
          </a:xfrm>
          <a:prstGeom prst="roundRect">
            <a:avLst>
              <a:gd name="adj" fmla="val 7619"/>
            </a:avLst>
          </a:prstGeom>
          <a:solidFill>
            <a:srgbClr val="FFF0EA"/>
          </a:solidFill>
          <a:ln w="12700">
            <a:solidFill>
              <a:srgbClr val="FFF0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73952" y="416966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30" b="1" dirty="0">
                <a:solidFill>
                  <a:srgbClr val="FF4F12"/>
                </a:solidFill>
              </a:rPr>
              <a:t>Демо</a:t>
            </a:r>
            <a:endParaRPr lang="en-US" sz="1130" dirty="0"/>
          </a:p>
        </p:txBody>
      </p:sp>
      <p:sp>
        <p:nvSpPr>
          <p:cNvPr id="24" name="Shape 22"/>
          <p:cNvSpPr/>
          <p:nvPr/>
        </p:nvSpPr>
        <p:spPr>
          <a:xfrm>
            <a:off x="8321040" y="4096512"/>
            <a:ext cx="292608" cy="457200"/>
          </a:xfrm>
          <a:prstGeom prst="chevron">
            <a:avLst/>
          </a:prstGeom>
          <a:solidFill>
            <a:srgbClr val="D0D5DD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869680" y="3840480"/>
            <a:ext cx="1965960" cy="960120"/>
          </a:xfrm>
          <a:prstGeom prst="roundRect">
            <a:avLst>
              <a:gd name="adj" fmla="val 7619"/>
            </a:avLst>
          </a:prstGeom>
          <a:solidFill>
            <a:srgbClr val="EAFBF3"/>
          </a:solidFill>
          <a:ln w="12700">
            <a:solidFill>
              <a:srgbClr val="EAFBF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034272" y="416966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30" b="1" dirty="0">
                <a:solidFill>
                  <a:srgbClr val="12B76A"/>
                </a:solidFill>
              </a:rPr>
              <a:t>Обратная связь</a:t>
            </a:r>
            <a:endParaRPr lang="en-US" sz="1130" dirty="0"/>
          </a:p>
        </p:txBody>
      </p:sp>
      <p:sp>
        <p:nvSpPr>
          <p:cNvPr id="27" name="Shape 25"/>
          <p:cNvSpPr/>
          <p:nvPr/>
        </p:nvSpPr>
        <p:spPr>
          <a:xfrm>
            <a:off x="1828800" y="5230368"/>
            <a:ext cx="8412480" cy="502920"/>
          </a:xfrm>
          <a:prstGeom prst="roundRect">
            <a:avLst>
              <a:gd name="adj" fmla="val 14545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103120" y="5376672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344054"/>
                </a:solidFill>
              </a:rPr>
              <a:t>Так можно сохранить управляемость проекта и при этом не делать вид, что все детали известны заранее.</a:t>
            </a:r>
            <a:endParaRPr lang="en-US" sz="112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48288" y="6446520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98A2B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43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2">
                <a:lumMod val="89000"/>
              </a:schemeClr>
            </a:gs>
            <a:gs pos="23000">
              <a:schemeClr val="accent2">
                <a:lumMod val="89000"/>
              </a:schemeClr>
            </a:gs>
            <a:gs pos="69000">
              <a:schemeClr val="accent2">
                <a:lumMod val="75000"/>
              </a:schemeClr>
            </a:gs>
            <a:gs pos="97000">
              <a:schemeClr val="accent2">
                <a:lumMod val="7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-45720"/>
            <a:ext cx="3794760" cy="3794760"/>
          </a:xfrm>
          <a:prstGeom prst="ellipse">
            <a:avLst/>
          </a:prstGeom>
          <a:solidFill>
            <a:srgbClr val="7700FF">
              <a:alpha val="93000"/>
            </a:srgbClr>
          </a:solidFill>
          <a:ln w="12700">
            <a:solidFill>
              <a:srgbClr val="7700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46920" y="4315968"/>
            <a:ext cx="2468880" cy="2468880"/>
          </a:xfrm>
          <a:prstGeom prst="ellipse">
            <a:avLst/>
          </a:prstGeom>
          <a:solidFill>
            <a:srgbClr val="FF4F12">
              <a:alpha val="97000"/>
            </a:srgbClr>
          </a:solidFill>
          <a:ln w="12700">
            <a:solidFill>
              <a:srgbClr val="FF4F12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658368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</a:rPr>
              <a:t>В сухом остатке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658368" y="1325880"/>
            <a:ext cx="6858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D0D5DD"/>
                </a:solidFill>
              </a:rPr>
              <a:t>Waterfall оптимизирует предсказуемость. Agile — скорость обучения и адаптации.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13232" y="2404872"/>
            <a:ext cx="438912" cy="438912"/>
          </a:xfrm>
          <a:prstGeom prst="ellipse">
            <a:avLst/>
          </a:prstGeom>
          <a:solidFill>
            <a:srgbClr val="FF4F12"/>
          </a:solidFill>
          <a:ln w="12700">
            <a:solidFill>
              <a:srgbClr val="FF4F1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" y="2455164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325880" y="24231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</a:rPr>
              <a:t>Waterfall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2788920" y="2414016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D0D5DD"/>
                </a:solidFill>
              </a:rPr>
              <a:t>лучше работает там, где изменения редки, а результат можно определить заранее.</a:t>
            </a:r>
            <a:endParaRPr lang="en-US" sz="1120" dirty="0"/>
          </a:p>
        </p:txBody>
      </p:sp>
      <p:sp>
        <p:nvSpPr>
          <p:cNvPr id="10" name="Shape 8"/>
          <p:cNvSpPr/>
          <p:nvPr/>
        </p:nvSpPr>
        <p:spPr>
          <a:xfrm>
            <a:off x="713232" y="3319272"/>
            <a:ext cx="438912" cy="438912"/>
          </a:xfrm>
          <a:prstGeom prst="ellipse">
            <a:avLst/>
          </a:prstGeom>
          <a:solidFill>
            <a:srgbClr val="7700FF"/>
          </a:solidFill>
          <a:ln w="12700">
            <a:solidFill>
              <a:srgbClr val="7700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" y="3369564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325880" y="33375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</a:rPr>
              <a:t>Agile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2788920" y="3328416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D0D5DD"/>
                </a:solidFill>
              </a:rPr>
              <a:t>сильнее там, где нужно регулярно проверять гипотезы и менять приоритеты.</a:t>
            </a:r>
            <a:endParaRPr lang="en-US" sz="1120" dirty="0"/>
          </a:p>
        </p:txBody>
      </p:sp>
      <p:sp>
        <p:nvSpPr>
          <p:cNvPr id="14" name="Shape 12"/>
          <p:cNvSpPr/>
          <p:nvPr/>
        </p:nvSpPr>
        <p:spPr>
          <a:xfrm>
            <a:off x="713232" y="4233672"/>
            <a:ext cx="438912" cy="438912"/>
          </a:xfrm>
          <a:prstGeom prst="ellipse">
            <a:avLst/>
          </a:prstGeom>
          <a:solidFill>
            <a:srgbClr val="2E90FA"/>
          </a:solidFill>
          <a:ln w="12700">
            <a:solidFill>
              <a:srgbClr val="2E90F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3232" y="4283964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325880" y="42519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</a:rPr>
              <a:t>Гибрид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2788920" y="4242816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D0D5DD"/>
                </a:solidFill>
              </a:rPr>
              <a:t>помогает сочетать фиксированные проектные обязательства и адаптивную разработку.</a:t>
            </a:r>
            <a:endParaRPr lang="en-US" sz="1120" dirty="0"/>
          </a:p>
        </p:txBody>
      </p:sp>
      <p:sp>
        <p:nvSpPr>
          <p:cNvPr id="18" name="Shape 16"/>
          <p:cNvSpPr/>
          <p:nvPr/>
        </p:nvSpPr>
        <p:spPr>
          <a:xfrm>
            <a:off x="658368" y="5532120"/>
            <a:ext cx="6629400" cy="713232"/>
          </a:xfrm>
          <a:prstGeom prst="roundRect">
            <a:avLst>
              <a:gd name="adj" fmla="val 10256"/>
            </a:avLst>
          </a:prstGeom>
          <a:solidFill>
            <a:srgbClr val="1D2939"/>
          </a:solidFill>
          <a:ln w="12700">
            <a:solidFill>
              <a:srgbClr val="34405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5742432"/>
            <a:ext cx="6080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Главный вопрос: насколько много мы знаем заранее — и насколько дорого нам ошибиться?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9829800" y="5744351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8A2B3"/>
                </a:solidFill>
              </a:rPr>
              <a:t>agilemanifesto.org</a:t>
            </a:r>
            <a:endParaRPr lang="en-US" sz="10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2">
                <a:lumMod val="89000"/>
              </a:schemeClr>
            </a:gs>
            <a:gs pos="45256">
              <a:srgbClr val="395050"/>
            </a:gs>
            <a:gs pos="13000">
              <a:schemeClr val="accent2">
                <a:lumMod val="89000"/>
              </a:schemeClr>
            </a:gs>
            <a:gs pos="57000">
              <a:schemeClr val="accent2">
                <a:lumMod val="75000"/>
              </a:schemeClr>
            </a:gs>
            <a:gs pos="75000">
              <a:schemeClr val="accent2">
                <a:lumMod val="7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384280" y="0"/>
            <a:ext cx="804672" cy="6858000"/>
          </a:xfrm>
          <a:prstGeom prst="rect">
            <a:avLst/>
          </a:prstGeom>
          <a:solidFill>
            <a:srgbClr val="FF4F12"/>
          </a:solidFill>
          <a:ln w="12700">
            <a:solidFill>
              <a:srgbClr val="FF4F12"/>
            </a:solidFill>
            <a:prstDash val="solid"/>
          </a:ln>
        </p:spPr>
      </p:sp>
      <p:pic>
        <p:nvPicPr>
          <p:cNvPr id="3" name="Image 0" descr="/mnt/data/Основной_белый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530352"/>
            <a:ext cx="2331720" cy="6126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85800" y="1572768"/>
            <a:ext cx="61264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3200" b="1" dirty="0">
                <a:solidFill>
                  <a:srgbClr val="FFFFFF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Командные проекты по кейсам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713232" y="3127248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14 студентов · 4 команды · единая логика управления проектом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713232" y="3822192"/>
            <a:ext cx="6080760" cy="1417320"/>
          </a:xfrm>
          <a:prstGeom prst="roundRect">
            <a:avLst>
              <a:gd name="adj" fmla="val 5161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60120" y="406908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На лекциях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960120" y="4370832"/>
            <a:ext cx="2331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400" b="1" dirty="0">
                <a:solidFill>
                  <a:srgbClr val="FFFFFF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Д</a:t>
            </a:r>
            <a:r>
              <a:rPr lang="en-US" sz="1400" b="1" dirty="0" err="1">
                <a:solidFill>
                  <a:srgbClr val="FFFFFF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емонстрационный</a:t>
            </a:r>
            <a:r>
              <a:rPr lang="en-US" sz="1400" b="1" dirty="0">
                <a:solidFill>
                  <a:srgbClr val="FFFFFF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 проект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3319272" y="4142232"/>
            <a:ext cx="658368" cy="585216"/>
          </a:xfrm>
          <a:prstGeom prst="chevron">
            <a:avLst/>
          </a:prstGeom>
          <a:solidFill>
            <a:srgbClr val="FF4F12"/>
          </a:solidFill>
          <a:ln w="12700">
            <a:solidFill>
              <a:srgbClr val="FF4F1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224528" y="406908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На практике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4224528" y="4370832"/>
            <a:ext cx="2240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4 ML/AI-кейса — самостоятельная работа команд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7543800" y="14630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Распределение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7516368" y="2057400"/>
            <a:ext cx="2898648" cy="621792"/>
          </a:xfrm>
          <a:prstGeom prst="roundRect">
            <a:avLst>
              <a:gd name="adj" fmla="val 11765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754112" y="2231136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7700FF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Команда 1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9070848" y="2231136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272F3D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4 студента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7516368" y="2907792"/>
            <a:ext cx="2898648" cy="621792"/>
          </a:xfrm>
          <a:prstGeom prst="roundRect">
            <a:avLst>
              <a:gd name="adj" fmla="val 11765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754112" y="3081528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7700FF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Команда 2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9070848" y="3081528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272F3D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4 студента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7516368" y="3758184"/>
            <a:ext cx="2898648" cy="621792"/>
          </a:xfrm>
          <a:prstGeom prst="roundRect">
            <a:avLst>
              <a:gd name="adj" fmla="val 11765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754112" y="3931920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7700FF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Команда 3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9070848" y="393192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272F3D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3 студента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7516368" y="4608576"/>
            <a:ext cx="2898648" cy="621792"/>
          </a:xfrm>
          <a:prstGeom prst="roundRect">
            <a:avLst>
              <a:gd name="adj" fmla="val 11765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754112" y="4782312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7700FF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Команда 4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9070848" y="478231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272F3D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3 студента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7543800" y="5532120"/>
            <a:ext cx="2862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Смешивать уровень подготовки: технически сильные, средние и начинающие — в разных командах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713232" y="5925312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Техническая сложность модели — не цель курса. Оцениваем управление проектом.</a:t>
            </a:r>
            <a:endParaRPr lang="en-US" sz="12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0241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01828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Кейсы 1–2: понятная классификация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85216" y="859536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70747E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Два кейса с очевидной бизнес-ценностью и простой логикой принятия решений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11109960" y="0"/>
            <a:ext cx="1078992" cy="109728"/>
          </a:xfrm>
          <a:prstGeom prst="rect">
            <a:avLst/>
          </a:prstGeom>
          <a:solidFill>
            <a:srgbClr val="FF4F12"/>
          </a:solidFill>
          <a:ln w="12700">
            <a:solidFill>
              <a:srgbClr val="FF4F12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552176" y="0"/>
            <a:ext cx="557784" cy="109728"/>
          </a:xfrm>
          <a:prstGeom prst="rect">
            <a:avLst/>
          </a:prstGeom>
          <a:solidFill>
            <a:srgbClr val="7700FF"/>
          </a:solidFill>
          <a:ln w="12700">
            <a:solidFill>
              <a:srgbClr val="7700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85216" y="1353312"/>
            <a:ext cx="5486400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 w="13970">
            <a:solidFill>
              <a:srgbClr val="E3E8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85216" y="1353312"/>
            <a:ext cx="73152" cy="4434840"/>
          </a:xfrm>
          <a:prstGeom prst="rect">
            <a:avLst/>
          </a:prstGeom>
          <a:solidFill>
            <a:srgbClr val="7700FF"/>
          </a:solidFill>
          <a:ln w="12700">
            <a:solidFill>
              <a:srgbClr val="7700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41248" y="1581912"/>
            <a:ext cx="475488" cy="475488"/>
          </a:xfrm>
          <a:prstGeom prst="ellipse">
            <a:avLst/>
          </a:prstGeom>
          <a:solidFill>
            <a:srgbClr val="7700FF"/>
          </a:solidFill>
          <a:ln w="12700">
            <a:solidFill>
              <a:srgbClr val="7700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1248" y="1682496"/>
            <a:ext cx="47548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481328" y="1554480"/>
            <a:ext cx="4297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01828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Прогнозирование оттока клиентов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1481328" y="2075688"/>
            <a:ext cx="2103120" cy="320040"/>
          </a:xfrm>
          <a:prstGeom prst="roundRect">
            <a:avLst>
              <a:gd name="adj" fmla="val 22857"/>
            </a:avLst>
          </a:prstGeom>
          <a:solidFill>
            <a:srgbClr val="F1F3F5"/>
          </a:solidFill>
          <a:ln w="12700">
            <a:solidFill>
              <a:srgbClr val="F1F3F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554480" y="2144268"/>
            <a:ext cx="195681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72F3D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Бинарная классификация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877824" y="2569464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700FF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Проблема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938528" y="2560320"/>
            <a:ext cx="38587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72F3D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Оператор связи теряет клиентов и узнаёт об этом слишком поздно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77824" y="3255264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700FF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Бизнес-цель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1938528" y="3246120"/>
            <a:ext cx="38587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72F3D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Выявлять клиентов с высоким риском ухода заранее и запускать удерживающие действия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877824" y="3941064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700FF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Пользователь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1938528" y="3931920"/>
            <a:ext cx="38587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72F3D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Retention-команда / маркетинг / CRM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91072" y="1353312"/>
            <a:ext cx="5321808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 w="13970">
            <a:solidFill>
              <a:srgbClr val="E3E8E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91072" y="1353312"/>
            <a:ext cx="73152" cy="4434840"/>
          </a:xfrm>
          <a:prstGeom prst="rect">
            <a:avLst/>
          </a:prstGeom>
          <a:solidFill>
            <a:srgbClr val="FF4F12"/>
          </a:solidFill>
          <a:ln w="12700">
            <a:solidFill>
              <a:srgbClr val="FF4F1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547104" y="1581912"/>
            <a:ext cx="475488" cy="475488"/>
          </a:xfrm>
          <a:prstGeom prst="ellipse">
            <a:avLst/>
          </a:prstGeom>
          <a:solidFill>
            <a:srgbClr val="FF4F12"/>
          </a:solidFill>
          <a:ln w="12700">
            <a:solidFill>
              <a:srgbClr val="FF4F1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47104" y="1682496"/>
            <a:ext cx="47548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2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187184" y="1554480"/>
            <a:ext cx="41330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01828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Оценка кредитного риска</a:t>
            </a:r>
            <a:endParaRPr lang="en-US" sz="1900" dirty="0"/>
          </a:p>
        </p:txBody>
      </p:sp>
      <p:sp>
        <p:nvSpPr>
          <p:cNvPr id="24" name="Shape 22"/>
          <p:cNvSpPr/>
          <p:nvPr/>
        </p:nvSpPr>
        <p:spPr>
          <a:xfrm>
            <a:off x="7187184" y="2075688"/>
            <a:ext cx="2103120" cy="320040"/>
          </a:xfrm>
          <a:prstGeom prst="roundRect">
            <a:avLst>
              <a:gd name="adj" fmla="val 22857"/>
            </a:avLst>
          </a:prstGeom>
          <a:solidFill>
            <a:srgbClr val="F1F3F5"/>
          </a:solidFill>
          <a:ln w="12700">
            <a:solidFill>
              <a:srgbClr val="F1F3F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260336" y="2144268"/>
            <a:ext cx="195681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72F3D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Бинарная классификация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583680" y="2569464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4F12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Проблема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7644384" y="2560320"/>
            <a:ext cx="36941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72F3D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Банк несёт потери из-за невозвратов, но не хочет отказывать надёжным клиентам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583680" y="3255264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4F12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Бизнес-цель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7644384" y="3246120"/>
            <a:ext cx="36941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72F3D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Поддержать решение по заявке и снизить стоимость кредитного риска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6583680" y="3941064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4F12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Пользователь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7644384" y="3931920"/>
            <a:ext cx="36941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72F3D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Кредитный специалист / риск-менеджер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594360" y="5916168"/>
            <a:ext cx="11018520" cy="438912"/>
          </a:xfrm>
          <a:prstGeom prst="roundRect">
            <a:avLst>
              <a:gd name="adj" fmla="val 10417"/>
            </a:avLst>
          </a:prstGeom>
          <a:solidFill>
            <a:srgbClr val="ECE6FF"/>
          </a:solidFill>
          <a:ln w="12700">
            <a:solidFill>
              <a:srgbClr val="ECE6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41248" y="6044184"/>
            <a:ext cx="10469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7700FF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Фокус преподавателя: цель → стейкхолдеры → требования → стоимость ошибки → критерии приёмки → внедрение</a:t>
            </a:r>
            <a:endParaRPr lang="en-US" sz="1080" dirty="0"/>
          </a:p>
        </p:txBody>
      </p:sp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574536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979799"/>
                </a:solidFill>
                <a:latin typeface="Rostelecom Basis"/>
                <a:ea typeface="Rostelecom Basis"/>
                <a:cs typeface="Rostelecom Basis"/>
              </a:defRPr>
            </a:lvl1pPr>
          </a:lstStyle>
          <a:p>
            <a:pPr algn="r"/>
            <a:fld id="{F7021451-1387-4CA6-816F-3879F97B5CBC}" type="slidenum">
              <a:rPr lang="en-US" b="0"/>
              <a:t>46</a:t>
            </a:fld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0241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01828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Кейсы 3–4: телеком и работа с данными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85216" y="859536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70747E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Регрессия для расчёта стоимости и NLP для клиентского опыта оператора связи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11109960" y="0"/>
            <a:ext cx="1078992" cy="109728"/>
          </a:xfrm>
          <a:prstGeom prst="rect">
            <a:avLst/>
          </a:prstGeom>
          <a:solidFill>
            <a:srgbClr val="FF4F12"/>
          </a:solidFill>
          <a:ln w="12700">
            <a:solidFill>
              <a:srgbClr val="FF4F12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552176" y="0"/>
            <a:ext cx="557784" cy="109728"/>
          </a:xfrm>
          <a:prstGeom prst="rect">
            <a:avLst/>
          </a:prstGeom>
          <a:solidFill>
            <a:srgbClr val="7700FF"/>
          </a:solidFill>
          <a:ln w="12700">
            <a:solidFill>
              <a:srgbClr val="7700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85216" y="1353312"/>
            <a:ext cx="5486400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 w="13970">
            <a:solidFill>
              <a:srgbClr val="E3E8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85216" y="1353312"/>
            <a:ext cx="73152" cy="4434840"/>
          </a:xfrm>
          <a:prstGeom prst="rect">
            <a:avLst/>
          </a:prstGeom>
          <a:solidFill>
            <a:srgbClr val="273A64"/>
          </a:solidFill>
          <a:ln w="12700">
            <a:solidFill>
              <a:srgbClr val="273A6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41248" y="1581912"/>
            <a:ext cx="475488" cy="475488"/>
          </a:xfrm>
          <a:prstGeom prst="ellipse">
            <a:avLst/>
          </a:prstGeom>
          <a:solidFill>
            <a:srgbClr val="273A64"/>
          </a:solidFill>
          <a:ln w="12700">
            <a:solidFill>
              <a:srgbClr val="273A6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1248" y="1682496"/>
            <a:ext cx="47548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3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481328" y="1554480"/>
            <a:ext cx="4297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01828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Прогноз стоимости канала передачи данных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1481328" y="2075688"/>
            <a:ext cx="2103120" cy="320040"/>
          </a:xfrm>
          <a:prstGeom prst="roundRect">
            <a:avLst>
              <a:gd name="adj" fmla="val 22857"/>
            </a:avLst>
          </a:prstGeom>
          <a:solidFill>
            <a:srgbClr val="F1F3F5"/>
          </a:solidFill>
          <a:ln w="12700">
            <a:solidFill>
              <a:srgbClr val="F1F3F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554480" y="2144268"/>
            <a:ext cx="195681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72F3D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Регрессия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877824" y="2569464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73A64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Проблема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938528" y="2560320"/>
            <a:ext cx="38587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72F3D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Подготовка предварительной стоимости организации канала занимает много времени и зависит от множества параметров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77824" y="3255264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73A64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Бизнес-цель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1938528" y="3246120"/>
            <a:ext cx="38587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72F3D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Быстро получать ориентировочную стоимость канала для первичного коммерческого расчёта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877824" y="3941064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73A64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Пользователь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1938528" y="3931920"/>
            <a:ext cx="38587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72F3D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Presale / архитектор решения / менеджер B2B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91072" y="1353312"/>
            <a:ext cx="5321808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 w="13970">
            <a:solidFill>
              <a:srgbClr val="E3E8E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91072" y="1353312"/>
            <a:ext cx="73152" cy="4434840"/>
          </a:xfrm>
          <a:prstGeom prst="rect">
            <a:avLst/>
          </a:prstGeom>
          <a:solidFill>
            <a:srgbClr val="FF4F12"/>
          </a:solidFill>
          <a:ln w="12700">
            <a:solidFill>
              <a:srgbClr val="FF4F1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547104" y="1581912"/>
            <a:ext cx="475488" cy="475488"/>
          </a:xfrm>
          <a:prstGeom prst="ellipse">
            <a:avLst/>
          </a:prstGeom>
          <a:solidFill>
            <a:srgbClr val="FF4F12"/>
          </a:solidFill>
          <a:ln w="12700">
            <a:solidFill>
              <a:srgbClr val="FF4F1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47104" y="1682496"/>
            <a:ext cx="47548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187184" y="1554480"/>
            <a:ext cx="41330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01828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Анализ тональности отзывов об операторе связи</a:t>
            </a:r>
            <a:endParaRPr lang="en-US" sz="1900" dirty="0"/>
          </a:p>
        </p:txBody>
      </p:sp>
      <p:sp>
        <p:nvSpPr>
          <p:cNvPr id="24" name="Shape 22"/>
          <p:cNvSpPr/>
          <p:nvPr/>
        </p:nvSpPr>
        <p:spPr>
          <a:xfrm>
            <a:off x="7187184" y="2075688"/>
            <a:ext cx="2103120" cy="320040"/>
          </a:xfrm>
          <a:prstGeom prst="roundRect">
            <a:avLst>
              <a:gd name="adj" fmla="val 22857"/>
            </a:avLst>
          </a:prstGeom>
          <a:solidFill>
            <a:srgbClr val="F1F3F5"/>
          </a:solidFill>
          <a:ln w="12700">
            <a:solidFill>
              <a:srgbClr val="F1F3F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260336" y="2144268"/>
            <a:ext cx="195681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72F3D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NLP · классификация текста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583680" y="2569464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4F12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Проблема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7644384" y="2560320"/>
            <a:ext cx="36941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72F3D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Тысячи отзывов и обращений сложно оперативно анализировать вручную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583680" y="3255264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4F12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Бизнес-цель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7644384" y="3246120"/>
            <a:ext cx="36941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72F3D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Автоматически выделять негатив и быстрее выявлять проблемные темы клиентского опыта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6583680" y="3941064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4F12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Пользователь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7644384" y="3931920"/>
            <a:ext cx="36941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72F3D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Клиентский сервис / CX / поддержка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594360" y="5916168"/>
            <a:ext cx="11018520" cy="438912"/>
          </a:xfrm>
          <a:prstGeom prst="roundRect">
            <a:avLst>
              <a:gd name="adj" fmla="val 10417"/>
            </a:avLst>
          </a:prstGeom>
          <a:solidFill>
            <a:srgbClr val="FFF0EA"/>
          </a:solidFill>
          <a:ln w="12700">
            <a:solidFill>
              <a:srgbClr val="FFF0E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41248" y="6044184"/>
            <a:ext cx="10469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30" b="1" dirty="0">
                <a:solidFill>
                  <a:srgbClr val="FF4F12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Для команды 3: признаки могут включать географию, пропускную способность, технологию, SLA и наличие инфраструктуры</a:t>
            </a:r>
            <a:endParaRPr lang="en-US" sz="1030" dirty="0"/>
          </a:p>
        </p:txBody>
      </p:sp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574536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979799"/>
                </a:solidFill>
                <a:latin typeface="Rostelecom Basis"/>
                <a:ea typeface="Rostelecom Basis"/>
                <a:cs typeface="Rostelecom Basis"/>
              </a:defRPr>
            </a:lvl1pPr>
          </a:lstStyle>
          <a:p>
            <a:pPr algn="r"/>
            <a:fld id="{F7021451-1387-4CA6-816F-3879F97B5CBC}" type="slidenum">
              <a:rPr lang="en-US" b="0"/>
              <a:t>47</a:t>
            </a:fld>
            <a:endParaRPr 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0241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01828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Единый маршрут для всех четырёх команд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85216" y="859536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70747E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Технические кейсы разные, но проектное управление и набор артефактов — одинаковые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11109960" y="0"/>
            <a:ext cx="1078992" cy="109728"/>
          </a:xfrm>
          <a:prstGeom prst="rect">
            <a:avLst/>
          </a:prstGeom>
          <a:solidFill>
            <a:srgbClr val="FF4F12"/>
          </a:solidFill>
          <a:ln w="12700">
            <a:solidFill>
              <a:srgbClr val="FF4F12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552176" y="0"/>
            <a:ext cx="557784" cy="109728"/>
          </a:xfrm>
          <a:prstGeom prst="rect">
            <a:avLst/>
          </a:prstGeom>
          <a:solidFill>
            <a:srgbClr val="7700FF"/>
          </a:solidFill>
          <a:ln w="12700">
            <a:solidFill>
              <a:srgbClr val="7700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1792" y="1481328"/>
            <a:ext cx="1764792" cy="2011680"/>
          </a:xfrm>
          <a:prstGeom prst="roundRect">
            <a:avLst>
              <a:gd name="adj" fmla="val 4145"/>
            </a:avLst>
          </a:prstGeom>
          <a:solidFill>
            <a:srgbClr val="FFFFFF"/>
          </a:solidFill>
          <a:ln w="12700">
            <a:solidFill>
              <a:srgbClr val="E3E8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97864" y="1709928"/>
            <a:ext cx="594360" cy="594360"/>
          </a:xfrm>
          <a:prstGeom prst="ellipse">
            <a:avLst/>
          </a:prstGeom>
          <a:solidFill>
            <a:srgbClr val="7700FF"/>
          </a:solidFill>
          <a:ln w="12700">
            <a:solidFill>
              <a:srgbClr val="7700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97864" y="1874520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58952" y="2450592"/>
            <a:ext cx="1490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01828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Инициация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749808" y="2825496"/>
            <a:ext cx="1508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60" dirty="0">
                <a:solidFill>
                  <a:srgbClr val="70747E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Проблема · цель · стейкхолдеры</a:t>
            </a:r>
            <a:endParaRPr lang="en-US" sz="960" dirty="0"/>
          </a:p>
        </p:txBody>
      </p:sp>
      <p:sp>
        <p:nvSpPr>
          <p:cNvPr id="11" name="Shape 9"/>
          <p:cNvSpPr/>
          <p:nvPr/>
        </p:nvSpPr>
        <p:spPr>
          <a:xfrm>
            <a:off x="2414016" y="2249424"/>
            <a:ext cx="164592" cy="411480"/>
          </a:xfrm>
          <a:prstGeom prst="chevron">
            <a:avLst/>
          </a:prstGeom>
          <a:solidFill>
            <a:srgbClr val="D5DADF"/>
          </a:solidFill>
          <a:ln w="12700">
            <a:solidFill>
              <a:srgbClr val="D5DAD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551176" y="1481328"/>
            <a:ext cx="1764792" cy="2011680"/>
          </a:xfrm>
          <a:prstGeom prst="roundRect">
            <a:avLst>
              <a:gd name="adj" fmla="val 4145"/>
            </a:avLst>
          </a:prstGeom>
          <a:solidFill>
            <a:srgbClr val="FFFFFF"/>
          </a:solidFill>
          <a:ln w="12700">
            <a:solidFill>
              <a:srgbClr val="E3E8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127248" y="1709928"/>
            <a:ext cx="594360" cy="594360"/>
          </a:xfrm>
          <a:prstGeom prst="ellipse">
            <a:avLst/>
          </a:prstGeom>
          <a:solidFill>
            <a:srgbClr val="7700FF"/>
          </a:solidFill>
          <a:ln w="12700">
            <a:solidFill>
              <a:srgbClr val="7700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127248" y="1874520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688336" y="2450592"/>
            <a:ext cx="1490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01828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Требования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2679192" y="2825496"/>
            <a:ext cx="1508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60" dirty="0">
                <a:solidFill>
                  <a:srgbClr val="70747E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Scope · критерии результата</a:t>
            </a:r>
            <a:endParaRPr lang="en-US" sz="960" dirty="0"/>
          </a:p>
        </p:txBody>
      </p:sp>
      <p:sp>
        <p:nvSpPr>
          <p:cNvPr id="17" name="Shape 15"/>
          <p:cNvSpPr/>
          <p:nvPr/>
        </p:nvSpPr>
        <p:spPr>
          <a:xfrm>
            <a:off x="4343400" y="2249424"/>
            <a:ext cx="164592" cy="411480"/>
          </a:xfrm>
          <a:prstGeom prst="chevron">
            <a:avLst/>
          </a:prstGeom>
          <a:solidFill>
            <a:srgbClr val="D5DADF"/>
          </a:solidFill>
          <a:ln w="12700">
            <a:solidFill>
              <a:srgbClr val="D5DAD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480560" y="1481328"/>
            <a:ext cx="1764792" cy="2011680"/>
          </a:xfrm>
          <a:prstGeom prst="roundRect">
            <a:avLst>
              <a:gd name="adj" fmla="val 4145"/>
            </a:avLst>
          </a:prstGeom>
          <a:solidFill>
            <a:srgbClr val="FFFFFF"/>
          </a:solidFill>
          <a:ln w="12700">
            <a:solidFill>
              <a:srgbClr val="E3E8E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56632" y="1709928"/>
            <a:ext cx="594360" cy="594360"/>
          </a:xfrm>
          <a:prstGeom prst="ellipse">
            <a:avLst/>
          </a:prstGeom>
          <a:solidFill>
            <a:srgbClr val="FF4F12"/>
          </a:solidFill>
          <a:ln w="12700">
            <a:solidFill>
              <a:srgbClr val="FF4F1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56632" y="1874520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617720" y="2450592"/>
            <a:ext cx="1490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01828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Планирование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4608576" y="2825496"/>
            <a:ext cx="1508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60" dirty="0">
                <a:solidFill>
                  <a:srgbClr val="70747E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WBS · сроки · RACI · риски</a:t>
            </a:r>
            <a:endParaRPr lang="en-US" sz="960" dirty="0"/>
          </a:p>
        </p:txBody>
      </p:sp>
      <p:sp>
        <p:nvSpPr>
          <p:cNvPr id="23" name="Shape 21"/>
          <p:cNvSpPr/>
          <p:nvPr/>
        </p:nvSpPr>
        <p:spPr>
          <a:xfrm>
            <a:off x="6272784" y="2249424"/>
            <a:ext cx="164592" cy="411480"/>
          </a:xfrm>
          <a:prstGeom prst="chevron">
            <a:avLst/>
          </a:prstGeom>
          <a:solidFill>
            <a:srgbClr val="D5DADF"/>
          </a:solidFill>
          <a:ln w="12700">
            <a:solidFill>
              <a:srgbClr val="D5DAD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09944" y="1481328"/>
            <a:ext cx="1764792" cy="2011680"/>
          </a:xfrm>
          <a:prstGeom prst="roundRect">
            <a:avLst>
              <a:gd name="adj" fmla="val 4145"/>
            </a:avLst>
          </a:prstGeom>
          <a:solidFill>
            <a:srgbClr val="FFFFFF"/>
          </a:solidFill>
          <a:ln w="12700">
            <a:solidFill>
              <a:srgbClr val="E3E8E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986016" y="1709928"/>
            <a:ext cx="594360" cy="594360"/>
          </a:xfrm>
          <a:prstGeom prst="ellipse">
            <a:avLst/>
          </a:prstGeom>
          <a:solidFill>
            <a:srgbClr val="FF4F12"/>
          </a:solidFill>
          <a:ln w="12700">
            <a:solidFill>
              <a:srgbClr val="FF4F1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986016" y="1874520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4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547104" y="2450592"/>
            <a:ext cx="1490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01828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Реализация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6537960" y="2825496"/>
            <a:ext cx="1508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60" dirty="0">
                <a:solidFill>
                  <a:srgbClr val="70747E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MVP · статус · изменения</a:t>
            </a:r>
            <a:endParaRPr lang="en-US" sz="960" dirty="0"/>
          </a:p>
        </p:txBody>
      </p:sp>
      <p:sp>
        <p:nvSpPr>
          <p:cNvPr id="29" name="Shape 27"/>
          <p:cNvSpPr/>
          <p:nvPr/>
        </p:nvSpPr>
        <p:spPr>
          <a:xfrm>
            <a:off x="8202168" y="2249424"/>
            <a:ext cx="164592" cy="411480"/>
          </a:xfrm>
          <a:prstGeom prst="chevron">
            <a:avLst/>
          </a:prstGeom>
          <a:solidFill>
            <a:srgbClr val="D5DADF"/>
          </a:solidFill>
          <a:ln w="12700">
            <a:solidFill>
              <a:srgbClr val="D5DAD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339328" y="1481328"/>
            <a:ext cx="1764792" cy="2011680"/>
          </a:xfrm>
          <a:prstGeom prst="roundRect">
            <a:avLst>
              <a:gd name="adj" fmla="val 4145"/>
            </a:avLst>
          </a:prstGeom>
          <a:solidFill>
            <a:srgbClr val="FFFFFF"/>
          </a:solidFill>
          <a:ln w="12700">
            <a:solidFill>
              <a:srgbClr val="E3E8E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915400" y="1709928"/>
            <a:ext cx="594360" cy="594360"/>
          </a:xfrm>
          <a:prstGeom prst="ellipse">
            <a:avLst/>
          </a:prstGeom>
          <a:solidFill>
            <a:srgbClr val="273A64"/>
          </a:solidFill>
          <a:ln w="12700">
            <a:solidFill>
              <a:srgbClr val="273A6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915400" y="1874520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5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476488" y="2450592"/>
            <a:ext cx="1490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01828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Приёмка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8467344" y="2825496"/>
            <a:ext cx="1508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60" dirty="0">
                <a:solidFill>
                  <a:srgbClr val="70747E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Тестирование · критерии · решение</a:t>
            </a:r>
            <a:endParaRPr lang="en-US" sz="960" dirty="0"/>
          </a:p>
        </p:txBody>
      </p:sp>
      <p:sp>
        <p:nvSpPr>
          <p:cNvPr id="35" name="Shape 33"/>
          <p:cNvSpPr/>
          <p:nvPr/>
        </p:nvSpPr>
        <p:spPr>
          <a:xfrm>
            <a:off x="10131552" y="2249424"/>
            <a:ext cx="164592" cy="411480"/>
          </a:xfrm>
          <a:prstGeom prst="chevron">
            <a:avLst/>
          </a:prstGeom>
          <a:solidFill>
            <a:srgbClr val="D5DADF"/>
          </a:solidFill>
          <a:ln w="12700">
            <a:solidFill>
              <a:srgbClr val="D5DAD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0268712" y="1481328"/>
            <a:ext cx="1764792" cy="2011680"/>
          </a:xfrm>
          <a:prstGeom prst="roundRect">
            <a:avLst>
              <a:gd name="adj" fmla="val 4145"/>
            </a:avLst>
          </a:prstGeom>
          <a:solidFill>
            <a:srgbClr val="FFFFFF"/>
          </a:solidFill>
          <a:ln w="12700">
            <a:solidFill>
              <a:srgbClr val="E3E8E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0844784" y="1709928"/>
            <a:ext cx="594360" cy="594360"/>
          </a:xfrm>
          <a:prstGeom prst="ellipse">
            <a:avLst/>
          </a:prstGeom>
          <a:solidFill>
            <a:srgbClr val="273A64"/>
          </a:solidFill>
          <a:ln w="12700">
            <a:solidFill>
              <a:srgbClr val="273A6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0844784" y="1874520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6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10405872" y="2450592"/>
            <a:ext cx="1490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01828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Завершение</a:t>
            </a:r>
            <a:endParaRPr lang="en-US" sz="1350" dirty="0"/>
          </a:p>
        </p:txBody>
      </p:sp>
      <p:sp>
        <p:nvSpPr>
          <p:cNvPr id="40" name="Text 38"/>
          <p:cNvSpPr/>
          <p:nvPr/>
        </p:nvSpPr>
        <p:spPr>
          <a:xfrm>
            <a:off x="10396728" y="2825496"/>
            <a:ext cx="1508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60" dirty="0">
                <a:solidFill>
                  <a:srgbClr val="70747E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Внедрение · </a:t>
            </a:r>
            <a:r>
              <a:rPr lang="ru-RU" sz="960" dirty="0">
                <a:solidFill>
                  <a:srgbClr val="70747E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ПСИ</a:t>
            </a:r>
            <a:r>
              <a:rPr lang="en-US" sz="960" dirty="0">
                <a:solidFill>
                  <a:srgbClr val="70747E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 · ретроспектива</a:t>
            </a:r>
            <a:endParaRPr lang="en-US" sz="960" dirty="0"/>
          </a:p>
        </p:txBody>
      </p:sp>
      <p:sp>
        <p:nvSpPr>
          <p:cNvPr id="41" name="Text 39"/>
          <p:cNvSpPr/>
          <p:nvPr/>
        </p:nvSpPr>
        <p:spPr>
          <a:xfrm>
            <a:off x="658368" y="397764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1828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Роли внутри команды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58368" y="4462272"/>
            <a:ext cx="2578608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3E8EC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58368" y="4462272"/>
            <a:ext cx="64008" cy="960120"/>
          </a:xfrm>
          <a:prstGeom prst="rect">
            <a:avLst/>
          </a:prstGeom>
          <a:solidFill>
            <a:srgbClr val="7700FF"/>
          </a:solidFill>
          <a:ln w="12700">
            <a:solidFill>
              <a:srgbClr val="7700F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41248" y="4636008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b="1" dirty="0">
                <a:solidFill>
                  <a:srgbClr val="101828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PM</a:t>
            </a:r>
            <a:endParaRPr lang="en-US" sz="1220" dirty="0"/>
          </a:p>
        </p:txBody>
      </p:sp>
      <p:sp>
        <p:nvSpPr>
          <p:cNvPr id="45" name="Text 43"/>
          <p:cNvSpPr/>
          <p:nvPr/>
        </p:nvSpPr>
        <p:spPr>
          <a:xfrm>
            <a:off x="841248" y="4937760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40" dirty="0">
                <a:solidFill>
                  <a:srgbClr val="70747E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план, сроки, статус, коммуникации</a:t>
            </a:r>
            <a:endParaRPr lang="en-US" sz="940" dirty="0"/>
          </a:p>
        </p:txBody>
      </p:sp>
      <p:sp>
        <p:nvSpPr>
          <p:cNvPr id="46" name="Shape 44"/>
          <p:cNvSpPr/>
          <p:nvPr/>
        </p:nvSpPr>
        <p:spPr>
          <a:xfrm>
            <a:off x="3474720" y="4462272"/>
            <a:ext cx="2578608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3E8EC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474720" y="4462272"/>
            <a:ext cx="64008" cy="960120"/>
          </a:xfrm>
          <a:prstGeom prst="rect">
            <a:avLst/>
          </a:prstGeom>
          <a:solidFill>
            <a:srgbClr val="FF4F12"/>
          </a:solidFill>
          <a:ln w="12700">
            <a:solidFill>
              <a:srgbClr val="FF4F12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657600" y="4636008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b="1" dirty="0">
                <a:solidFill>
                  <a:srgbClr val="101828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Аналитик</a:t>
            </a:r>
            <a:endParaRPr lang="en-US" sz="1220" dirty="0"/>
          </a:p>
        </p:txBody>
      </p:sp>
      <p:sp>
        <p:nvSpPr>
          <p:cNvPr id="49" name="Text 47"/>
          <p:cNvSpPr/>
          <p:nvPr/>
        </p:nvSpPr>
        <p:spPr>
          <a:xfrm>
            <a:off x="3657600" y="4937760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40" dirty="0">
                <a:solidFill>
                  <a:srgbClr val="70747E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требования, scope, критерии приёмки</a:t>
            </a:r>
            <a:endParaRPr lang="en-US" sz="940" dirty="0"/>
          </a:p>
        </p:txBody>
      </p:sp>
      <p:sp>
        <p:nvSpPr>
          <p:cNvPr id="50" name="Shape 48"/>
          <p:cNvSpPr/>
          <p:nvPr/>
        </p:nvSpPr>
        <p:spPr>
          <a:xfrm>
            <a:off x="6291072" y="4462272"/>
            <a:ext cx="2578608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3E8EC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291072" y="4462272"/>
            <a:ext cx="64008" cy="960120"/>
          </a:xfrm>
          <a:prstGeom prst="rect">
            <a:avLst/>
          </a:prstGeom>
          <a:solidFill>
            <a:srgbClr val="273A64"/>
          </a:solidFill>
          <a:ln w="12700">
            <a:solidFill>
              <a:srgbClr val="273A64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473952" y="4636008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b="1" dirty="0">
                <a:solidFill>
                  <a:srgbClr val="101828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Tech Lead</a:t>
            </a:r>
            <a:endParaRPr lang="en-US" sz="1220" dirty="0"/>
          </a:p>
        </p:txBody>
      </p:sp>
      <p:sp>
        <p:nvSpPr>
          <p:cNvPr id="53" name="Text 51"/>
          <p:cNvSpPr/>
          <p:nvPr/>
        </p:nvSpPr>
        <p:spPr>
          <a:xfrm>
            <a:off x="6473952" y="4937760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40" dirty="0">
                <a:solidFill>
                  <a:srgbClr val="70747E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данные, модель, MVP, техрешения</a:t>
            </a:r>
            <a:endParaRPr lang="en-US" sz="940" dirty="0"/>
          </a:p>
        </p:txBody>
      </p:sp>
      <p:sp>
        <p:nvSpPr>
          <p:cNvPr id="54" name="Shape 52"/>
          <p:cNvSpPr/>
          <p:nvPr/>
        </p:nvSpPr>
        <p:spPr>
          <a:xfrm>
            <a:off x="9107424" y="4462272"/>
            <a:ext cx="2578608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3E8EC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9107424" y="4462272"/>
            <a:ext cx="64008" cy="960120"/>
          </a:xfrm>
          <a:prstGeom prst="rect">
            <a:avLst/>
          </a:prstGeom>
          <a:solidFill>
            <a:srgbClr val="57D9B7"/>
          </a:solidFill>
          <a:ln w="12700">
            <a:solidFill>
              <a:srgbClr val="57D9B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9290304" y="4636008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b="1" dirty="0">
                <a:solidFill>
                  <a:srgbClr val="101828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QA / MLOps</a:t>
            </a:r>
            <a:endParaRPr lang="en-US" sz="1220" dirty="0"/>
          </a:p>
        </p:txBody>
      </p:sp>
      <p:sp>
        <p:nvSpPr>
          <p:cNvPr id="57" name="Text 55"/>
          <p:cNvSpPr/>
          <p:nvPr/>
        </p:nvSpPr>
        <p:spPr>
          <a:xfrm>
            <a:off x="9290304" y="4937760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40" dirty="0">
                <a:solidFill>
                  <a:srgbClr val="70747E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тестирование, запуск, мониторинг</a:t>
            </a:r>
            <a:endParaRPr lang="en-US" sz="940" dirty="0"/>
          </a:p>
        </p:txBody>
      </p:sp>
      <p:sp>
        <p:nvSpPr>
          <p:cNvPr id="58" name="Shape 56"/>
          <p:cNvSpPr/>
          <p:nvPr/>
        </p:nvSpPr>
        <p:spPr>
          <a:xfrm>
            <a:off x="658368" y="5705856"/>
            <a:ext cx="10972800" cy="502920"/>
          </a:xfrm>
          <a:prstGeom prst="roundRect">
            <a:avLst>
              <a:gd name="adj" fmla="val 10909"/>
            </a:avLst>
          </a:prstGeom>
          <a:solidFill>
            <a:srgbClr val="ECE6FF"/>
          </a:solidFill>
          <a:ln w="12700">
            <a:solidFill>
              <a:srgbClr val="ECE6FF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896112" y="5861304"/>
            <a:ext cx="10469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7700FF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Роли можно ротировать по этапам, чтобы каждый студент попробовал себя в управлении проектом, а не только в технической роли</a:t>
            </a:r>
            <a:endParaRPr lang="en-US" sz="1050" dirty="0"/>
          </a:p>
        </p:txBody>
      </p:sp>
      <p:sp>
        <p:nvSpPr>
          <p:cNvPr id="6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574536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979799"/>
                </a:solidFill>
                <a:latin typeface="Rostelecom Basis"/>
                <a:ea typeface="Rostelecom Basis"/>
                <a:cs typeface="Rostelecom Basis"/>
              </a:defRPr>
            </a:lvl1pPr>
          </a:lstStyle>
          <a:p>
            <a:pPr algn="r"/>
            <a:fld id="{F7021451-1387-4CA6-816F-3879F97B5CBC}" type="slidenum">
              <a:rPr lang="en-US" b="0"/>
              <a:t>48</a:t>
            </a:fld>
            <a:endParaRPr 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0241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01828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Общие требования к каждому кейсу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85216" y="859536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70747E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Оцениваем не сложность алгоритма, а способность команды управлять созданием IT/ML-решения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11109960" y="0"/>
            <a:ext cx="1078992" cy="109728"/>
          </a:xfrm>
          <a:prstGeom prst="rect">
            <a:avLst/>
          </a:prstGeom>
          <a:solidFill>
            <a:srgbClr val="FF4F12"/>
          </a:solidFill>
          <a:ln w="12700">
            <a:solidFill>
              <a:srgbClr val="FF4F12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552176" y="0"/>
            <a:ext cx="557784" cy="109728"/>
          </a:xfrm>
          <a:prstGeom prst="rect">
            <a:avLst/>
          </a:prstGeom>
          <a:solidFill>
            <a:srgbClr val="7700FF"/>
          </a:solidFill>
          <a:ln w="12700">
            <a:solidFill>
              <a:srgbClr val="7700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353312"/>
            <a:ext cx="5376672" cy="1225296"/>
          </a:xfrm>
          <a:prstGeom prst="roundRect">
            <a:avLst>
              <a:gd name="adj" fmla="val 5224"/>
            </a:avLst>
          </a:prstGeom>
          <a:solidFill>
            <a:srgbClr val="FFFFFF"/>
          </a:solidFill>
          <a:ln w="12700">
            <a:solidFill>
              <a:srgbClr val="E3E8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77824" y="1572768"/>
            <a:ext cx="502920" cy="502920"/>
          </a:xfrm>
          <a:prstGeom prst="ellipse">
            <a:avLst/>
          </a:prstGeom>
          <a:solidFill>
            <a:srgbClr val="7700FF"/>
          </a:solidFill>
          <a:ln w="12700">
            <a:solidFill>
              <a:srgbClr val="7700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77824" y="1709928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1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554480" y="1536192"/>
            <a:ext cx="2240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01828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Бизнес-проблема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554480" y="1856232"/>
            <a:ext cx="418795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70" dirty="0">
                <a:solidFill>
                  <a:srgbClr val="70747E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Понятно описать, какую проблему организации решает проект и для кого создаётся результат</a:t>
            </a:r>
            <a:endParaRPr lang="en-US" sz="970" dirty="0"/>
          </a:p>
        </p:txBody>
      </p:sp>
      <p:sp>
        <p:nvSpPr>
          <p:cNvPr id="11" name="Shape 9"/>
          <p:cNvSpPr/>
          <p:nvPr/>
        </p:nvSpPr>
        <p:spPr>
          <a:xfrm>
            <a:off x="6309360" y="1353312"/>
            <a:ext cx="5376672" cy="1225296"/>
          </a:xfrm>
          <a:prstGeom prst="roundRect">
            <a:avLst>
              <a:gd name="adj" fmla="val 5224"/>
            </a:avLst>
          </a:prstGeom>
          <a:solidFill>
            <a:srgbClr val="FFFFFF"/>
          </a:solidFill>
          <a:ln w="12700">
            <a:solidFill>
              <a:srgbClr val="E3E8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28816" y="1572768"/>
            <a:ext cx="502920" cy="502920"/>
          </a:xfrm>
          <a:prstGeom prst="ellipse">
            <a:avLst/>
          </a:prstGeom>
          <a:solidFill>
            <a:srgbClr val="FF4F12"/>
          </a:solidFill>
          <a:ln w="12700">
            <a:solidFill>
              <a:srgbClr val="FF4F1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28816" y="1709928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2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205472" y="1536192"/>
            <a:ext cx="2240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01828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Данные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7205472" y="1856232"/>
            <a:ext cx="418795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70" dirty="0">
                <a:solidFill>
                  <a:srgbClr val="70747E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Использовать готовый открытый или предоставленный </a:t>
            </a:r>
            <a:r>
              <a:rPr lang="en-US" sz="970" dirty="0" err="1">
                <a:solidFill>
                  <a:srgbClr val="70747E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учебный</a:t>
            </a:r>
            <a:r>
              <a:rPr lang="en-US" sz="970" dirty="0">
                <a:solidFill>
                  <a:srgbClr val="70747E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 </a:t>
            </a:r>
            <a:r>
              <a:rPr lang="en-US" sz="970" dirty="0" err="1">
                <a:solidFill>
                  <a:srgbClr val="70747E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датасет</a:t>
            </a:r>
            <a:r>
              <a:rPr lang="ru-RU" sz="970" dirty="0">
                <a:solidFill>
                  <a:srgbClr val="70747E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 (запросить у преподавателя)</a:t>
            </a:r>
            <a:r>
              <a:rPr lang="en-US" sz="970" dirty="0">
                <a:solidFill>
                  <a:srgbClr val="70747E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; не тратить семестр на сбор данных</a:t>
            </a:r>
            <a:endParaRPr lang="en-US" sz="970" dirty="0"/>
          </a:p>
        </p:txBody>
      </p:sp>
      <p:sp>
        <p:nvSpPr>
          <p:cNvPr id="16" name="Shape 14"/>
          <p:cNvSpPr/>
          <p:nvPr/>
        </p:nvSpPr>
        <p:spPr>
          <a:xfrm>
            <a:off x="658368" y="2834640"/>
            <a:ext cx="5376672" cy="1225296"/>
          </a:xfrm>
          <a:prstGeom prst="roundRect">
            <a:avLst>
              <a:gd name="adj" fmla="val 5224"/>
            </a:avLst>
          </a:prstGeom>
          <a:solidFill>
            <a:srgbClr val="FFFFFF"/>
          </a:solidFill>
          <a:ln w="12700">
            <a:solidFill>
              <a:srgbClr val="E3E8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77824" y="3054096"/>
            <a:ext cx="502920" cy="502920"/>
          </a:xfrm>
          <a:prstGeom prst="ellipse">
            <a:avLst/>
          </a:prstGeom>
          <a:solidFill>
            <a:srgbClr val="273A64"/>
          </a:solidFill>
          <a:ln w="12700">
            <a:solidFill>
              <a:srgbClr val="273A6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77824" y="3191256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3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554480" y="3017520"/>
            <a:ext cx="2240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01828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MVP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1554480" y="3337560"/>
            <a:ext cx="418795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70" dirty="0">
                <a:solidFill>
                  <a:srgbClr val="70747E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Сделать простую работающую демонстрацию: входные данные → прогноз / классификация → понятный результат</a:t>
            </a:r>
            <a:endParaRPr lang="en-US" sz="970" dirty="0"/>
          </a:p>
        </p:txBody>
      </p:sp>
      <p:sp>
        <p:nvSpPr>
          <p:cNvPr id="21" name="Shape 19"/>
          <p:cNvSpPr/>
          <p:nvPr/>
        </p:nvSpPr>
        <p:spPr>
          <a:xfrm>
            <a:off x="6309360" y="2834640"/>
            <a:ext cx="5376672" cy="1225296"/>
          </a:xfrm>
          <a:prstGeom prst="roundRect">
            <a:avLst>
              <a:gd name="adj" fmla="val 5224"/>
            </a:avLst>
          </a:prstGeom>
          <a:solidFill>
            <a:srgbClr val="FFFFFF"/>
          </a:solidFill>
          <a:ln w="12700">
            <a:solidFill>
              <a:srgbClr val="E3E8E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528816" y="3054096"/>
            <a:ext cx="502920" cy="502920"/>
          </a:xfrm>
          <a:prstGeom prst="ellipse">
            <a:avLst/>
          </a:prstGeom>
          <a:solidFill>
            <a:srgbClr val="57D9B7"/>
          </a:solidFill>
          <a:ln w="12700">
            <a:solidFill>
              <a:srgbClr val="57D9B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28816" y="3191256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4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7205472" y="3017520"/>
            <a:ext cx="2240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01828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Проектные артефакты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7205472" y="3337560"/>
            <a:ext cx="418795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70" dirty="0">
                <a:solidFill>
                  <a:srgbClr val="70747E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Паспорт проекта, стейкхолдеры, требования, scope, WBS, сроки, RACI, риски, статус и изменения</a:t>
            </a:r>
            <a:endParaRPr lang="en-US" sz="970" dirty="0"/>
          </a:p>
        </p:txBody>
      </p:sp>
      <p:sp>
        <p:nvSpPr>
          <p:cNvPr id="26" name="Shape 24"/>
          <p:cNvSpPr/>
          <p:nvPr/>
        </p:nvSpPr>
        <p:spPr>
          <a:xfrm>
            <a:off x="658368" y="4315968"/>
            <a:ext cx="5376672" cy="1225296"/>
          </a:xfrm>
          <a:prstGeom prst="roundRect">
            <a:avLst>
              <a:gd name="adj" fmla="val 5224"/>
            </a:avLst>
          </a:prstGeom>
          <a:solidFill>
            <a:srgbClr val="FFFFFF"/>
          </a:solidFill>
          <a:ln w="12700">
            <a:solidFill>
              <a:srgbClr val="E3E8E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77824" y="4535424"/>
            <a:ext cx="502920" cy="502920"/>
          </a:xfrm>
          <a:prstGeom prst="ellipse">
            <a:avLst/>
          </a:prstGeom>
          <a:solidFill>
            <a:srgbClr val="7700FF"/>
          </a:solidFill>
          <a:ln w="12700">
            <a:solidFill>
              <a:srgbClr val="7700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77824" y="4672584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5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1554480" y="4498848"/>
            <a:ext cx="2240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01828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Приёмка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1554480" y="4818888"/>
            <a:ext cx="418795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70" dirty="0">
                <a:solidFill>
                  <a:srgbClr val="70747E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Заранее определить измеримые критерии: что должно работать и как команда докажет готовность результата</a:t>
            </a:r>
            <a:endParaRPr lang="en-US" sz="970" dirty="0"/>
          </a:p>
        </p:txBody>
      </p:sp>
      <p:sp>
        <p:nvSpPr>
          <p:cNvPr id="31" name="Shape 29"/>
          <p:cNvSpPr/>
          <p:nvPr/>
        </p:nvSpPr>
        <p:spPr>
          <a:xfrm>
            <a:off x="6309360" y="4315968"/>
            <a:ext cx="5376672" cy="1225296"/>
          </a:xfrm>
          <a:prstGeom prst="roundRect">
            <a:avLst>
              <a:gd name="adj" fmla="val 5224"/>
            </a:avLst>
          </a:prstGeom>
          <a:solidFill>
            <a:srgbClr val="FFFFFF"/>
          </a:solidFill>
          <a:ln w="12700">
            <a:solidFill>
              <a:srgbClr val="E3E8E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528816" y="4535424"/>
            <a:ext cx="502920" cy="502920"/>
          </a:xfrm>
          <a:prstGeom prst="ellipse">
            <a:avLst/>
          </a:prstGeom>
          <a:solidFill>
            <a:srgbClr val="FF4F12"/>
          </a:solidFill>
          <a:ln w="12700">
            <a:solidFill>
              <a:srgbClr val="FF4F1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528816" y="4672584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6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7205472" y="4498848"/>
            <a:ext cx="2240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01828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Внедрение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7205472" y="4818888"/>
            <a:ext cx="418795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70" dirty="0">
                <a:solidFill>
                  <a:srgbClr val="70747E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Описать, где решение будет использоваться, кто пользователь, как оно встраивается в рабочий процесс и как поддерживается</a:t>
            </a:r>
            <a:endParaRPr lang="en-US" sz="970" dirty="0"/>
          </a:p>
        </p:txBody>
      </p:sp>
      <p:sp>
        <p:nvSpPr>
          <p:cNvPr id="36" name="Shape 34"/>
          <p:cNvSpPr/>
          <p:nvPr/>
        </p:nvSpPr>
        <p:spPr>
          <a:xfrm>
            <a:off x="658368" y="5870448"/>
            <a:ext cx="10972800" cy="502920"/>
          </a:xfrm>
          <a:prstGeom prst="roundRect">
            <a:avLst>
              <a:gd name="adj" fmla="val 10909"/>
            </a:avLst>
          </a:prstGeom>
          <a:solidFill>
            <a:srgbClr val="ECE6FF"/>
          </a:solidFill>
          <a:ln w="12700">
            <a:solidFill>
              <a:srgbClr val="ECE6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96112" y="6016752"/>
            <a:ext cx="10469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30" b="1" dirty="0">
                <a:solidFill>
                  <a:srgbClr val="7700FF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Важно: высокая точность модели сама по себе не даёт дополнительных баллов — важнее обоснованные решения, управляемость проекта и понятный результат</a:t>
            </a:r>
            <a:endParaRPr lang="en-US" sz="1030" dirty="0"/>
          </a:p>
        </p:txBody>
      </p:sp>
      <p:sp>
        <p:nvSpPr>
          <p:cNvPr id="3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574536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979799"/>
                </a:solidFill>
                <a:latin typeface="Rostelecom Basis"/>
                <a:ea typeface="Rostelecom Basis"/>
                <a:cs typeface="Rostelecom Basis"/>
              </a:defRPr>
            </a:lvl1pPr>
          </a:lstStyle>
          <a:p>
            <a:pPr algn="r"/>
            <a:fld id="{F7021451-1387-4CA6-816F-3879F97B5CBC}" type="slidenum">
              <a:rPr lang="en-US" b="0"/>
              <a:t>49</a:t>
            </a:fld>
            <a:endParaRPr lang="en-US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66928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018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Основная литература: базовый контур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12648" y="105156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67085"/>
                </a:solidFill>
              </a:rPr>
              <a:t>Проекты, требования и документирование — фундамент для дальнейших тем курса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58368" y="1554480"/>
            <a:ext cx="3566160" cy="44805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blurRad="25400" dist="50800" dir="2700000" algn="bl" rotWithShape="0">
              <a:srgbClr val="000000">
                <a:alpha val="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59536" y="1755648"/>
            <a:ext cx="502920" cy="310896"/>
          </a:xfrm>
          <a:prstGeom prst="roundRect">
            <a:avLst>
              <a:gd name="adj" fmla="val 23529"/>
            </a:avLst>
          </a:prstGeom>
          <a:solidFill>
            <a:srgbClr val="F1E8FF"/>
          </a:solidFill>
          <a:ln w="12700">
            <a:solidFill>
              <a:srgbClr val="F1E8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23544" y="1810512"/>
            <a:ext cx="3749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30" b="1" dirty="0">
                <a:solidFill>
                  <a:srgbClr val="7700FF"/>
                </a:solidFill>
              </a:rPr>
              <a:t>01</a:t>
            </a:r>
            <a:endParaRPr lang="en-US" sz="930" dirty="0"/>
          </a:p>
        </p:txBody>
      </p:sp>
      <p:sp>
        <p:nvSpPr>
          <p:cNvPr id="7" name="Text 5"/>
          <p:cNvSpPr/>
          <p:nvPr/>
        </p:nvSpPr>
        <p:spPr>
          <a:xfrm>
            <a:off x="859536" y="2212848"/>
            <a:ext cx="31638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101828"/>
                </a:solidFill>
              </a:rPr>
              <a:t>Г. Я. Горбовцов</a:t>
            </a:r>
            <a:endParaRPr lang="en-US" sz="1320" dirty="0"/>
          </a:p>
          <a:p>
            <a:pPr marL="0" indent="0">
              <a:buNone/>
            </a:pPr>
            <a:r>
              <a:rPr lang="en-US" sz="1320" b="1" dirty="0">
                <a:solidFill>
                  <a:srgbClr val="101828"/>
                </a:solidFill>
              </a:rPr>
              <a:t>«Управление проектом»</a:t>
            </a:r>
            <a:endParaRPr lang="en-US" sz="1320" dirty="0"/>
          </a:p>
        </p:txBody>
      </p:sp>
      <p:sp>
        <p:nvSpPr>
          <p:cNvPr id="8" name="Text 6"/>
          <p:cNvSpPr/>
          <p:nvPr/>
        </p:nvSpPr>
        <p:spPr>
          <a:xfrm>
            <a:off x="859536" y="2889504"/>
            <a:ext cx="31638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667085"/>
                </a:solidFill>
              </a:rPr>
              <a:t>Москва: Евразийский открытый институт, 2009. 288 с.</a:t>
            </a:r>
            <a:endParaRPr lang="en-US" sz="940" dirty="0"/>
          </a:p>
        </p:txBody>
      </p:sp>
      <p:sp>
        <p:nvSpPr>
          <p:cNvPr id="9" name="Text 7"/>
          <p:cNvSpPr/>
          <p:nvPr/>
        </p:nvSpPr>
        <p:spPr>
          <a:xfrm>
            <a:off x="859536" y="5623560"/>
            <a:ext cx="3163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u="sng" dirty="0">
                <a:solidFill>
                  <a:srgbClr val="7700FF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Открыть в ЭБС IPR →</a:t>
            </a:r>
            <a:endParaRPr lang="en-US" sz="880" dirty="0"/>
          </a:p>
        </p:txBody>
      </p:sp>
      <p:sp>
        <p:nvSpPr>
          <p:cNvPr id="10" name="Shape 8"/>
          <p:cNvSpPr/>
          <p:nvPr/>
        </p:nvSpPr>
        <p:spPr>
          <a:xfrm>
            <a:off x="4315968" y="1554480"/>
            <a:ext cx="3566160" cy="44805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blurRad="25400" dist="50800" dir="2700000" algn="bl" rotWithShape="0">
              <a:srgbClr val="000000">
                <a:alpha val="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17136" y="1755648"/>
            <a:ext cx="502920" cy="310896"/>
          </a:xfrm>
          <a:prstGeom prst="roundRect">
            <a:avLst>
              <a:gd name="adj" fmla="val 23529"/>
            </a:avLst>
          </a:prstGeom>
          <a:solidFill>
            <a:srgbClr val="EAF4FF"/>
          </a:solidFill>
          <a:ln w="12700">
            <a:solidFill>
              <a:srgbClr val="EAF4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81144" y="1810512"/>
            <a:ext cx="3749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30" b="1" dirty="0">
                <a:solidFill>
                  <a:srgbClr val="2E90FA"/>
                </a:solidFill>
              </a:rPr>
              <a:t>02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4517136" y="2212848"/>
            <a:ext cx="31638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101828"/>
                </a:solidFill>
              </a:rPr>
              <a:t>Ю. А. Маглинец</a:t>
            </a:r>
            <a:endParaRPr lang="en-US" sz="1320" dirty="0"/>
          </a:p>
          <a:p>
            <a:pPr marL="0" indent="0">
              <a:buNone/>
            </a:pPr>
            <a:r>
              <a:rPr lang="en-US" sz="1320" b="1" dirty="0">
                <a:solidFill>
                  <a:srgbClr val="101828"/>
                </a:solidFill>
              </a:rPr>
              <a:t>«Анализ требований к АИС»</a:t>
            </a:r>
            <a:endParaRPr lang="en-US" sz="1320" dirty="0"/>
          </a:p>
        </p:txBody>
      </p:sp>
      <p:sp>
        <p:nvSpPr>
          <p:cNvPr id="14" name="Text 12"/>
          <p:cNvSpPr/>
          <p:nvPr/>
        </p:nvSpPr>
        <p:spPr>
          <a:xfrm>
            <a:off x="4517136" y="2889504"/>
            <a:ext cx="31638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667085"/>
                </a:solidFill>
              </a:rPr>
              <a:t>4-е изд. Москва: ИНТУИТ, Ай Пи Ар Медиа, 2024. 191 с.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4517136" y="5623560"/>
            <a:ext cx="3163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u="sng" dirty="0">
                <a:solidFill>
                  <a:srgbClr val="2E90FA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Открыть в ЭБС IPR →</a:t>
            </a:r>
            <a:endParaRPr lang="en-US" sz="880" dirty="0"/>
          </a:p>
        </p:txBody>
      </p:sp>
      <p:sp>
        <p:nvSpPr>
          <p:cNvPr id="16" name="Shape 14"/>
          <p:cNvSpPr/>
          <p:nvPr/>
        </p:nvSpPr>
        <p:spPr>
          <a:xfrm>
            <a:off x="7973568" y="1554480"/>
            <a:ext cx="3566160" cy="44805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blurRad="25400" dist="50800" dir="2700000" algn="bl" rotWithShape="0">
              <a:srgbClr val="000000">
                <a:alpha val="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174736" y="1755648"/>
            <a:ext cx="502920" cy="310896"/>
          </a:xfrm>
          <a:prstGeom prst="roundRect">
            <a:avLst>
              <a:gd name="adj" fmla="val 23529"/>
            </a:avLst>
          </a:prstGeom>
          <a:solidFill>
            <a:srgbClr val="FFF0EA"/>
          </a:solidFill>
          <a:ln w="12700">
            <a:solidFill>
              <a:srgbClr val="FFF0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38744" y="1810512"/>
            <a:ext cx="3749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30" b="1" dirty="0">
                <a:solidFill>
                  <a:srgbClr val="FF4F12"/>
                </a:solidFill>
              </a:rPr>
              <a:t>03</a:t>
            </a:r>
            <a:endParaRPr lang="en-US" sz="930" dirty="0"/>
          </a:p>
        </p:txBody>
      </p:sp>
      <p:sp>
        <p:nvSpPr>
          <p:cNvPr id="19" name="Text 17"/>
          <p:cNvSpPr/>
          <p:nvPr/>
        </p:nvSpPr>
        <p:spPr>
          <a:xfrm>
            <a:off x="8174736" y="2212848"/>
            <a:ext cx="31638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101828"/>
                </a:solidFill>
              </a:rPr>
              <a:t>В. Е. Шикина</a:t>
            </a:r>
            <a:endParaRPr lang="en-US" sz="1320" dirty="0"/>
          </a:p>
          <a:p>
            <a:pPr marL="0" indent="0">
              <a:buNone/>
            </a:pPr>
            <a:r>
              <a:rPr lang="en-US" sz="1320" b="1" dirty="0">
                <a:solidFill>
                  <a:srgbClr val="101828"/>
                </a:solidFill>
              </a:rPr>
              <a:t>«Техническая документация информационных систем»</a:t>
            </a:r>
            <a:endParaRPr lang="en-US" sz="1320" dirty="0"/>
          </a:p>
        </p:txBody>
      </p:sp>
      <p:sp>
        <p:nvSpPr>
          <p:cNvPr id="20" name="Text 18"/>
          <p:cNvSpPr/>
          <p:nvPr/>
        </p:nvSpPr>
        <p:spPr>
          <a:xfrm>
            <a:off x="8174736" y="2889504"/>
            <a:ext cx="31638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667085"/>
                </a:solidFill>
              </a:rPr>
              <a:t>Ульяновск: УлГТУ, 2018. 93 с.</a:t>
            </a:r>
            <a:endParaRPr lang="en-US" sz="940" dirty="0"/>
          </a:p>
        </p:txBody>
      </p:sp>
      <p:sp>
        <p:nvSpPr>
          <p:cNvPr id="21" name="Text 19"/>
          <p:cNvSpPr/>
          <p:nvPr/>
        </p:nvSpPr>
        <p:spPr>
          <a:xfrm>
            <a:off x="8174736" y="5623560"/>
            <a:ext cx="3163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u="sng" dirty="0">
                <a:solidFill>
                  <a:srgbClr val="FF4F12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Открыть в ЭБС IPR →</a:t>
            </a:r>
            <a:endParaRPr lang="en-US" sz="8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48288" y="6446520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98A2B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50</a:t>
            </a:fld>
            <a:endParaRPr lang="en-US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66928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018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Дополнительная литература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12648" y="105156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67085"/>
                </a:solidFill>
              </a:rPr>
              <a:t>Материалы для расширения кругозора и самостоятельных мини-исследований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731520" y="1517904"/>
            <a:ext cx="5102352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blurRad="25400" dist="50800" dir="2700000" algn="bl" rotWithShape="0">
              <a:srgbClr val="000000">
                <a:alpha val="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682496"/>
            <a:ext cx="502920" cy="310896"/>
          </a:xfrm>
          <a:prstGeom prst="roundRect">
            <a:avLst>
              <a:gd name="adj" fmla="val 23529"/>
            </a:avLst>
          </a:prstGeom>
          <a:solidFill>
            <a:srgbClr val="F1E8FF"/>
          </a:solidFill>
          <a:ln w="12700">
            <a:solidFill>
              <a:srgbClr val="F1E8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78408" y="1737360"/>
            <a:ext cx="3749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30" b="1" dirty="0">
                <a:solidFill>
                  <a:srgbClr val="7700FF"/>
                </a:solidFill>
              </a:rPr>
              <a:t>01</a:t>
            </a:r>
            <a:endParaRPr lang="en-US" sz="930" dirty="0"/>
          </a:p>
        </p:txBody>
      </p:sp>
      <p:sp>
        <p:nvSpPr>
          <p:cNvPr id="7" name="Text 5"/>
          <p:cNvSpPr/>
          <p:nvPr/>
        </p:nvSpPr>
        <p:spPr>
          <a:xfrm>
            <a:off x="1572768" y="1673352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40" b="1" dirty="0">
                <a:solidFill>
                  <a:srgbClr val="101828"/>
                </a:solidFill>
              </a:rPr>
              <a:t>Г. П. Токмаков</a:t>
            </a:r>
            <a:endParaRPr lang="en-US" sz="1040" dirty="0"/>
          </a:p>
        </p:txBody>
      </p:sp>
      <p:sp>
        <p:nvSpPr>
          <p:cNvPr id="8" name="Text 6"/>
          <p:cNvSpPr/>
          <p:nvPr/>
        </p:nvSpPr>
        <p:spPr>
          <a:xfrm>
            <a:off x="1572768" y="196596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344054"/>
                </a:solidFill>
              </a:rPr>
              <a:t>CASE-технологии проектирования информационных систем</a:t>
            </a:r>
            <a:endParaRPr lang="en-US" sz="960" dirty="0"/>
          </a:p>
        </p:txBody>
      </p:sp>
      <p:sp>
        <p:nvSpPr>
          <p:cNvPr id="9" name="Text 7"/>
          <p:cNvSpPr/>
          <p:nvPr/>
        </p:nvSpPr>
        <p:spPr>
          <a:xfrm>
            <a:off x="1572768" y="2322576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60" dirty="0">
                <a:solidFill>
                  <a:srgbClr val="667085"/>
                </a:solidFill>
              </a:rPr>
              <a:t>УлГТУ, 2018 · 225 с.</a:t>
            </a:r>
            <a:endParaRPr lang="en-US" sz="860" dirty="0"/>
          </a:p>
        </p:txBody>
      </p:sp>
      <p:sp>
        <p:nvSpPr>
          <p:cNvPr id="10" name="Text 8"/>
          <p:cNvSpPr/>
          <p:nvPr/>
        </p:nvSpPr>
        <p:spPr>
          <a:xfrm>
            <a:off x="4754880" y="2322576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60" u="sng" dirty="0">
                <a:solidFill>
                  <a:srgbClr val="7700FF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IPR →</a:t>
            </a:r>
            <a:endParaRPr lang="en-US" sz="860" dirty="0"/>
          </a:p>
        </p:txBody>
      </p:sp>
      <p:sp>
        <p:nvSpPr>
          <p:cNvPr id="11" name="Shape 9"/>
          <p:cNvSpPr/>
          <p:nvPr/>
        </p:nvSpPr>
        <p:spPr>
          <a:xfrm>
            <a:off x="731520" y="2935224"/>
            <a:ext cx="5102352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blurRad="25400" dist="50800" dir="2700000" algn="bl" rotWithShape="0">
              <a:srgbClr val="000000">
                <a:alpha val="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914400" y="3099816"/>
            <a:ext cx="502920" cy="310896"/>
          </a:xfrm>
          <a:prstGeom prst="roundRect">
            <a:avLst>
              <a:gd name="adj" fmla="val 23529"/>
            </a:avLst>
          </a:prstGeom>
          <a:solidFill>
            <a:srgbClr val="EAF4FF"/>
          </a:solidFill>
          <a:ln w="12700">
            <a:solidFill>
              <a:srgbClr val="EAF4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78408" y="3154680"/>
            <a:ext cx="3749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30" b="1" dirty="0">
                <a:solidFill>
                  <a:srgbClr val="2E90FA"/>
                </a:solidFill>
              </a:rPr>
              <a:t>02</a:t>
            </a:r>
            <a:endParaRPr lang="en-US" sz="930" dirty="0"/>
          </a:p>
        </p:txBody>
      </p:sp>
      <p:sp>
        <p:nvSpPr>
          <p:cNvPr id="14" name="Text 12"/>
          <p:cNvSpPr/>
          <p:nvPr/>
        </p:nvSpPr>
        <p:spPr>
          <a:xfrm>
            <a:off x="1572768" y="3090672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40" b="1" dirty="0">
                <a:solidFill>
                  <a:srgbClr val="101828"/>
                </a:solidFill>
              </a:rPr>
              <a:t>Е. Е. Истратова, Е. Н. Антонянц</a:t>
            </a:r>
            <a:endParaRPr lang="en-US" sz="1040" dirty="0"/>
          </a:p>
        </p:txBody>
      </p:sp>
      <p:sp>
        <p:nvSpPr>
          <p:cNvPr id="15" name="Text 13"/>
          <p:cNvSpPr/>
          <p:nvPr/>
        </p:nvSpPr>
        <p:spPr>
          <a:xfrm>
            <a:off x="1572768" y="338328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344054"/>
                </a:solidFill>
              </a:rPr>
              <a:t>Системы искусственного интеллекта и машинное обучение</a:t>
            </a:r>
            <a:endParaRPr lang="en-US" sz="960" dirty="0"/>
          </a:p>
        </p:txBody>
      </p:sp>
      <p:sp>
        <p:nvSpPr>
          <p:cNvPr id="16" name="Text 14"/>
          <p:cNvSpPr/>
          <p:nvPr/>
        </p:nvSpPr>
        <p:spPr>
          <a:xfrm>
            <a:off x="1572768" y="3739896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60" dirty="0">
                <a:solidFill>
                  <a:srgbClr val="667085"/>
                </a:solidFill>
              </a:rPr>
              <a:t>НГТУ, 2025 · 64 с.</a:t>
            </a:r>
            <a:endParaRPr lang="en-US" sz="860" dirty="0"/>
          </a:p>
        </p:txBody>
      </p:sp>
      <p:sp>
        <p:nvSpPr>
          <p:cNvPr id="17" name="Text 15"/>
          <p:cNvSpPr/>
          <p:nvPr/>
        </p:nvSpPr>
        <p:spPr>
          <a:xfrm>
            <a:off x="4754880" y="3739896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60" u="sng" dirty="0">
                <a:solidFill>
                  <a:srgbClr val="2E90FA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IPR →</a:t>
            </a:r>
            <a:endParaRPr lang="en-US" sz="860" dirty="0"/>
          </a:p>
        </p:txBody>
      </p:sp>
      <p:sp>
        <p:nvSpPr>
          <p:cNvPr id="18" name="Shape 16"/>
          <p:cNvSpPr/>
          <p:nvPr/>
        </p:nvSpPr>
        <p:spPr>
          <a:xfrm>
            <a:off x="731520" y="4352544"/>
            <a:ext cx="5102352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blurRad="25400" dist="50800" dir="2700000" algn="bl" rotWithShape="0">
              <a:srgbClr val="000000">
                <a:alpha val="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914400" y="4517136"/>
            <a:ext cx="502920" cy="310896"/>
          </a:xfrm>
          <a:prstGeom prst="roundRect">
            <a:avLst>
              <a:gd name="adj" fmla="val 23529"/>
            </a:avLst>
          </a:prstGeom>
          <a:solidFill>
            <a:srgbClr val="E7F6F4"/>
          </a:solidFill>
          <a:ln w="12700">
            <a:solidFill>
              <a:srgbClr val="E7F6F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78408" y="4572000"/>
            <a:ext cx="3749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30" b="1" dirty="0">
                <a:solidFill>
                  <a:srgbClr val="0E9384"/>
                </a:solidFill>
              </a:rPr>
              <a:t>03</a:t>
            </a:r>
            <a:endParaRPr lang="en-US" sz="930" dirty="0"/>
          </a:p>
        </p:txBody>
      </p:sp>
      <p:sp>
        <p:nvSpPr>
          <p:cNvPr id="21" name="Text 19"/>
          <p:cNvSpPr/>
          <p:nvPr/>
        </p:nvSpPr>
        <p:spPr>
          <a:xfrm>
            <a:off x="1572768" y="4507992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40" b="1" dirty="0">
                <a:solidFill>
                  <a:srgbClr val="101828"/>
                </a:solidFill>
              </a:rPr>
              <a:t>А. О. Подкопаев</a:t>
            </a:r>
            <a:endParaRPr lang="en-US" sz="1040" dirty="0"/>
          </a:p>
        </p:txBody>
      </p:sp>
      <p:sp>
        <p:nvSpPr>
          <p:cNvPr id="22" name="Text 20"/>
          <p:cNvSpPr/>
          <p:nvPr/>
        </p:nvSpPr>
        <p:spPr>
          <a:xfrm>
            <a:off x="1572768" y="480060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344054"/>
                </a:solidFill>
              </a:rPr>
              <a:t>Системы искусственного интеллекта и машинное обучение</a:t>
            </a:r>
            <a:endParaRPr lang="en-US" sz="960" dirty="0"/>
          </a:p>
        </p:txBody>
      </p:sp>
      <p:sp>
        <p:nvSpPr>
          <p:cNvPr id="23" name="Text 21"/>
          <p:cNvSpPr/>
          <p:nvPr/>
        </p:nvSpPr>
        <p:spPr>
          <a:xfrm>
            <a:off x="1572768" y="5157216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60" dirty="0">
                <a:solidFill>
                  <a:srgbClr val="667085"/>
                </a:solidFill>
              </a:rPr>
              <a:t>НГТУ, 2024 · 66 с.</a:t>
            </a:r>
            <a:endParaRPr lang="en-US" sz="860" dirty="0"/>
          </a:p>
        </p:txBody>
      </p:sp>
      <p:sp>
        <p:nvSpPr>
          <p:cNvPr id="24" name="Text 22"/>
          <p:cNvSpPr/>
          <p:nvPr/>
        </p:nvSpPr>
        <p:spPr>
          <a:xfrm>
            <a:off x="4754880" y="5157216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60" u="sng" dirty="0">
                <a:solidFill>
                  <a:srgbClr val="0E9384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IPR →</a:t>
            </a:r>
            <a:endParaRPr lang="en-US" sz="860" dirty="0"/>
          </a:p>
        </p:txBody>
      </p:sp>
      <p:sp>
        <p:nvSpPr>
          <p:cNvPr id="25" name="Shape 23"/>
          <p:cNvSpPr/>
          <p:nvPr/>
        </p:nvSpPr>
        <p:spPr>
          <a:xfrm>
            <a:off x="6382512" y="1517904"/>
            <a:ext cx="5102352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blurRad="25400" dist="50800" dir="2700000" algn="bl" rotWithShape="0">
              <a:srgbClr val="000000">
                <a:alpha val="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565392" y="1682496"/>
            <a:ext cx="502920" cy="310896"/>
          </a:xfrm>
          <a:prstGeom prst="roundRect">
            <a:avLst>
              <a:gd name="adj" fmla="val 23529"/>
            </a:avLst>
          </a:prstGeom>
          <a:solidFill>
            <a:srgbClr val="FFF0EA"/>
          </a:solidFill>
          <a:ln w="12700">
            <a:solidFill>
              <a:srgbClr val="FFF0E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29400" y="1737360"/>
            <a:ext cx="3749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30" b="1" dirty="0">
                <a:solidFill>
                  <a:srgbClr val="FF4F12"/>
                </a:solidFill>
              </a:rPr>
              <a:t>04</a:t>
            </a:r>
            <a:endParaRPr lang="en-US" sz="930" dirty="0"/>
          </a:p>
        </p:txBody>
      </p:sp>
      <p:sp>
        <p:nvSpPr>
          <p:cNvPr id="28" name="Text 26"/>
          <p:cNvSpPr/>
          <p:nvPr/>
        </p:nvSpPr>
        <p:spPr>
          <a:xfrm>
            <a:off x="7223760" y="1673352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40" b="1" dirty="0">
                <a:solidFill>
                  <a:srgbClr val="101828"/>
                </a:solidFill>
              </a:rPr>
              <a:t>А. А. Бубнов, С. А. Бубнов, В. В. Тишкина</a:t>
            </a:r>
            <a:endParaRPr lang="en-US" sz="1040" dirty="0"/>
          </a:p>
        </p:txBody>
      </p:sp>
      <p:sp>
        <p:nvSpPr>
          <p:cNvPr id="29" name="Text 27"/>
          <p:cNvSpPr/>
          <p:nvPr/>
        </p:nvSpPr>
        <p:spPr>
          <a:xfrm>
            <a:off x="7223760" y="196596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344054"/>
                </a:solidFill>
              </a:rPr>
              <a:t>Тестирование программного обеспечения</a:t>
            </a:r>
            <a:endParaRPr lang="en-US" sz="960" dirty="0"/>
          </a:p>
        </p:txBody>
      </p:sp>
      <p:sp>
        <p:nvSpPr>
          <p:cNvPr id="30" name="Text 28"/>
          <p:cNvSpPr/>
          <p:nvPr/>
        </p:nvSpPr>
        <p:spPr>
          <a:xfrm>
            <a:off x="7223760" y="2322576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60" dirty="0">
                <a:solidFill>
                  <a:srgbClr val="667085"/>
                </a:solidFill>
              </a:rPr>
              <a:t>РГРТУ, 2024 · 164 с.</a:t>
            </a:r>
            <a:endParaRPr lang="en-US" sz="860" dirty="0"/>
          </a:p>
        </p:txBody>
      </p:sp>
      <p:sp>
        <p:nvSpPr>
          <p:cNvPr id="31" name="Text 29"/>
          <p:cNvSpPr/>
          <p:nvPr/>
        </p:nvSpPr>
        <p:spPr>
          <a:xfrm>
            <a:off x="10405872" y="2322576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60" u="sng" dirty="0">
                <a:solidFill>
                  <a:srgbClr val="FF4F12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IPR →</a:t>
            </a:r>
            <a:endParaRPr lang="en-US" sz="860" dirty="0"/>
          </a:p>
        </p:txBody>
      </p:sp>
      <p:sp>
        <p:nvSpPr>
          <p:cNvPr id="32" name="Shape 30"/>
          <p:cNvSpPr/>
          <p:nvPr/>
        </p:nvSpPr>
        <p:spPr>
          <a:xfrm>
            <a:off x="6382512" y="2935224"/>
            <a:ext cx="5102352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blurRad="25400" dist="50800" dir="2700000" algn="bl" rotWithShape="0">
              <a:srgbClr val="000000">
                <a:alpha val="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565392" y="3099816"/>
            <a:ext cx="502920" cy="310896"/>
          </a:xfrm>
          <a:prstGeom prst="roundRect">
            <a:avLst>
              <a:gd name="adj" fmla="val 23529"/>
            </a:avLst>
          </a:prstGeom>
          <a:solidFill>
            <a:srgbClr val="EAFBF3"/>
          </a:solidFill>
          <a:ln w="12700">
            <a:solidFill>
              <a:srgbClr val="EAFBF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629400" y="3154680"/>
            <a:ext cx="3749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30" b="1" dirty="0">
                <a:solidFill>
                  <a:srgbClr val="12B76A"/>
                </a:solidFill>
              </a:rPr>
              <a:t>05</a:t>
            </a:r>
            <a:endParaRPr lang="en-US" sz="930" dirty="0"/>
          </a:p>
        </p:txBody>
      </p:sp>
      <p:sp>
        <p:nvSpPr>
          <p:cNvPr id="35" name="Text 33"/>
          <p:cNvSpPr/>
          <p:nvPr/>
        </p:nvSpPr>
        <p:spPr>
          <a:xfrm>
            <a:off x="7223760" y="3090672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40" b="1" dirty="0">
                <a:solidFill>
                  <a:srgbClr val="101828"/>
                </a:solidFill>
              </a:rPr>
              <a:t>А. В. Проскуряков</a:t>
            </a:r>
            <a:endParaRPr lang="en-US" sz="1040" dirty="0"/>
          </a:p>
        </p:txBody>
      </p:sp>
      <p:sp>
        <p:nvSpPr>
          <p:cNvPr id="36" name="Text 34"/>
          <p:cNvSpPr/>
          <p:nvPr/>
        </p:nvSpPr>
        <p:spPr>
          <a:xfrm>
            <a:off x="7223760" y="338328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344054"/>
                </a:solidFill>
              </a:rPr>
              <a:t>Качество и тестирование ПО. Метрология программного обеспечения</a:t>
            </a:r>
            <a:endParaRPr lang="en-US" sz="960" dirty="0"/>
          </a:p>
        </p:txBody>
      </p:sp>
      <p:sp>
        <p:nvSpPr>
          <p:cNvPr id="37" name="Text 35"/>
          <p:cNvSpPr/>
          <p:nvPr/>
        </p:nvSpPr>
        <p:spPr>
          <a:xfrm>
            <a:off x="7223760" y="3739896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60" dirty="0">
                <a:solidFill>
                  <a:srgbClr val="667085"/>
                </a:solidFill>
              </a:rPr>
              <a:t>ЮФУ, 2022 · 197 с.</a:t>
            </a:r>
            <a:endParaRPr lang="en-US" sz="860" dirty="0"/>
          </a:p>
        </p:txBody>
      </p:sp>
      <p:sp>
        <p:nvSpPr>
          <p:cNvPr id="38" name="Text 36"/>
          <p:cNvSpPr/>
          <p:nvPr/>
        </p:nvSpPr>
        <p:spPr>
          <a:xfrm>
            <a:off x="10405872" y="3739896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60" u="sng" dirty="0">
                <a:solidFill>
                  <a:srgbClr val="12B76A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IPR →</a:t>
            </a:r>
            <a:endParaRPr lang="en-US" sz="860" dirty="0"/>
          </a:p>
        </p:txBody>
      </p:sp>
      <p:sp>
        <p:nvSpPr>
          <p:cNvPr id="4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48288" y="6446520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98A2B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51</a:t>
            </a:fld>
            <a:endParaRPr lang="en-US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66928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018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Первоисточники по теме первого занятия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12648" y="105156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67085"/>
                </a:solidFill>
              </a:rPr>
              <a:t>Именно к ним стоит обращаться, когда нужно проверить формулировку или исходный смысл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76656" y="1508760"/>
            <a:ext cx="3493008" cy="2139696"/>
          </a:xfrm>
          <a:prstGeom prst="roundRect">
            <a:avLst>
              <a:gd name="adj" fmla="val 3419"/>
            </a:avLst>
          </a:prstGeom>
          <a:solidFill>
            <a:srgbClr val="F1E8FF"/>
          </a:solidFill>
          <a:ln w="12700">
            <a:solidFill>
              <a:srgbClr val="F1E8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05256" y="1709928"/>
            <a:ext cx="114300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9264" y="1764792"/>
            <a:ext cx="10149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30" b="1" dirty="0">
                <a:solidFill>
                  <a:srgbClr val="7700FF"/>
                </a:solidFill>
              </a:rPr>
              <a:t>AGILE</a:t>
            </a:r>
            <a:endParaRPr lang="en-US" sz="930" dirty="0"/>
          </a:p>
        </p:txBody>
      </p:sp>
      <p:sp>
        <p:nvSpPr>
          <p:cNvPr id="7" name="Text 5"/>
          <p:cNvSpPr/>
          <p:nvPr/>
        </p:nvSpPr>
        <p:spPr>
          <a:xfrm>
            <a:off x="905256" y="2167128"/>
            <a:ext cx="30358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30" b="1" dirty="0">
                <a:solidFill>
                  <a:srgbClr val="101828"/>
                </a:solidFill>
              </a:rPr>
              <a:t>Agile Manifesto</a:t>
            </a:r>
            <a:endParaRPr lang="en-US" sz="1430" dirty="0"/>
          </a:p>
        </p:txBody>
      </p:sp>
      <p:sp>
        <p:nvSpPr>
          <p:cNvPr id="8" name="Text 6"/>
          <p:cNvSpPr/>
          <p:nvPr/>
        </p:nvSpPr>
        <p:spPr>
          <a:xfrm>
            <a:off x="905256" y="2679192"/>
            <a:ext cx="303580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344054"/>
                </a:solidFill>
              </a:rPr>
              <a:t>Оригинальные 4 ценности Agile. Русская версия манифеста на официальном сайте.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05256" y="3209544"/>
            <a:ext cx="3035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10" u="sng" dirty="0">
                <a:solidFill>
                  <a:srgbClr val="7700FF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Перейти к источнику →</a:t>
            </a:r>
            <a:endParaRPr lang="en-US" sz="910" dirty="0"/>
          </a:p>
        </p:txBody>
      </p:sp>
      <p:sp>
        <p:nvSpPr>
          <p:cNvPr id="10" name="Shape 8"/>
          <p:cNvSpPr/>
          <p:nvPr/>
        </p:nvSpPr>
        <p:spPr>
          <a:xfrm>
            <a:off x="4352544" y="1508760"/>
            <a:ext cx="3493008" cy="2139696"/>
          </a:xfrm>
          <a:prstGeom prst="roundRect">
            <a:avLst>
              <a:gd name="adj" fmla="val 3419"/>
            </a:avLst>
          </a:prstGeom>
          <a:solidFill>
            <a:srgbClr val="EAF4FF"/>
          </a:solidFill>
          <a:ln w="12700">
            <a:solidFill>
              <a:srgbClr val="EAF4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81144" y="1709928"/>
            <a:ext cx="114300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45152" y="1764792"/>
            <a:ext cx="10149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30" b="1" dirty="0">
                <a:solidFill>
                  <a:srgbClr val="2E90FA"/>
                </a:solidFill>
              </a:rPr>
              <a:t>12 ПРИНЦИПОВ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4581144" y="2167128"/>
            <a:ext cx="30358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30" b="1" dirty="0">
                <a:solidFill>
                  <a:srgbClr val="101828"/>
                </a:solidFill>
              </a:rPr>
              <a:t>Principles behind Agile</a:t>
            </a:r>
            <a:endParaRPr lang="en-US" sz="1430" dirty="0"/>
          </a:p>
        </p:txBody>
      </p:sp>
      <p:sp>
        <p:nvSpPr>
          <p:cNvPr id="14" name="Text 12"/>
          <p:cNvSpPr/>
          <p:nvPr/>
        </p:nvSpPr>
        <p:spPr>
          <a:xfrm>
            <a:off x="4581144" y="2679192"/>
            <a:ext cx="303580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344054"/>
                </a:solidFill>
              </a:rPr>
              <a:t>Официальные 12 принципов, раскрывающие смысл манифеста на уровне практики.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81144" y="3209544"/>
            <a:ext cx="3035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10" u="sng" dirty="0">
                <a:solidFill>
                  <a:srgbClr val="2E90FA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Перейти к источнику →</a:t>
            </a:r>
            <a:endParaRPr lang="en-US" sz="910" dirty="0"/>
          </a:p>
        </p:txBody>
      </p:sp>
      <p:sp>
        <p:nvSpPr>
          <p:cNvPr id="16" name="Shape 14"/>
          <p:cNvSpPr/>
          <p:nvPr/>
        </p:nvSpPr>
        <p:spPr>
          <a:xfrm>
            <a:off x="8028432" y="1508760"/>
            <a:ext cx="3493008" cy="2139696"/>
          </a:xfrm>
          <a:prstGeom prst="roundRect">
            <a:avLst>
              <a:gd name="adj" fmla="val 3419"/>
            </a:avLst>
          </a:prstGeom>
          <a:solidFill>
            <a:srgbClr val="FFF0EA"/>
          </a:solidFill>
          <a:ln w="12700">
            <a:solidFill>
              <a:srgbClr val="FFF0E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57032" y="1709928"/>
            <a:ext cx="114300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21040" y="1764792"/>
            <a:ext cx="10149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30" b="1" dirty="0">
                <a:solidFill>
                  <a:srgbClr val="FF4F12"/>
                </a:solidFill>
              </a:rPr>
              <a:t>SCRUM</a:t>
            </a:r>
            <a:endParaRPr lang="en-US" sz="930" dirty="0"/>
          </a:p>
        </p:txBody>
      </p:sp>
      <p:sp>
        <p:nvSpPr>
          <p:cNvPr id="19" name="Text 17"/>
          <p:cNvSpPr/>
          <p:nvPr/>
        </p:nvSpPr>
        <p:spPr>
          <a:xfrm>
            <a:off x="8257032" y="2167128"/>
            <a:ext cx="30358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30" b="1" dirty="0">
                <a:solidFill>
                  <a:srgbClr val="101828"/>
                </a:solidFill>
              </a:rPr>
              <a:t>Scrum Guide 2020</a:t>
            </a:r>
            <a:endParaRPr lang="en-US" sz="1430" dirty="0"/>
          </a:p>
        </p:txBody>
      </p:sp>
      <p:sp>
        <p:nvSpPr>
          <p:cNvPr id="20" name="Text 18"/>
          <p:cNvSpPr/>
          <p:nvPr/>
        </p:nvSpPr>
        <p:spPr>
          <a:xfrm>
            <a:off x="8257032" y="2679192"/>
            <a:ext cx="303580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344054"/>
                </a:solidFill>
              </a:rPr>
              <a:t>Определение Scrum от Кена Швабера и Джеффа Сазерленда; есть русская версия.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257032" y="3209544"/>
            <a:ext cx="3035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10" u="sng" dirty="0">
                <a:solidFill>
                  <a:srgbClr val="FF4F12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Перейти к источнику →</a:t>
            </a:r>
            <a:endParaRPr lang="en-US" sz="910" dirty="0"/>
          </a:p>
        </p:txBody>
      </p:sp>
      <p:sp>
        <p:nvSpPr>
          <p:cNvPr id="22" name="Shape 20"/>
          <p:cNvSpPr/>
          <p:nvPr/>
        </p:nvSpPr>
        <p:spPr>
          <a:xfrm>
            <a:off x="1600200" y="3950208"/>
            <a:ext cx="4233672" cy="1993392"/>
          </a:xfrm>
          <a:prstGeom prst="roundRect">
            <a:avLst>
              <a:gd name="adj" fmla="val 3670"/>
            </a:avLst>
          </a:prstGeom>
          <a:solidFill>
            <a:srgbClr val="EAFBF3"/>
          </a:solidFill>
          <a:ln w="12700">
            <a:solidFill>
              <a:srgbClr val="EAFBF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828800" y="4151376"/>
            <a:ext cx="114300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892808" y="4206240"/>
            <a:ext cx="10149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30" b="1" dirty="0">
                <a:solidFill>
                  <a:srgbClr val="12B76A"/>
                </a:solidFill>
              </a:rPr>
              <a:t>PROJECT</a:t>
            </a:r>
            <a:endParaRPr lang="en-US" sz="930" dirty="0"/>
          </a:p>
        </p:txBody>
      </p:sp>
      <p:sp>
        <p:nvSpPr>
          <p:cNvPr id="25" name="Text 23"/>
          <p:cNvSpPr/>
          <p:nvPr/>
        </p:nvSpPr>
        <p:spPr>
          <a:xfrm>
            <a:off x="1828800" y="4608576"/>
            <a:ext cx="3776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30" b="1" dirty="0">
                <a:solidFill>
                  <a:srgbClr val="101828"/>
                </a:solidFill>
              </a:rPr>
              <a:t>PMI: What is a Project?</a:t>
            </a:r>
            <a:endParaRPr lang="en-US" sz="1430" dirty="0"/>
          </a:p>
        </p:txBody>
      </p:sp>
      <p:sp>
        <p:nvSpPr>
          <p:cNvPr id="26" name="Text 24"/>
          <p:cNvSpPr/>
          <p:nvPr/>
        </p:nvSpPr>
        <p:spPr>
          <a:xfrm>
            <a:off x="1828800" y="5120640"/>
            <a:ext cx="37764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344054"/>
                </a:solidFill>
              </a:rPr>
              <a:t>Актуальная справочная страница PMI с определением проекта и описанием жизненного цикла.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828800" y="5650992"/>
            <a:ext cx="3776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10" u="sng" dirty="0">
                <a:solidFill>
                  <a:srgbClr val="12B76A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Перейти к источнику →</a:t>
            </a:r>
            <a:endParaRPr lang="en-US" sz="910" dirty="0"/>
          </a:p>
        </p:txBody>
      </p:sp>
      <p:sp>
        <p:nvSpPr>
          <p:cNvPr id="28" name="Shape 26"/>
          <p:cNvSpPr/>
          <p:nvPr/>
        </p:nvSpPr>
        <p:spPr>
          <a:xfrm>
            <a:off x="6355080" y="3950208"/>
            <a:ext cx="4233672" cy="1993392"/>
          </a:xfrm>
          <a:prstGeom prst="roundRect">
            <a:avLst>
              <a:gd name="adj" fmla="val 3670"/>
            </a:avLst>
          </a:prstGeom>
          <a:solidFill>
            <a:srgbClr val="E7F6F4"/>
          </a:solidFill>
          <a:ln w="12700">
            <a:solidFill>
              <a:srgbClr val="E7F6F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583680" y="4151376"/>
            <a:ext cx="114300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647688" y="4206240"/>
            <a:ext cx="10149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30" b="1" dirty="0">
                <a:solidFill>
                  <a:srgbClr val="0E9384"/>
                </a:solidFill>
              </a:rPr>
              <a:t>HISTORY</a:t>
            </a:r>
            <a:endParaRPr lang="en-US" sz="930" dirty="0"/>
          </a:p>
        </p:txBody>
      </p:sp>
      <p:sp>
        <p:nvSpPr>
          <p:cNvPr id="31" name="Text 29"/>
          <p:cNvSpPr/>
          <p:nvPr/>
        </p:nvSpPr>
        <p:spPr>
          <a:xfrm>
            <a:off x="6583680" y="4608576"/>
            <a:ext cx="3776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30" b="1" dirty="0">
                <a:solidFill>
                  <a:srgbClr val="101828"/>
                </a:solidFill>
              </a:rPr>
              <a:t>W. Royce, 1970</a:t>
            </a:r>
            <a:endParaRPr lang="en-US" sz="1430" dirty="0"/>
          </a:p>
        </p:txBody>
      </p:sp>
      <p:sp>
        <p:nvSpPr>
          <p:cNvPr id="32" name="Text 30"/>
          <p:cNvSpPr/>
          <p:nvPr/>
        </p:nvSpPr>
        <p:spPr>
          <a:xfrm>
            <a:off x="6583680" y="5120640"/>
            <a:ext cx="37764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344054"/>
                </a:solidFill>
              </a:rPr>
              <a:t>Классическая работа, с которой часто связывают Waterfall. Полезно читать оригинал, а не пересказы.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572165" y="5635413"/>
            <a:ext cx="3776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10" u="sng" dirty="0">
                <a:solidFill>
                  <a:srgbClr val="0E9384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Перейти к источнику →</a:t>
            </a:r>
            <a:endParaRPr lang="en-US" sz="910" dirty="0"/>
          </a:p>
        </p:txBody>
      </p:sp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48288" y="6446520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98A2B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52</a:t>
            </a:fld>
            <a:endParaRPr lang="en-US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1018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Вертикальный_белый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777240"/>
            <a:ext cx="2468880" cy="31272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971800" y="4315968"/>
            <a:ext cx="6263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Спасибо</a:t>
            </a:r>
            <a:endParaRPr lang="en-US" sz="4400" dirty="0"/>
          </a:p>
        </p:txBody>
      </p:sp>
      <p:sp>
        <p:nvSpPr>
          <p:cNvPr id="6" name="Shape 3"/>
          <p:cNvSpPr/>
          <p:nvPr/>
        </p:nvSpPr>
        <p:spPr>
          <a:xfrm>
            <a:off x="384048" y="6400800"/>
            <a:ext cx="11411712" cy="0"/>
          </a:xfrm>
          <a:prstGeom prst="line">
            <a:avLst/>
          </a:prstGeom>
          <a:noFill/>
          <a:ln w="8890">
            <a:solidFill>
              <a:srgbClr val="40465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6437376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3E8EC"/>
                </a:solidFill>
                <a:latin typeface="Rostelecom Basis" pitchFamily="34" charset="0"/>
                <a:ea typeface="Rostelecom Basis" pitchFamily="34" charset="-122"/>
                <a:cs typeface="Rostelecom Basis" pitchFamily="34" charset="-120"/>
              </a:rPr>
              <a:t>Управление ИТ-проектами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46520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E3E8EC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53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Дюна">
  <a:themeElements>
    <a:clrScheme name="Дюна">
      <a:dk1>
        <a:srgbClr val="131313"/>
      </a:dk1>
      <a:lt1>
        <a:sysClr val="window" lastClr="FFFFFF"/>
      </a:lt1>
      <a:dk2>
        <a:srgbClr val="272D2B"/>
      </a:dk2>
      <a:lt2>
        <a:srgbClr val="F0EDE6"/>
      </a:lt2>
      <a:accent1>
        <a:srgbClr val="647E6B"/>
      </a:accent1>
      <a:accent2>
        <a:srgbClr val="476262"/>
      </a:accent2>
      <a:accent3>
        <a:srgbClr val="9B8C69"/>
      </a:accent3>
      <a:accent4>
        <a:srgbClr val="BA988C"/>
      </a:accent4>
      <a:accent5>
        <a:srgbClr val="A27C7C"/>
      </a:accent5>
      <a:accent6>
        <a:srgbClr val="79958B"/>
      </a:accent6>
      <a:hlink>
        <a:srgbClr val="476262"/>
      </a:hlink>
      <a:folHlink>
        <a:srgbClr val="A27C7C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une" id="{7A434096-21D7-44B8-8536-5670F4990977}" vid="{9E2B180D-3A1B-4983-B64A-9C133C18DC91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Dune</Template>
  <TotalTime>6119</TotalTime>
  <Words>5042</Words>
  <Application>Microsoft Office PowerPoint</Application>
  <PresentationFormat>Широкоэкранный</PresentationFormat>
  <Paragraphs>1067</Paragraphs>
  <Slides>53</Slides>
  <Notes>53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53</vt:i4>
      </vt:variant>
    </vt:vector>
  </HeadingPairs>
  <TitlesOfParts>
    <vt:vector size="59" baseType="lpstr">
      <vt:lpstr>Aptos</vt:lpstr>
      <vt:lpstr>Aptos Display</vt:lpstr>
      <vt:lpstr>Arial</vt:lpstr>
      <vt:lpstr>Neue Haas Grotesk Text Pro</vt:lpstr>
      <vt:lpstr>Rostelecom Basis</vt:lpstr>
      <vt:lpstr>Дюна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Ростелеком ИТ Школа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Управление ИТ-проектами — Ростелеком ИТ Школа</dc:title>
  <dc:subject>Учебные материалы по дисциплине «Управление ИТ-проектами»</dc:subject>
  <dc:creator>OpenAI</dc:creator>
  <cp:lastModifiedBy>Nikita Veriasov</cp:lastModifiedBy>
  <cp:revision>25</cp:revision>
  <dcterms:created xsi:type="dcterms:W3CDTF">2026-09-13T17:09:40Z</dcterms:created>
  <dcterms:modified xsi:type="dcterms:W3CDTF">2026-09-26T12:29:41Z</dcterms:modified>
</cp:coreProperties>
</file>